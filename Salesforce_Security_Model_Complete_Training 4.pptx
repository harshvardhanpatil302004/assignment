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309" r:id="rId5"/>
    <p:sldId id="258" r:id="rId6"/>
    <p:sldId id="259" r:id="rId7"/>
    <p:sldId id="260" r:id="rId8"/>
    <p:sldId id="261" r:id="rId9"/>
    <p:sldId id="262" r:id="rId10"/>
    <p:sldId id="263" r:id="rId11"/>
    <p:sldId id="264" r:id="rId12"/>
    <p:sldId id="265" r:id="rId13"/>
    <p:sldId id="266" r:id="rId14"/>
    <p:sldId id="267" r:id="rId15"/>
    <p:sldId id="268" r:id="rId16"/>
    <p:sldId id="269" r:id="rId17"/>
    <p:sldId id="304" r:id="rId18"/>
    <p:sldId id="270" r:id="rId19"/>
    <p:sldId id="271" r:id="rId20"/>
    <p:sldId id="272" r:id="rId21"/>
    <p:sldId id="292" r:id="rId22"/>
    <p:sldId id="310" r:id="rId23"/>
    <p:sldId id="293" r:id="rId24"/>
    <p:sldId id="273" r:id="rId25"/>
    <p:sldId id="274" r:id="rId26"/>
    <p:sldId id="294" r:id="rId27"/>
    <p:sldId id="295" r:id="rId28"/>
    <p:sldId id="275" r:id="rId29"/>
    <p:sldId id="276" r:id="rId30"/>
    <p:sldId id="296" r:id="rId31"/>
    <p:sldId id="297" r:id="rId32"/>
    <p:sldId id="298" r:id="rId33"/>
    <p:sldId id="277" r:id="rId34"/>
    <p:sldId id="278" r:id="rId35"/>
    <p:sldId id="299" r:id="rId36"/>
    <p:sldId id="300" r:id="rId37"/>
    <p:sldId id="301" r:id="rId38"/>
    <p:sldId id="302" r:id="rId39"/>
    <p:sldId id="279" r:id="rId40"/>
    <p:sldId id="280" r:id="rId41"/>
    <p:sldId id="307" r:id="rId42"/>
    <p:sldId id="281" r:id="rId43"/>
    <p:sldId id="308" r:id="rId44"/>
    <p:sldId id="303" r:id="rId45"/>
    <p:sldId id="282" r:id="rId46"/>
    <p:sldId id="283" r:id="rId47"/>
    <p:sldId id="311" r:id="rId48"/>
    <p:sldId id="284" r:id="rId49"/>
    <p:sldId id="287" r:id="rId50"/>
    <p:sldId id="288" r:id="rId51"/>
    <p:sldId id="289" r:id="rId52"/>
    <p:sldId id="290" r:id="rId5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6"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6"/>
        <p:guide pos="29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143000"/>
            <a:ext cx="201168" cy="438912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234440"/>
            <a:ext cx="9875520" cy="1371600"/>
          </a:xfrm>
          <a:prstGeom prst="rect">
            <a:avLst/>
          </a:prstGeom>
          <a:noFill/>
        </p:spPr>
        <p:txBody>
          <a:bodyPr wrap="none">
            <a:spAutoFit/>
          </a:bodyPr>
          <a:lstStyle/>
          <a:p>
            <a:pPr>
              <a:defRPr sz="4200" b="1">
                <a:solidFill>
                  <a:srgbClr val="FFFFFF"/>
                </a:solidFill>
              </a:defRPr>
            </a:pPr>
            <a:r>
              <a:t>Salesforce Security Model</a:t>
            </a:r>
          </a:p>
        </p:txBody>
      </p:sp>
      <p:sp>
        <p:nvSpPr>
          <p:cNvPr id="5" name="TextBox 4"/>
          <p:cNvSpPr txBox="1"/>
          <p:nvPr/>
        </p:nvSpPr>
        <p:spPr>
          <a:xfrm>
            <a:off x="1170432" y="2651760"/>
            <a:ext cx="9509760" cy="914400"/>
          </a:xfrm>
          <a:prstGeom prst="rect">
            <a:avLst/>
          </a:prstGeom>
          <a:noFill/>
        </p:spPr>
        <p:txBody>
          <a:bodyPr wrap="none">
            <a:spAutoFit/>
          </a:bodyPr>
          <a:lstStyle/>
          <a:p>
            <a:pPr>
              <a:defRPr sz="2700">
                <a:solidFill>
                  <a:srgbClr val="D7EBF8"/>
                </a:solidFill>
              </a:defRPr>
            </a:pPr>
            <a:r>
              <a:t>Object-Level → Field-Level → Record-Level Security</a:t>
            </a:r>
          </a:p>
        </p:txBody>
      </p:sp>
      <p:sp>
        <p:nvSpPr>
          <p:cNvPr id="6" name="TextBox 5"/>
          <p:cNvSpPr txBox="1"/>
          <p:nvPr/>
        </p:nvSpPr>
        <p:spPr>
          <a:xfrm>
            <a:off x="1170432" y="3703320"/>
            <a:ext cx="309880" cy="383540"/>
          </a:xfrm>
          <a:prstGeom prst="rect">
            <a:avLst/>
          </a:prstGeom>
          <a:noFill/>
        </p:spPr>
        <p:txBody>
          <a:bodyPr wrap="none">
            <a:spAutoFit/>
          </a:bodyPr>
          <a:lstStyle/>
          <a:p>
            <a:pPr>
              <a:defRPr sz="1900">
                <a:solidFill>
                  <a:srgbClr val="BED2E1"/>
                </a:solidFill>
              </a:defRPr>
            </a:pPr>
          </a:p>
        </p:txBody>
      </p:sp>
      <p:sp>
        <p:nvSpPr>
          <p:cNvPr id="7" name="TextBox 6"/>
          <p:cNvSpPr txBox="1"/>
          <p:nvPr/>
        </p:nvSpPr>
        <p:spPr>
          <a:xfrm>
            <a:off x="1170432" y="5897880"/>
            <a:ext cx="9601200" cy="457200"/>
          </a:xfrm>
          <a:prstGeom prst="rect">
            <a:avLst/>
          </a:prstGeom>
          <a:noFill/>
        </p:spPr>
        <p:txBody>
          <a:bodyPr wrap="none">
            <a:spAutoFit/>
          </a:bodyPr>
          <a:lstStyle/>
          <a:p>
            <a:pPr>
              <a:defRPr sz="1050">
                <a:solidFill>
                  <a:srgbClr val="AABECD"/>
                </a:solidFill>
              </a:defRPr>
            </a:pPr>
            <a:r>
              <a:t>Prepared from the provided “Salesforce Security Model - II” reference PPT and current Salesforce Help guidance.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Learning Objectives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10789920" cy="4937760"/>
          </a:xfrm>
          <a:prstGeom prst="rect">
            <a:avLst/>
          </a:prstGeom>
          <a:noFill/>
        </p:spPr>
        <p:txBody>
          <a:bodyPr wrap="square" lIns="45720" tIns="18288" rIns="45720">
            <a:spAutoFit/>
          </a:bodyPr>
          <a:lstStyle/>
          <a:p>
            <a:pPr>
              <a:spcAft>
                <a:spcPts val="800"/>
              </a:spcAft>
              <a:defRPr sz="1900">
                <a:solidFill>
                  <a:srgbClr val="23282D"/>
                </a:solidFill>
              </a:defRPr>
            </a:pPr>
            <a:r>
              <a:t>Understand Salesforce security as three layers: Object, Field, and Record.</a:t>
            </a:r>
          </a:p>
          <a:p>
            <a:pPr>
              <a:spcAft>
                <a:spcPts val="800"/>
              </a:spcAft>
              <a:defRPr sz="1900">
                <a:solidFill>
                  <a:srgbClr val="23282D"/>
                </a:solidFill>
              </a:defRPr>
            </a:pPr>
            <a:r>
              <a:t>Explain Profiles, Permission Sets, Permission Set Groups, Object Permissions, FLS, Page Layouts, Tabs and Record Types.</a:t>
            </a:r>
          </a:p>
          <a:p>
            <a:pPr>
              <a:spcAft>
                <a:spcPts val="800"/>
              </a:spcAft>
              <a:defRPr sz="1900">
                <a:solidFill>
                  <a:srgbClr val="23282D"/>
                </a:solidFill>
              </a:defRPr>
            </a:pPr>
            <a:r>
              <a:t>Explain OWD and the three common sharing models: Private, Public Read Only, Public Read/Write.</a:t>
            </a:r>
          </a:p>
          <a:p>
            <a:pPr>
              <a:spcAft>
                <a:spcPts val="800"/>
              </a:spcAft>
              <a:defRPr sz="1900">
                <a:solidFill>
                  <a:srgbClr val="23282D"/>
                </a:solidFill>
              </a:defRPr>
            </a:pPr>
            <a:r>
              <a:t>Explain how Role Hierarchy extends record access.</a:t>
            </a:r>
          </a:p>
          <a:p>
            <a:pPr>
              <a:spcAft>
                <a:spcPts val="800"/>
              </a:spcAft>
              <a:defRPr sz="1900">
                <a:solidFill>
                  <a:srgbClr val="23282D"/>
                </a:solidFill>
              </a:defRPr>
            </a:pPr>
            <a:r>
              <a:t>Differentiate Owner-Based and Criteria-Based Sharing Rules.</a:t>
            </a:r>
          </a:p>
          <a:p>
            <a:pPr>
              <a:spcAft>
                <a:spcPts val="800"/>
              </a:spcAft>
              <a:defRPr sz="1900">
                <a:solidFill>
                  <a:srgbClr val="23282D"/>
                </a:solidFill>
              </a:defRPr>
            </a:pPr>
            <a:r>
              <a:t>Explain Manual Sharing as a one-off record-level exception.</a:t>
            </a:r>
          </a:p>
          <a:p>
            <a:pPr>
              <a:spcAft>
                <a:spcPts val="800"/>
              </a:spcAft>
              <a:defRPr sz="1900">
                <a:solidFill>
                  <a:srgbClr val="23282D"/>
                </a:solidFill>
              </a:defRPr>
            </a:pPr>
            <a:r>
              <a:t>Explain Restriction Rules as a record filter that narrows visibility.</a:t>
            </a:r>
          </a:p>
          <a:p>
            <a:pPr>
              <a:spcAft>
                <a:spcPts val="800"/>
              </a:spcAft>
              <a:defRPr sz="1900">
                <a:solidFill>
                  <a:srgbClr val="23282D"/>
                </a:solidFill>
              </a:defRPr>
            </a:pPr>
            <a:r>
              <a:t>Build and demonstrate a simple security model in a Developer Org.</a:t>
            </a:r>
          </a:p>
        </p:txBody>
      </p:sp>
      <p:sp>
        <p:nvSpPr>
          <p:cNvPr id="8" name="Rectangle 7"/>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0" name="TextBox 9"/>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Levels of security"/>
          <p:cNvPicPr>
            <a:picLocks noChangeAspect="1"/>
          </p:cNvPicPr>
          <p:nvPr/>
        </p:nvPicPr>
        <p:blipFill>
          <a:blip r:embed="rId1"/>
          <a:stretch>
            <a:fillRect/>
          </a:stretch>
        </p:blipFill>
        <p:spPr>
          <a:xfrm>
            <a:off x="951865" y="0"/>
            <a:ext cx="10287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Start With the Big Picture</a:t>
            </a:r>
          </a:p>
        </p:txBody>
      </p:sp>
      <p:sp>
        <p:nvSpPr>
          <p:cNvPr id="5" name="TextBox 4"/>
          <p:cNvSpPr txBox="1"/>
          <p:nvPr/>
        </p:nvSpPr>
        <p:spPr>
          <a:xfrm>
            <a:off x="548640" y="768096"/>
            <a:ext cx="309880" cy="291465"/>
          </a:xfrm>
          <a:prstGeom prst="rect">
            <a:avLst/>
          </a:prstGeom>
          <a:noFill/>
        </p:spPr>
        <p:txBody>
          <a:bodyPr wrap="none">
            <a:spAutoFit/>
          </a:bodyPr>
          <a:lstStyle/>
          <a:p>
            <a:pPr>
              <a:defRPr sz="1300">
                <a:solidFill>
                  <a:srgbClr val="5A646E"/>
                </a:solidFill>
              </a:defRPr>
            </a:pP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324612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029968"/>
            <a:ext cx="3026663" cy="685800"/>
          </a:xfrm>
          <a:prstGeom prst="rect">
            <a:avLst/>
          </a:prstGeom>
          <a:noFill/>
        </p:spPr>
        <p:txBody>
          <a:bodyPr wrap="none">
            <a:spAutoFit/>
          </a:bodyPr>
          <a:lstStyle/>
          <a:p>
            <a:pPr algn="ctr">
              <a:defRPr sz="1600" b="1">
                <a:solidFill>
                  <a:srgbClr val="23282D"/>
                </a:solidFill>
              </a:defRPr>
            </a:pPr>
            <a:r>
              <a:t>1. Can I access</a:t>
            </a:r>
            <a:br/>
            <a:r>
              <a:t>this object?</a:t>
            </a:r>
          </a:p>
        </p:txBody>
      </p:sp>
      <p:sp>
        <p:nvSpPr>
          <p:cNvPr id="9" name="Right Arrow 8"/>
          <p:cNvSpPr/>
          <p:nvPr/>
        </p:nvSpPr>
        <p:spPr>
          <a:xfrm>
            <a:off x="4014215" y="2157984"/>
            <a:ext cx="47548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26279" y="1828800"/>
            <a:ext cx="3246120" cy="1051560"/>
          </a:xfrm>
          <a:prstGeom prst="roundRect">
            <a:avLst/>
          </a:prstGeom>
          <a:solidFill>
            <a:srgbClr val="FFFFFF"/>
          </a:solidFill>
          <a:ln>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7" y="2029968"/>
            <a:ext cx="3026663" cy="685800"/>
          </a:xfrm>
          <a:prstGeom prst="rect">
            <a:avLst/>
          </a:prstGeom>
          <a:noFill/>
        </p:spPr>
        <p:txBody>
          <a:bodyPr wrap="none">
            <a:spAutoFit/>
          </a:bodyPr>
          <a:lstStyle/>
          <a:p>
            <a:pPr algn="ctr">
              <a:defRPr sz="1600" b="1">
                <a:solidFill>
                  <a:srgbClr val="23282D"/>
                </a:solidFill>
              </a:defRPr>
            </a:pPr>
            <a:r>
              <a:t>2. Can I access</a:t>
            </a:r>
            <a:br/>
            <a:r>
              <a:t>this field?</a:t>
            </a:r>
          </a:p>
        </p:txBody>
      </p:sp>
      <p:sp>
        <p:nvSpPr>
          <p:cNvPr id="12" name="Right Arrow 11"/>
          <p:cNvSpPr/>
          <p:nvPr/>
        </p:nvSpPr>
        <p:spPr>
          <a:xfrm>
            <a:off x="7808975" y="2157984"/>
            <a:ext cx="47548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21040" y="1828800"/>
            <a:ext cx="324612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7" y="2029968"/>
            <a:ext cx="3026663" cy="685800"/>
          </a:xfrm>
          <a:prstGeom prst="rect">
            <a:avLst/>
          </a:prstGeom>
          <a:noFill/>
        </p:spPr>
        <p:txBody>
          <a:bodyPr wrap="none">
            <a:spAutoFit/>
          </a:bodyPr>
          <a:lstStyle/>
          <a:p>
            <a:pPr algn="ctr">
              <a:defRPr sz="1600" b="1">
                <a:solidFill>
                  <a:srgbClr val="23282D"/>
                </a:solidFill>
              </a:defRPr>
            </a:pPr>
            <a:r>
              <a:t>3. Can I access</a:t>
            </a:r>
            <a:br/>
            <a:r>
              <a:t>this record?</a:t>
            </a:r>
          </a:p>
        </p:txBody>
      </p:sp>
      <p:sp>
        <p:nvSpPr>
          <p:cNvPr id="15" name="Rounded Rectangle 14"/>
          <p:cNvSpPr/>
          <p:nvPr/>
        </p:nvSpPr>
        <p:spPr>
          <a:xfrm>
            <a:off x="822960" y="3657600"/>
            <a:ext cx="3200400" cy="123444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767328"/>
            <a:ext cx="2871216" cy="347472"/>
          </a:xfrm>
          <a:prstGeom prst="rect">
            <a:avLst/>
          </a:prstGeom>
          <a:noFill/>
        </p:spPr>
        <p:txBody>
          <a:bodyPr wrap="none">
            <a:spAutoFit/>
          </a:bodyPr>
          <a:lstStyle/>
          <a:p>
            <a:pPr>
              <a:defRPr sz="1600" b="1">
                <a:solidFill>
                  <a:srgbClr val="2079BE"/>
                </a:solidFill>
              </a:defRPr>
            </a:pPr>
            <a:r>
              <a:t>Object-Level</a:t>
            </a:r>
          </a:p>
        </p:txBody>
      </p:sp>
      <p:sp>
        <p:nvSpPr>
          <p:cNvPr id="17" name="TextBox 16"/>
          <p:cNvSpPr txBox="1"/>
          <p:nvPr/>
        </p:nvSpPr>
        <p:spPr>
          <a:xfrm>
            <a:off x="987552" y="4160520"/>
            <a:ext cx="2871216" cy="612648"/>
          </a:xfrm>
          <a:prstGeom prst="rect">
            <a:avLst/>
          </a:prstGeom>
          <a:noFill/>
        </p:spPr>
        <p:txBody>
          <a:bodyPr wrap="square">
            <a:spAutoFit/>
          </a:bodyPr>
          <a:lstStyle/>
          <a:p>
            <a:pPr>
              <a:defRPr sz="1350">
                <a:solidFill>
                  <a:srgbClr val="23282D"/>
                </a:solidFill>
              </a:defRPr>
            </a:pPr>
            <a:r>
              <a:t>Profile / Permission Set → Read, Create, Edit, Delete on the object.</a:t>
            </a:r>
          </a:p>
        </p:txBody>
      </p:sp>
      <p:sp>
        <p:nvSpPr>
          <p:cNvPr id="18" name="Rounded Rectangle 17"/>
          <p:cNvSpPr/>
          <p:nvPr/>
        </p:nvSpPr>
        <p:spPr>
          <a:xfrm>
            <a:off x="4480560" y="3657600"/>
            <a:ext cx="3200400" cy="1234440"/>
          </a:xfrm>
          <a:prstGeom prst="roundRect">
            <a:avLst/>
          </a:prstGeom>
          <a:solidFill>
            <a:srgbClr val="E8F7EE"/>
          </a:solidFill>
          <a:ln w="19050">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3767328"/>
            <a:ext cx="2871216" cy="347472"/>
          </a:xfrm>
          <a:prstGeom prst="rect">
            <a:avLst/>
          </a:prstGeom>
          <a:noFill/>
        </p:spPr>
        <p:txBody>
          <a:bodyPr wrap="none">
            <a:spAutoFit/>
          </a:bodyPr>
          <a:lstStyle/>
          <a:p>
            <a:pPr>
              <a:defRPr sz="1600" b="1">
                <a:solidFill>
                  <a:srgbClr val="199696"/>
                </a:solidFill>
              </a:defRPr>
            </a:pPr>
            <a:r>
              <a:t>Field-Level</a:t>
            </a:r>
          </a:p>
        </p:txBody>
      </p:sp>
      <p:sp>
        <p:nvSpPr>
          <p:cNvPr id="20" name="TextBox 19"/>
          <p:cNvSpPr txBox="1"/>
          <p:nvPr/>
        </p:nvSpPr>
        <p:spPr>
          <a:xfrm>
            <a:off x="4645152" y="4160520"/>
            <a:ext cx="2871216" cy="612648"/>
          </a:xfrm>
          <a:prstGeom prst="rect">
            <a:avLst/>
          </a:prstGeom>
          <a:noFill/>
        </p:spPr>
        <p:txBody>
          <a:bodyPr wrap="square">
            <a:spAutoFit/>
          </a:bodyPr>
          <a:lstStyle/>
          <a:p>
            <a:pPr>
              <a:defRPr sz="1350">
                <a:solidFill>
                  <a:srgbClr val="23282D"/>
                </a:solidFill>
              </a:defRPr>
            </a:pPr>
            <a:r>
              <a:t>FLS → whether a particular field is readable/editable.</a:t>
            </a:r>
          </a:p>
        </p:txBody>
      </p:sp>
      <p:sp>
        <p:nvSpPr>
          <p:cNvPr id="21" name="Rounded Rectangle 20"/>
          <p:cNvSpPr/>
          <p:nvPr/>
        </p:nvSpPr>
        <p:spPr>
          <a:xfrm>
            <a:off x="8138160" y="3657600"/>
            <a:ext cx="3200400" cy="123444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2752" y="3767328"/>
            <a:ext cx="2871216" cy="347472"/>
          </a:xfrm>
          <a:prstGeom prst="rect">
            <a:avLst/>
          </a:prstGeom>
          <a:noFill/>
        </p:spPr>
        <p:txBody>
          <a:bodyPr wrap="none">
            <a:spAutoFit/>
          </a:bodyPr>
          <a:lstStyle/>
          <a:p>
            <a:pPr>
              <a:defRPr sz="1600" b="1">
                <a:solidFill>
                  <a:srgbClr val="E17D23"/>
                </a:solidFill>
              </a:defRPr>
            </a:pPr>
            <a:r>
              <a:t>Record-Level</a:t>
            </a:r>
          </a:p>
        </p:txBody>
      </p:sp>
      <p:sp>
        <p:nvSpPr>
          <p:cNvPr id="23" name="TextBox 22"/>
          <p:cNvSpPr txBox="1"/>
          <p:nvPr/>
        </p:nvSpPr>
        <p:spPr>
          <a:xfrm>
            <a:off x="8302752" y="4160520"/>
            <a:ext cx="2871216" cy="612648"/>
          </a:xfrm>
          <a:prstGeom prst="rect">
            <a:avLst/>
          </a:prstGeom>
          <a:noFill/>
        </p:spPr>
        <p:txBody>
          <a:bodyPr wrap="square">
            <a:spAutoFit/>
          </a:bodyPr>
          <a:lstStyle/>
          <a:p>
            <a:pPr>
              <a:defRPr sz="1350">
                <a:solidFill>
                  <a:srgbClr val="23282D"/>
                </a:solidFill>
              </a:defRPr>
            </a:pPr>
            <a:r>
              <a:t>OWD + Role Hierarchy + Sharing Rules + Manual Sharing + Restriction Rules.</a:t>
            </a:r>
          </a:p>
        </p:txBody>
      </p:sp>
      <p:sp>
        <p:nvSpPr>
          <p:cNvPr id="24" name="Rectangle 2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6" name="TextBox 2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Security Layers: A Real-Life Analogy</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25880"/>
            <a:ext cx="5303520" cy="393192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435607"/>
            <a:ext cx="4974336" cy="347472"/>
          </a:xfrm>
          <a:prstGeom prst="rect">
            <a:avLst/>
          </a:prstGeom>
          <a:noFill/>
        </p:spPr>
        <p:txBody>
          <a:bodyPr wrap="none">
            <a:spAutoFit/>
          </a:bodyPr>
          <a:lstStyle/>
          <a:p>
            <a:pPr>
              <a:defRPr sz="1600" b="1">
                <a:solidFill>
                  <a:srgbClr val="2079BE"/>
                </a:solidFill>
              </a:defRPr>
            </a:pPr>
            <a:r>
              <a:t>Think of an Office Building</a:t>
            </a:r>
          </a:p>
        </p:txBody>
      </p:sp>
      <p:sp>
        <p:nvSpPr>
          <p:cNvPr id="8" name="TextBox 7"/>
          <p:cNvSpPr txBox="1"/>
          <p:nvPr/>
        </p:nvSpPr>
        <p:spPr>
          <a:xfrm>
            <a:off x="804671" y="1828800"/>
            <a:ext cx="4974336" cy="3310127"/>
          </a:xfrm>
          <a:prstGeom prst="rect">
            <a:avLst/>
          </a:prstGeom>
          <a:noFill/>
        </p:spPr>
        <p:txBody>
          <a:bodyPr wrap="square">
            <a:spAutoFit/>
          </a:bodyPr>
          <a:lstStyle/>
          <a:p>
            <a:pPr>
              <a:defRPr sz="1350">
                <a:solidFill>
                  <a:srgbClr val="23282D"/>
                </a:solidFill>
              </a:defRPr>
            </a:pPr>
            <a:r>
              <a:t>• Building entrance → Object permission</a:t>
            </a:r>
            <a:br/>
            <a:r>
              <a:t>• Specific cabinet → Field permission</a:t>
            </a:r>
            <a:br/>
            <a:r>
              <a:t>• Specific file/folder → Record access</a:t>
            </a:r>
            <a:br/>
            <a:r>
              <a:t>• Manager's key → Role hierarchy</a:t>
            </a:r>
            <a:br/>
            <a:r>
              <a:t>• Team key → Sharing rule</a:t>
            </a:r>
            <a:br/>
            <a:r>
              <a:t>• One-off key → Manual sharing</a:t>
            </a:r>
            <a:br/>
            <a:r>
              <a:t>• Security filter → Restriction rule</a:t>
            </a:r>
          </a:p>
        </p:txBody>
      </p:sp>
      <p:sp>
        <p:nvSpPr>
          <p:cNvPr id="9" name="Rounded Rectangle 8"/>
          <p:cNvSpPr/>
          <p:nvPr/>
        </p:nvSpPr>
        <p:spPr>
          <a:xfrm>
            <a:off x="6263640" y="1325880"/>
            <a:ext cx="5303520" cy="393192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1" y="1435607"/>
            <a:ext cx="4974336" cy="347472"/>
          </a:xfrm>
          <a:prstGeom prst="rect">
            <a:avLst/>
          </a:prstGeom>
          <a:noFill/>
        </p:spPr>
        <p:txBody>
          <a:bodyPr wrap="none">
            <a:spAutoFit/>
          </a:bodyPr>
          <a:lstStyle/>
          <a:p>
            <a:pPr>
              <a:defRPr sz="1600" b="1">
                <a:solidFill>
                  <a:srgbClr val="26915F"/>
                </a:solidFill>
              </a:defRPr>
            </a:pPr>
            <a:r>
              <a:t>Salesforce Translation</a:t>
            </a:r>
          </a:p>
        </p:txBody>
      </p:sp>
      <p:sp>
        <p:nvSpPr>
          <p:cNvPr id="11" name="TextBox 10"/>
          <p:cNvSpPr txBox="1"/>
          <p:nvPr/>
        </p:nvSpPr>
        <p:spPr>
          <a:xfrm>
            <a:off x="6428231" y="1828800"/>
            <a:ext cx="4974336" cy="3310127"/>
          </a:xfrm>
          <a:prstGeom prst="rect">
            <a:avLst/>
          </a:prstGeom>
          <a:noFill/>
        </p:spPr>
        <p:txBody>
          <a:bodyPr wrap="square">
            <a:spAutoFit/>
          </a:bodyPr>
          <a:lstStyle/>
          <a:p>
            <a:pPr>
              <a:defRPr sz="1350">
                <a:solidFill>
                  <a:srgbClr val="23282D"/>
                </a:solidFill>
              </a:defRPr>
            </a:pPr>
            <a:r>
              <a:t>• Can I enter the Accounts room?</a:t>
            </a:r>
            <a:br/>
            <a:r>
              <a:t>• Can I see Salary__c?</a:t>
            </a:r>
            <a:br/>
            <a:r>
              <a:t>• Can I see Account A?</a:t>
            </a:r>
            <a:br/>
            <a:r>
              <a:t>• Can my manager see my records?</a:t>
            </a:r>
            <a:br/>
            <a:r>
              <a:t>• Can Finance automatically see Sales records?</a:t>
            </a:r>
            <a:br/>
            <a:r>
              <a:t>• Can I share this one record?</a:t>
            </a:r>
            <a:br/>
            <a:r>
              <a:t>• Of the records I could see, which should be filtered?</a:t>
            </a:r>
          </a:p>
        </p:txBody>
      </p:sp>
      <p:sp>
        <p:nvSpPr>
          <p:cNvPr id="12" name="Rectangle 11"/>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4" name="TextBox 13"/>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User Access Building Blocks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Profiles and Permission Sets are permission mechanisms; Roles primarily affect record-level access.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2011680"/>
            <a:ext cx="205740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2212848"/>
            <a:ext cx="1837943" cy="685800"/>
          </a:xfrm>
          <a:prstGeom prst="rect">
            <a:avLst/>
          </a:prstGeom>
          <a:noFill/>
        </p:spPr>
        <p:txBody>
          <a:bodyPr wrap="none">
            <a:spAutoFit/>
          </a:bodyPr>
          <a:lstStyle/>
          <a:p>
            <a:pPr algn="ctr">
              <a:defRPr sz="1600" b="1">
                <a:solidFill>
                  <a:srgbClr val="23282D"/>
                </a:solidFill>
              </a:defRPr>
            </a:pPr>
            <a:r>
              <a:t>User</a:t>
            </a:r>
          </a:p>
        </p:txBody>
      </p:sp>
      <p:sp>
        <p:nvSpPr>
          <p:cNvPr id="9" name="Right Arrow 8"/>
          <p:cNvSpPr/>
          <p:nvPr/>
        </p:nvSpPr>
        <p:spPr>
          <a:xfrm>
            <a:off x="2505456" y="2340864"/>
            <a:ext cx="15544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97480" y="2011680"/>
            <a:ext cx="205740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2212848"/>
            <a:ext cx="1837943" cy="685800"/>
          </a:xfrm>
          <a:prstGeom prst="rect">
            <a:avLst/>
          </a:prstGeom>
          <a:noFill/>
        </p:spPr>
        <p:txBody>
          <a:bodyPr wrap="none">
            <a:spAutoFit/>
          </a:bodyPr>
          <a:lstStyle/>
          <a:p>
            <a:pPr algn="ctr">
              <a:defRPr sz="1600" b="1">
                <a:solidFill>
                  <a:srgbClr val="23282D"/>
                </a:solidFill>
              </a:defRPr>
            </a:pPr>
            <a:r>
              <a:t>Profile</a:t>
            </a:r>
            <a:br/>
            <a:r>
              <a:t>(base)</a:t>
            </a:r>
          </a:p>
        </p:txBody>
      </p:sp>
      <p:sp>
        <p:nvSpPr>
          <p:cNvPr id="12" name="Right Arrow 11"/>
          <p:cNvSpPr/>
          <p:nvPr/>
        </p:nvSpPr>
        <p:spPr>
          <a:xfrm>
            <a:off x="4791456" y="2340864"/>
            <a:ext cx="15544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83480" y="2011680"/>
            <a:ext cx="2057400" cy="1051560"/>
          </a:xfrm>
          <a:prstGeom prst="roundRect">
            <a:avLst/>
          </a:prstGeom>
          <a:solidFill>
            <a:srgbClr val="FFFFFF"/>
          </a:solidFill>
          <a:ln>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93208" y="2212848"/>
            <a:ext cx="1837943" cy="685800"/>
          </a:xfrm>
          <a:prstGeom prst="rect">
            <a:avLst/>
          </a:prstGeom>
          <a:noFill/>
        </p:spPr>
        <p:txBody>
          <a:bodyPr wrap="none">
            <a:spAutoFit/>
          </a:bodyPr>
          <a:lstStyle/>
          <a:p>
            <a:pPr algn="ctr">
              <a:defRPr sz="1600" b="1">
                <a:solidFill>
                  <a:srgbClr val="23282D"/>
                </a:solidFill>
              </a:defRPr>
            </a:pPr>
            <a:r>
              <a:t>Permission Sets /</a:t>
            </a:r>
            <a:br/>
            <a:r>
              <a:t>Groups</a:t>
            </a:r>
          </a:p>
        </p:txBody>
      </p:sp>
      <p:sp>
        <p:nvSpPr>
          <p:cNvPr id="15" name="Right Arrow 14"/>
          <p:cNvSpPr/>
          <p:nvPr/>
        </p:nvSpPr>
        <p:spPr>
          <a:xfrm>
            <a:off x="7077456" y="2340864"/>
            <a:ext cx="15544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9480" y="2011680"/>
            <a:ext cx="205740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9208" y="2212848"/>
            <a:ext cx="1837943" cy="685800"/>
          </a:xfrm>
          <a:prstGeom prst="rect">
            <a:avLst/>
          </a:prstGeom>
          <a:noFill/>
        </p:spPr>
        <p:txBody>
          <a:bodyPr wrap="none">
            <a:spAutoFit/>
          </a:bodyPr>
          <a:lstStyle/>
          <a:p>
            <a:pPr algn="ctr">
              <a:defRPr sz="1600" b="1">
                <a:solidFill>
                  <a:srgbClr val="23282D"/>
                </a:solidFill>
              </a:defRPr>
            </a:pPr>
            <a:r>
              <a:t>Object + Field</a:t>
            </a:r>
            <a:br/>
            <a:r>
              <a:t>Permissions</a:t>
            </a:r>
          </a:p>
        </p:txBody>
      </p:sp>
      <p:sp>
        <p:nvSpPr>
          <p:cNvPr id="18" name="Right Arrow 17"/>
          <p:cNvSpPr/>
          <p:nvPr/>
        </p:nvSpPr>
        <p:spPr>
          <a:xfrm>
            <a:off x="9363455" y="2340864"/>
            <a:ext cx="15544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55480" y="2011680"/>
            <a:ext cx="205740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7" y="2212848"/>
            <a:ext cx="1837943" cy="685800"/>
          </a:xfrm>
          <a:prstGeom prst="rect">
            <a:avLst/>
          </a:prstGeom>
          <a:noFill/>
        </p:spPr>
        <p:txBody>
          <a:bodyPr wrap="none">
            <a:spAutoFit/>
          </a:bodyPr>
          <a:lstStyle/>
          <a:p>
            <a:pPr algn="ctr">
              <a:defRPr sz="1600" b="1">
                <a:solidFill>
                  <a:srgbClr val="23282D"/>
                </a:solidFill>
              </a:defRPr>
            </a:pPr>
            <a:r>
              <a:t>Record-Level</a:t>
            </a:r>
            <a:br/>
            <a:r>
              <a:t>Access</a:t>
            </a:r>
          </a:p>
        </p:txBody>
      </p:sp>
      <p:sp>
        <p:nvSpPr>
          <p:cNvPr id="21" name="Rounded Rectangle 20"/>
          <p:cNvSpPr/>
          <p:nvPr/>
        </p:nvSpPr>
        <p:spPr>
          <a:xfrm>
            <a:off x="2194560" y="3886200"/>
            <a:ext cx="7863840" cy="1325880"/>
          </a:xfrm>
          <a:prstGeom prst="roundRect">
            <a:avLst/>
          </a:prstGeom>
          <a:solidFill>
            <a:srgbClr val="F0EBFA"/>
          </a:solidFill>
          <a:ln w="19050">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59152" y="3995928"/>
            <a:ext cx="7534656" cy="347472"/>
          </a:xfrm>
          <a:prstGeom prst="rect">
            <a:avLst/>
          </a:prstGeom>
          <a:noFill/>
        </p:spPr>
        <p:txBody>
          <a:bodyPr wrap="none">
            <a:spAutoFit/>
          </a:bodyPr>
          <a:lstStyle/>
          <a:p>
            <a:pPr>
              <a:defRPr sz="1600" b="1">
                <a:solidFill>
                  <a:srgbClr val="694BA5"/>
                </a:solidFill>
              </a:defRPr>
            </a:pPr>
            <a:r>
              <a:t>Key distinction</a:t>
            </a:r>
          </a:p>
        </p:txBody>
      </p:sp>
      <p:sp>
        <p:nvSpPr>
          <p:cNvPr id="23" name="TextBox 22"/>
          <p:cNvSpPr txBox="1"/>
          <p:nvPr/>
        </p:nvSpPr>
        <p:spPr>
          <a:xfrm>
            <a:off x="2359152" y="4389120"/>
            <a:ext cx="7534656" cy="704087"/>
          </a:xfrm>
          <a:prstGeom prst="rect">
            <a:avLst/>
          </a:prstGeom>
          <a:noFill/>
        </p:spPr>
        <p:txBody>
          <a:bodyPr wrap="square">
            <a:spAutoFit/>
          </a:bodyPr>
          <a:lstStyle/>
          <a:p>
            <a:pPr>
              <a:defRPr sz="1350">
                <a:solidFill>
                  <a:srgbClr val="23282D"/>
                </a:solidFill>
              </a:defRPr>
            </a:pPr>
            <a:r>
              <a:t>Profile / Permission Set = what the user is allowed to do.</a:t>
            </a:r>
            <a:br/>
            <a:r>
              <a:t>Role = where the user sits in the data-access hierarchy.</a:t>
            </a:r>
          </a:p>
        </p:txBody>
      </p:sp>
      <p:sp>
        <p:nvSpPr>
          <p:cNvPr id="24" name="Rectangle 2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6" name="TextBox 2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Profile</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Profile = the user's baseline configuration and permissions.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400800" cy="4114800"/>
          </a:xfrm>
          <a:prstGeom prst="rect">
            <a:avLst/>
          </a:prstGeom>
          <a:noFill/>
        </p:spPr>
        <p:txBody>
          <a:bodyPr wrap="square" lIns="45720" tIns="18288" rIns="45720">
            <a:spAutoFit/>
          </a:bodyPr>
          <a:lstStyle/>
          <a:p>
            <a:pPr>
              <a:spcAft>
                <a:spcPts val="800"/>
              </a:spcAft>
              <a:defRPr sz="1900">
                <a:solidFill>
                  <a:srgbClr val="23282D"/>
                </a:solidFill>
              </a:defRPr>
            </a:pPr>
            <a:r>
              <a:t>Every Salesforce user has exactly one Profile.</a:t>
            </a:r>
          </a:p>
          <a:p>
            <a:pPr>
              <a:spcAft>
                <a:spcPts val="800"/>
              </a:spcAft>
              <a:defRPr sz="1900">
                <a:solidFill>
                  <a:srgbClr val="23282D"/>
                </a:solidFill>
              </a:defRPr>
            </a:pPr>
            <a:r>
              <a:t>Profiles can define object permissions such as Read, Create, Edit and Delete.</a:t>
            </a:r>
          </a:p>
          <a:p>
            <a:pPr>
              <a:spcAft>
                <a:spcPts val="800"/>
              </a:spcAft>
              <a:defRPr sz="1900">
                <a:solidFill>
                  <a:srgbClr val="23282D"/>
                </a:solidFill>
              </a:defRPr>
            </a:pPr>
            <a:r>
              <a:t>Profiles can define field permissions (FLS), tabs, assigned apps, record types and page layouts.</a:t>
            </a:r>
          </a:p>
          <a:p>
            <a:pPr>
              <a:spcAft>
                <a:spcPts val="800"/>
              </a:spcAft>
              <a:defRPr sz="1900">
                <a:solidFill>
                  <a:srgbClr val="23282D"/>
                </a:solidFill>
              </a:defRPr>
            </a:pPr>
            <a:r>
              <a:t>Profiles can also contain many user/system permissions and login-related settings.</a:t>
            </a:r>
          </a:p>
          <a:p>
            <a:pPr>
              <a:spcAft>
                <a:spcPts val="800"/>
              </a:spcAft>
              <a:defRPr sz="1900">
                <a:solidFill>
                  <a:srgbClr val="23282D"/>
                </a:solidFill>
              </a:defRPr>
            </a:pPr>
            <a:r>
              <a:t>Think of a Profile as the user's base permission package—not the record-sharing model.</a:t>
            </a:r>
          </a:p>
        </p:txBody>
      </p:sp>
      <p:sp>
        <p:nvSpPr>
          <p:cNvPr id="8" name="Rounded Rectangle 7"/>
          <p:cNvSpPr/>
          <p:nvPr/>
        </p:nvSpPr>
        <p:spPr>
          <a:xfrm>
            <a:off x="7406640" y="1417320"/>
            <a:ext cx="4023360" cy="210312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71231" y="1527048"/>
            <a:ext cx="3694176" cy="347472"/>
          </a:xfrm>
          <a:prstGeom prst="rect">
            <a:avLst/>
          </a:prstGeom>
          <a:noFill/>
        </p:spPr>
        <p:txBody>
          <a:bodyPr wrap="none">
            <a:spAutoFit/>
          </a:bodyPr>
          <a:lstStyle/>
          <a:p>
            <a:pPr>
              <a:defRPr sz="1600" b="1">
                <a:solidFill>
                  <a:srgbClr val="2079BE"/>
                </a:solidFill>
              </a:defRPr>
            </a:pPr>
            <a:r>
              <a:t>Easy example</a:t>
            </a:r>
          </a:p>
        </p:txBody>
      </p:sp>
      <p:sp>
        <p:nvSpPr>
          <p:cNvPr id="10" name="TextBox 9"/>
          <p:cNvSpPr txBox="1"/>
          <p:nvPr/>
        </p:nvSpPr>
        <p:spPr>
          <a:xfrm>
            <a:off x="7571231" y="1920240"/>
            <a:ext cx="3694176" cy="1481327"/>
          </a:xfrm>
          <a:prstGeom prst="rect">
            <a:avLst/>
          </a:prstGeom>
          <a:noFill/>
        </p:spPr>
        <p:txBody>
          <a:bodyPr wrap="square">
            <a:spAutoFit/>
          </a:bodyPr>
          <a:lstStyle/>
          <a:p>
            <a:pPr>
              <a:defRPr sz="1350">
                <a:solidFill>
                  <a:srgbClr val="23282D"/>
                </a:solidFill>
              </a:defRPr>
            </a:pPr>
            <a:r>
              <a:t>Sales Rep Profile:</a:t>
            </a:r>
            <a:br/>
            <a:r>
              <a:t>Account → Read/Create/Edit, Delete = No</a:t>
            </a:r>
            <a:br/>
            <a:r>
              <a:t>Opportunity → Read/Create/Edit, Delete = No</a:t>
            </a:r>
          </a:p>
        </p:txBody>
      </p:sp>
      <p:sp>
        <p:nvSpPr>
          <p:cNvPr id="13" name="Rectangle 12"/>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5" name="TextBox 14"/>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Permission Sets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Permission Sets add permissions without changing the user's Profile.</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400800" cy="4206240"/>
          </a:xfrm>
          <a:prstGeom prst="rect">
            <a:avLst/>
          </a:prstGeom>
          <a:noFill/>
        </p:spPr>
        <p:txBody>
          <a:bodyPr wrap="square" lIns="45720" tIns="18288" rIns="45720">
            <a:spAutoFit/>
          </a:bodyPr>
          <a:lstStyle/>
          <a:p>
            <a:pPr>
              <a:spcAft>
                <a:spcPts val="800"/>
              </a:spcAft>
              <a:defRPr sz="1900">
                <a:solidFill>
                  <a:srgbClr val="23282D"/>
                </a:solidFill>
              </a:defRPr>
            </a:pPr>
            <a:r>
              <a:t>A user can have multiple Permission Sets.</a:t>
            </a:r>
          </a:p>
          <a:p>
            <a:pPr>
              <a:spcAft>
                <a:spcPts val="800"/>
              </a:spcAft>
              <a:defRPr sz="1900">
                <a:solidFill>
                  <a:srgbClr val="23282D"/>
                </a:solidFill>
              </a:defRPr>
            </a:pPr>
            <a:r>
              <a:t>Use them when only some users need additional access.</a:t>
            </a:r>
          </a:p>
          <a:p>
            <a:pPr>
              <a:spcAft>
                <a:spcPts val="800"/>
              </a:spcAft>
              <a:defRPr sz="1900">
                <a:solidFill>
                  <a:srgbClr val="23282D"/>
                </a:solidFill>
              </a:defRPr>
            </a:pPr>
            <a:r>
              <a:t>They can grant object, field and user/system permissions.</a:t>
            </a:r>
          </a:p>
          <a:p>
            <a:pPr>
              <a:spcAft>
                <a:spcPts val="800"/>
              </a:spcAft>
              <a:defRPr sz="1900">
                <a:solidFill>
                  <a:srgbClr val="23282D"/>
                </a:solidFill>
              </a:defRPr>
            </a:pPr>
            <a:r>
              <a:t>They are ideal for modular, reusable access instead of creating many specialized Profiles.</a:t>
            </a:r>
          </a:p>
          <a:p>
            <a:pPr>
              <a:spcAft>
                <a:spcPts val="800"/>
              </a:spcAft>
              <a:defRPr sz="1900">
                <a:solidFill>
                  <a:srgbClr val="23282D"/>
                </a:solidFill>
              </a:defRPr>
            </a:pPr>
            <a:r>
              <a:t>A Permission Set does not normally take away a permission already granted by the user's Profile.</a:t>
            </a:r>
          </a:p>
        </p:txBody>
      </p:sp>
      <p:sp>
        <p:nvSpPr>
          <p:cNvPr id="8" name="Rounded Rectangle 7"/>
          <p:cNvSpPr/>
          <p:nvPr/>
        </p:nvSpPr>
        <p:spPr>
          <a:xfrm>
            <a:off x="7315200" y="1325880"/>
            <a:ext cx="4160520" cy="237744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79792" y="1435607"/>
            <a:ext cx="3831335" cy="347472"/>
          </a:xfrm>
          <a:prstGeom prst="rect">
            <a:avLst/>
          </a:prstGeom>
          <a:noFill/>
        </p:spPr>
        <p:txBody>
          <a:bodyPr wrap="none">
            <a:spAutoFit/>
          </a:bodyPr>
          <a:lstStyle/>
          <a:p>
            <a:pPr>
              <a:defRPr sz="1600" b="1">
                <a:solidFill>
                  <a:srgbClr val="26915F"/>
                </a:solidFill>
              </a:defRPr>
            </a:pPr>
            <a:r>
              <a:t>Example</a:t>
            </a:r>
          </a:p>
        </p:txBody>
      </p:sp>
      <p:sp>
        <p:nvSpPr>
          <p:cNvPr id="10" name="TextBox 9"/>
          <p:cNvSpPr txBox="1"/>
          <p:nvPr/>
        </p:nvSpPr>
        <p:spPr>
          <a:xfrm>
            <a:off x="7479792" y="1828800"/>
            <a:ext cx="3831335" cy="1755648"/>
          </a:xfrm>
          <a:prstGeom prst="rect">
            <a:avLst/>
          </a:prstGeom>
          <a:noFill/>
        </p:spPr>
        <p:txBody>
          <a:bodyPr wrap="square">
            <a:spAutoFit/>
          </a:bodyPr>
          <a:lstStyle/>
          <a:p>
            <a:pPr>
              <a:defRPr sz="1350">
                <a:solidFill>
                  <a:srgbClr val="23282D"/>
                </a:solidFill>
              </a:defRPr>
            </a:pPr>
            <a:r>
              <a:t>50 Sales Reps share one Profile.</a:t>
            </a:r>
            <a:br/>
            <a:r>
              <a:t>5 reps need Account Delete.</a:t>
            </a:r>
            <a:br/>
            <a:r>
              <a:t>Create one Permission Set: “Account Delete Access” and assign it only to those 5 users.</a:t>
            </a:r>
          </a:p>
        </p:txBody>
      </p:sp>
      <p:sp>
        <p:nvSpPr>
          <p:cNvPr id="11" name="Rounded Rectangle 10"/>
          <p:cNvSpPr/>
          <p:nvPr/>
        </p:nvSpPr>
        <p:spPr>
          <a:xfrm>
            <a:off x="7315200" y="3977639"/>
            <a:ext cx="4160520" cy="109728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9792" y="4087368"/>
            <a:ext cx="3831335" cy="347472"/>
          </a:xfrm>
          <a:prstGeom prst="rect">
            <a:avLst/>
          </a:prstGeom>
          <a:noFill/>
        </p:spPr>
        <p:txBody>
          <a:bodyPr wrap="none">
            <a:spAutoFit/>
          </a:bodyPr>
          <a:lstStyle/>
          <a:p>
            <a:pPr>
              <a:defRPr sz="1600" b="1">
                <a:solidFill>
                  <a:srgbClr val="E17D23"/>
                </a:solidFill>
              </a:defRPr>
            </a:pPr>
            <a:r>
              <a:t>Memory line</a:t>
            </a:r>
          </a:p>
        </p:txBody>
      </p:sp>
      <p:sp>
        <p:nvSpPr>
          <p:cNvPr id="13" name="TextBox 12"/>
          <p:cNvSpPr txBox="1"/>
          <p:nvPr/>
        </p:nvSpPr>
        <p:spPr>
          <a:xfrm>
            <a:off x="7479792" y="4480559"/>
            <a:ext cx="3831335" cy="475487"/>
          </a:xfrm>
          <a:prstGeom prst="rect">
            <a:avLst/>
          </a:prstGeom>
          <a:noFill/>
        </p:spPr>
        <p:txBody>
          <a:bodyPr wrap="square">
            <a:spAutoFit/>
          </a:bodyPr>
          <a:lstStyle/>
          <a:p>
            <a:pPr>
              <a:defRPr sz="1350">
                <a:solidFill>
                  <a:srgbClr val="23282D"/>
                </a:solidFill>
              </a:defRPr>
            </a:pPr>
            <a:r>
              <a:t>Profile = base</a:t>
            </a:r>
            <a:br/>
            <a:r>
              <a:t>Permission Set = extra</a:t>
            </a:r>
          </a:p>
        </p:txBody>
      </p:sp>
      <p:sp>
        <p:nvSpPr>
          <p:cNvPr id="14" name="Rectangle 1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6" name="TextBox 1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Permission Set Groups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Bundle multiple Permission Sets and assign them as one unit.</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45920"/>
            <a:ext cx="283464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47088"/>
            <a:ext cx="2615184" cy="685800"/>
          </a:xfrm>
          <a:prstGeom prst="rect">
            <a:avLst/>
          </a:prstGeom>
          <a:noFill/>
        </p:spPr>
        <p:txBody>
          <a:bodyPr wrap="none">
            <a:spAutoFit/>
          </a:bodyPr>
          <a:lstStyle/>
          <a:p>
            <a:pPr algn="ctr">
              <a:defRPr sz="1600" b="1">
                <a:solidFill>
                  <a:srgbClr val="23282D"/>
                </a:solidFill>
              </a:defRPr>
            </a:pPr>
            <a:r>
              <a:t>Finance User</a:t>
            </a:r>
          </a:p>
        </p:txBody>
      </p:sp>
      <p:sp>
        <p:nvSpPr>
          <p:cNvPr id="9" name="Right Arrow 8"/>
          <p:cNvSpPr/>
          <p:nvPr/>
        </p:nvSpPr>
        <p:spPr>
          <a:xfrm>
            <a:off x="3557016" y="1975104"/>
            <a:ext cx="33832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31920" y="1645920"/>
            <a:ext cx="283464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1847088"/>
            <a:ext cx="2615184" cy="685800"/>
          </a:xfrm>
          <a:prstGeom prst="rect">
            <a:avLst/>
          </a:prstGeom>
          <a:noFill/>
        </p:spPr>
        <p:txBody>
          <a:bodyPr wrap="none">
            <a:spAutoFit/>
          </a:bodyPr>
          <a:lstStyle/>
          <a:p>
            <a:pPr algn="ctr">
              <a:defRPr sz="1600" b="1">
                <a:solidFill>
                  <a:srgbClr val="23282D"/>
                </a:solidFill>
              </a:defRPr>
            </a:pPr>
            <a:r>
              <a:t>Finance Access</a:t>
            </a:r>
            <a:br/>
            <a:r>
              <a:t>Permission Set Group</a:t>
            </a:r>
          </a:p>
        </p:txBody>
      </p:sp>
      <p:sp>
        <p:nvSpPr>
          <p:cNvPr id="12" name="Right Arrow 11"/>
          <p:cNvSpPr/>
          <p:nvPr/>
        </p:nvSpPr>
        <p:spPr>
          <a:xfrm>
            <a:off x="6803136" y="1975104"/>
            <a:ext cx="33832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78040" y="1645920"/>
            <a:ext cx="283464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7768" y="1847088"/>
            <a:ext cx="2615184" cy="685800"/>
          </a:xfrm>
          <a:prstGeom prst="rect">
            <a:avLst/>
          </a:prstGeom>
          <a:noFill/>
        </p:spPr>
        <p:txBody>
          <a:bodyPr wrap="none">
            <a:spAutoFit/>
          </a:bodyPr>
          <a:lstStyle/>
          <a:p>
            <a:pPr algn="ctr">
              <a:defRPr sz="1600" b="1">
                <a:solidFill>
                  <a:srgbClr val="23282D"/>
                </a:solidFill>
              </a:defRPr>
            </a:pPr>
            <a:r>
              <a:t>Account Read</a:t>
            </a:r>
            <a:br/>
            <a:r>
              <a:t>Opportunity Read</a:t>
            </a:r>
            <a:br/>
            <a:r>
              <a:t>Report Access</a:t>
            </a:r>
            <a:br/>
            <a:r>
              <a:t>Export Access</a:t>
            </a:r>
          </a:p>
        </p:txBody>
      </p:sp>
      <p:sp>
        <p:nvSpPr>
          <p:cNvPr id="15" name="TextBox 14"/>
          <p:cNvSpPr txBox="1"/>
          <p:nvPr/>
        </p:nvSpPr>
        <p:spPr>
          <a:xfrm>
            <a:off x="868680" y="3246120"/>
            <a:ext cx="10332720" cy="2103120"/>
          </a:xfrm>
          <a:prstGeom prst="rect">
            <a:avLst/>
          </a:prstGeom>
          <a:noFill/>
        </p:spPr>
        <p:txBody>
          <a:bodyPr wrap="square" lIns="45720" tIns="18288" rIns="45720">
            <a:spAutoFit/>
          </a:bodyPr>
          <a:lstStyle/>
          <a:p>
            <a:pPr>
              <a:spcAft>
                <a:spcPts val="800"/>
              </a:spcAft>
              <a:defRPr sz="1800">
                <a:solidFill>
                  <a:srgbClr val="23282D"/>
                </a:solidFill>
              </a:defRPr>
            </a:pPr>
            <a:r>
              <a:t>Permission Set = one reusable permission bundle.</a:t>
            </a:r>
          </a:p>
          <a:p>
            <a:pPr>
              <a:spcAft>
                <a:spcPts val="800"/>
              </a:spcAft>
              <a:defRPr sz="1800">
                <a:solidFill>
                  <a:srgbClr val="23282D"/>
                </a:solidFill>
              </a:defRPr>
            </a:pPr>
            <a:r>
              <a:t>Permission Set Group = a collection of Permission Sets.</a:t>
            </a:r>
          </a:p>
          <a:p>
            <a:pPr>
              <a:spcAft>
                <a:spcPts val="800"/>
              </a:spcAft>
              <a:defRPr sz="1800">
                <a:solidFill>
                  <a:srgbClr val="23282D"/>
                </a:solidFill>
              </a:defRPr>
            </a:pPr>
            <a:r>
              <a:t>Useful when a job function consistently needs several permission sets.</a:t>
            </a:r>
          </a:p>
          <a:p>
            <a:pPr>
              <a:spcAft>
                <a:spcPts val="800"/>
              </a:spcAft>
              <a:defRPr sz="1800">
                <a:solidFill>
                  <a:srgbClr val="23282D"/>
                </a:solidFill>
              </a:defRPr>
            </a:pPr>
            <a:r>
              <a:t>You can assign multiple Permission Set Groups to the same user.</a:t>
            </a:r>
          </a:p>
        </p:txBody>
      </p:sp>
      <p:sp>
        <p:nvSpPr>
          <p:cNvPr id="16" name="Rectangle 15"/>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8" name="TextBox 17"/>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Object-Level Security</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Object permissions answer: “Can this user access this object at all?”</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234440"/>
          <a:ext cx="6766560" cy="4206240"/>
        </p:xfrm>
        <a:graphic>
          <a:graphicData uri="http://schemas.openxmlformats.org/drawingml/2006/table">
            <a:tbl>
              <a:tblPr firstRow="1" bandRow="1">
                <a:tableStyleId>{5C22544A-7EE6-4342-B048-85BDC9FD1C3A}</a:tableStyleId>
              </a:tblPr>
              <a:tblGrid>
                <a:gridCol w="1828800"/>
                <a:gridCol w="4937760"/>
              </a:tblGrid>
              <a:tr h="701040">
                <a:tc>
                  <a:txBody>
                    <a:bodyPr/>
                    <a:lstStyle/>
                    <a:p>
                      <a:pPr>
                        <a:defRPr sz="1400" b="1">
                          <a:solidFill>
                            <a:srgbClr val="FFFFFF"/>
                          </a:solidFill>
                        </a:defRPr>
                      </a:pPr>
                      <a:r>
                        <a:t>Permission</a:t>
                      </a:r>
                    </a:p>
                  </a:txBody>
                  <a:tcPr marL="54864" marR="54864" marT="36576" marB="36576">
                    <a:solidFill>
                      <a:srgbClr val="183757"/>
                    </a:solidFill>
                  </a:tcPr>
                </a:tc>
                <a:tc>
                  <a:txBody>
                    <a:bodyPr/>
                    <a:lstStyle/>
                    <a:p>
                      <a:pPr>
                        <a:defRPr sz="1400" b="1">
                          <a:solidFill>
                            <a:srgbClr val="FFFFFF"/>
                          </a:solidFill>
                        </a:defRPr>
                      </a:pPr>
                      <a:r>
                        <a:t>Meaning</a:t>
                      </a:r>
                    </a:p>
                  </a:txBody>
                  <a:tcPr marL="54864" marR="54864" marT="36576" marB="36576">
                    <a:solidFill>
                      <a:srgbClr val="183757"/>
                    </a:solidFill>
                  </a:tcPr>
                </a:tc>
              </a:tr>
              <a:tr h="701040">
                <a:tc>
                  <a:txBody>
                    <a:bodyPr/>
                    <a:lstStyle/>
                    <a:p>
                      <a:pPr>
                        <a:defRPr sz="1400" b="0">
                          <a:solidFill>
                            <a:srgbClr val="23282D"/>
                          </a:solidFill>
                        </a:defRPr>
                      </a:pPr>
                      <a:r>
                        <a:t>Read</a:t>
                      </a:r>
                    </a:p>
                  </a:txBody>
                  <a:tcPr marL="54864" marR="54864" marT="36576" marB="36576">
                    <a:solidFill>
                      <a:srgbClr val="FFFFFF"/>
                    </a:solidFill>
                  </a:tcPr>
                </a:tc>
                <a:tc>
                  <a:txBody>
                    <a:bodyPr/>
                    <a:lstStyle/>
                    <a:p>
                      <a:pPr>
                        <a:defRPr sz="1400" b="0">
                          <a:solidFill>
                            <a:srgbClr val="23282D"/>
                          </a:solidFill>
                        </a:defRPr>
                      </a:pPr>
                      <a:r>
                        <a:t>View records of the object, subject to record access.</a:t>
                      </a:r>
                    </a:p>
                  </a:txBody>
                  <a:tcPr marL="54864" marR="54864" marT="36576" marB="36576">
                    <a:solidFill>
                      <a:srgbClr val="FFFFFF"/>
                    </a:solidFill>
                  </a:tcPr>
                </a:tc>
              </a:tr>
              <a:tr h="701040">
                <a:tc>
                  <a:txBody>
                    <a:bodyPr/>
                    <a:lstStyle/>
                    <a:p>
                      <a:pPr>
                        <a:defRPr sz="1400" b="0">
                          <a:solidFill>
                            <a:srgbClr val="23282D"/>
                          </a:solidFill>
                        </a:defRPr>
                      </a:pPr>
                      <a:r>
                        <a:t>Create</a:t>
                      </a:r>
                    </a:p>
                  </a:txBody>
                  <a:tcPr marL="54864" marR="54864" marT="36576" marB="36576">
                    <a:solidFill>
                      <a:srgbClr val="FFFFFF"/>
                    </a:solidFill>
                  </a:tcPr>
                </a:tc>
                <a:tc>
                  <a:txBody>
                    <a:bodyPr/>
                    <a:lstStyle/>
                    <a:p>
                      <a:pPr>
                        <a:defRPr sz="1400" b="0">
                          <a:solidFill>
                            <a:srgbClr val="23282D"/>
                          </a:solidFill>
                        </a:defRPr>
                      </a:pPr>
                      <a:r>
                        <a:t>Create records of the object, subject to required fields and rules.</a:t>
                      </a:r>
                    </a:p>
                  </a:txBody>
                  <a:tcPr marL="54864" marR="54864" marT="36576" marB="36576">
                    <a:solidFill>
                      <a:srgbClr val="FFFFFF"/>
                    </a:solidFill>
                  </a:tcPr>
                </a:tc>
              </a:tr>
              <a:tr h="701040">
                <a:tc>
                  <a:txBody>
                    <a:bodyPr/>
                    <a:lstStyle/>
                    <a:p>
                      <a:pPr>
                        <a:defRPr sz="1400" b="0">
                          <a:solidFill>
                            <a:srgbClr val="23282D"/>
                          </a:solidFill>
                        </a:defRPr>
                      </a:pPr>
                      <a:r>
                        <a:t>Edit</a:t>
                      </a:r>
                    </a:p>
                  </a:txBody>
                  <a:tcPr marL="54864" marR="54864" marT="36576" marB="36576">
                    <a:solidFill>
                      <a:srgbClr val="FFFFFF"/>
                    </a:solidFill>
                  </a:tcPr>
                </a:tc>
                <a:tc>
                  <a:txBody>
                    <a:bodyPr/>
                    <a:lstStyle/>
                    <a:p>
                      <a:pPr>
                        <a:defRPr sz="1400" b="0">
                          <a:solidFill>
                            <a:srgbClr val="23282D"/>
                          </a:solidFill>
                        </a:defRPr>
                      </a:pPr>
                      <a:r>
                        <a:t>Update records the user is allowed to edit.</a:t>
                      </a:r>
                    </a:p>
                  </a:txBody>
                  <a:tcPr marL="54864" marR="54864" marT="36576" marB="36576">
                    <a:solidFill>
                      <a:srgbClr val="FFFFFF"/>
                    </a:solidFill>
                  </a:tcPr>
                </a:tc>
              </a:tr>
              <a:tr h="701040">
                <a:tc>
                  <a:txBody>
                    <a:bodyPr/>
                    <a:lstStyle/>
                    <a:p>
                      <a:pPr>
                        <a:defRPr sz="1400" b="0">
                          <a:solidFill>
                            <a:srgbClr val="23282D"/>
                          </a:solidFill>
                        </a:defRPr>
                      </a:pPr>
                      <a:r>
                        <a:t>Delete</a:t>
                      </a:r>
                    </a:p>
                  </a:txBody>
                  <a:tcPr marL="54864" marR="54864" marT="36576" marB="36576">
                    <a:solidFill>
                      <a:srgbClr val="FFFFFF"/>
                    </a:solidFill>
                  </a:tcPr>
                </a:tc>
                <a:tc>
                  <a:txBody>
                    <a:bodyPr/>
                    <a:lstStyle/>
                    <a:p>
                      <a:pPr>
                        <a:defRPr sz="1400" b="0">
                          <a:solidFill>
                            <a:srgbClr val="23282D"/>
                          </a:solidFill>
                        </a:defRPr>
                      </a:pPr>
                      <a:r>
                        <a:t>Delete records the user is allowed to delete.</a:t>
                      </a:r>
                    </a:p>
                  </a:txBody>
                  <a:tcPr marL="54864" marR="54864" marT="36576" marB="36576">
                    <a:solidFill>
                      <a:srgbClr val="FFFFFF"/>
                    </a:solidFill>
                  </a:tcPr>
                </a:tc>
              </a:tr>
              <a:tr h="701040">
                <a:tc>
                  <a:txBody>
                    <a:bodyPr/>
                    <a:lstStyle/>
                    <a:p>
                      <a:pPr>
                        <a:defRPr sz="1400" b="0">
                          <a:solidFill>
                            <a:srgbClr val="23282D"/>
                          </a:solidFill>
                        </a:defRPr>
                      </a:pPr>
                      <a:r>
                        <a:t>View All / Modify All</a:t>
                      </a:r>
                    </a:p>
                  </a:txBody>
                  <a:tcPr marL="54864" marR="54864" marT="36576" marB="36576">
                    <a:solidFill>
                      <a:srgbClr val="FFFFFF"/>
                    </a:solidFill>
                  </a:tcPr>
                </a:tc>
                <a:tc>
                  <a:txBody>
                    <a:bodyPr/>
                    <a:lstStyle/>
                    <a:p>
                      <a:pPr>
                        <a:defRPr sz="1400" b="0">
                          <a:solidFill>
                            <a:srgbClr val="23282D"/>
                          </a:solidFill>
                        </a:defRPr>
                      </a:pPr>
                      <a:r>
                        <a:t>Powerful object-level access that can override normal sharing behavior.</a:t>
                      </a:r>
                    </a:p>
                  </a:txBody>
                  <a:tcPr marL="54864" marR="54864" marT="36576" marB="36576">
                    <a:solidFill>
                      <a:srgbClr val="FFFFFF"/>
                    </a:solidFill>
                  </a:tcPr>
                </a:tc>
              </a:tr>
            </a:tbl>
          </a:graphicData>
        </a:graphic>
      </p:graphicFrame>
      <p:sp>
        <p:nvSpPr>
          <p:cNvPr id="8" name="Rounded Rectangle 7"/>
          <p:cNvSpPr/>
          <p:nvPr/>
        </p:nvSpPr>
        <p:spPr>
          <a:xfrm>
            <a:off x="7726679" y="1417320"/>
            <a:ext cx="3657600" cy="1645920"/>
          </a:xfrm>
          <a:prstGeom prst="roundRect">
            <a:avLst/>
          </a:prstGeom>
          <a:solidFill>
            <a:srgbClr val="FCEBEB"/>
          </a:solidFill>
          <a:ln w="19050">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91271" y="1527048"/>
            <a:ext cx="3328416" cy="347472"/>
          </a:xfrm>
          <a:prstGeom prst="rect">
            <a:avLst/>
          </a:prstGeom>
          <a:noFill/>
        </p:spPr>
        <p:txBody>
          <a:bodyPr wrap="none">
            <a:spAutoFit/>
          </a:bodyPr>
          <a:lstStyle/>
          <a:p>
            <a:pPr>
              <a:defRPr sz="1600" b="1">
                <a:solidFill>
                  <a:srgbClr val="BE3737"/>
                </a:solidFill>
              </a:defRPr>
            </a:pPr>
            <a:r>
              <a:t>Critical rule</a:t>
            </a:r>
          </a:p>
        </p:txBody>
      </p:sp>
      <p:sp>
        <p:nvSpPr>
          <p:cNvPr id="10" name="TextBox 9"/>
          <p:cNvSpPr txBox="1"/>
          <p:nvPr/>
        </p:nvSpPr>
        <p:spPr>
          <a:xfrm>
            <a:off x="7891271" y="1920240"/>
            <a:ext cx="3328416" cy="1024128"/>
          </a:xfrm>
          <a:prstGeom prst="rect">
            <a:avLst/>
          </a:prstGeom>
          <a:noFill/>
        </p:spPr>
        <p:txBody>
          <a:bodyPr wrap="square">
            <a:spAutoFit/>
          </a:bodyPr>
          <a:lstStyle/>
          <a:p>
            <a:pPr>
              <a:defRPr sz="1350">
                <a:solidFill>
                  <a:srgbClr val="23282D"/>
                </a:solidFill>
              </a:defRPr>
            </a:pPr>
            <a:r>
              <a:t>Sharing cannot make a user read an object they do not have object-level Read permission for.</a:t>
            </a:r>
          </a:p>
        </p:txBody>
      </p:sp>
      <p:sp>
        <p:nvSpPr>
          <p:cNvPr id="11" name="Rounded Rectangle 10"/>
          <p:cNvSpPr/>
          <p:nvPr/>
        </p:nvSpPr>
        <p:spPr>
          <a:xfrm>
            <a:off x="7726679" y="3337560"/>
            <a:ext cx="3657600" cy="192024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91271" y="3447288"/>
            <a:ext cx="3328416" cy="347472"/>
          </a:xfrm>
          <a:prstGeom prst="rect">
            <a:avLst/>
          </a:prstGeom>
          <a:noFill/>
        </p:spPr>
        <p:txBody>
          <a:bodyPr wrap="none">
            <a:spAutoFit/>
          </a:bodyPr>
          <a:lstStyle/>
          <a:p>
            <a:pPr>
              <a:defRPr sz="1600" b="1">
                <a:solidFill>
                  <a:srgbClr val="2079BE"/>
                </a:solidFill>
              </a:defRPr>
            </a:pPr>
            <a:r>
              <a:t>Example</a:t>
            </a:r>
          </a:p>
        </p:txBody>
      </p:sp>
      <p:sp>
        <p:nvSpPr>
          <p:cNvPr id="13" name="TextBox 12"/>
          <p:cNvSpPr txBox="1"/>
          <p:nvPr/>
        </p:nvSpPr>
        <p:spPr>
          <a:xfrm>
            <a:off x="7891271" y="3840480"/>
            <a:ext cx="3328416" cy="1298448"/>
          </a:xfrm>
          <a:prstGeom prst="rect">
            <a:avLst/>
          </a:prstGeom>
          <a:noFill/>
        </p:spPr>
        <p:txBody>
          <a:bodyPr wrap="square">
            <a:spAutoFit/>
          </a:bodyPr>
          <a:lstStyle/>
          <a:p>
            <a:pPr>
              <a:defRPr sz="1350">
                <a:solidFill>
                  <a:srgbClr val="23282D"/>
                </a:solidFill>
              </a:defRPr>
            </a:pPr>
            <a:r>
              <a:t>Profile: Opportunity Read = Yes</a:t>
            </a:r>
            <a:br/>
            <a:r>
              <a:t>OWD: Opportunity = Private</a:t>
            </a:r>
            <a:br/>
            <a:r>
              <a:t>Result: user can use the Opportunity object, but cannot automatically see every Opportunity record.</a:t>
            </a:r>
          </a:p>
        </p:txBody>
      </p:sp>
      <p:sp>
        <p:nvSpPr>
          <p:cNvPr id="14" name="Rectangle 1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6" name="TextBox 1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Other Object-Level / UI Settings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These settings affect what users can access or how the object is presented.</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234440"/>
          <a:ext cx="10881360" cy="4297680"/>
        </p:xfrm>
        <a:graphic>
          <a:graphicData uri="http://schemas.openxmlformats.org/drawingml/2006/table">
            <a:tbl>
              <a:tblPr firstRow="1" bandRow="1">
                <a:tableStyleId>{5C22544A-7EE6-4342-B048-85BDC9FD1C3A}</a:tableStyleId>
              </a:tblPr>
              <a:tblGrid>
                <a:gridCol w="2194560"/>
                <a:gridCol w="8686800"/>
              </a:tblGrid>
              <a:tr h="716280">
                <a:tc>
                  <a:txBody>
                    <a:bodyPr/>
                    <a:lstStyle/>
                    <a:p>
                      <a:pPr>
                        <a:defRPr sz="1400" b="1">
                          <a:solidFill>
                            <a:srgbClr val="FFFFFF"/>
                          </a:solidFill>
                        </a:defRPr>
                      </a:pPr>
                      <a:r>
                        <a:t>Setting</a:t>
                      </a:r>
                    </a:p>
                  </a:txBody>
                  <a:tcPr marL="54864" marR="54864" marT="36576" marB="36576">
                    <a:solidFill>
                      <a:srgbClr val="183757"/>
                    </a:solidFill>
                  </a:tcPr>
                </a:tc>
                <a:tc>
                  <a:txBody>
                    <a:bodyPr/>
                    <a:lstStyle/>
                    <a:p>
                      <a:pPr>
                        <a:defRPr sz="1400" b="1">
                          <a:solidFill>
                            <a:srgbClr val="FFFFFF"/>
                          </a:solidFill>
                        </a:defRPr>
                      </a:pPr>
                      <a:r>
                        <a:t>Simple purpose</a:t>
                      </a:r>
                    </a:p>
                  </a:txBody>
                  <a:tcPr marL="54864" marR="54864" marT="36576" marB="36576">
                    <a:solidFill>
                      <a:srgbClr val="183757"/>
                    </a:solidFill>
                  </a:tcPr>
                </a:tc>
              </a:tr>
              <a:tr h="716280">
                <a:tc>
                  <a:txBody>
                    <a:bodyPr/>
                    <a:lstStyle/>
                    <a:p>
                      <a:pPr>
                        <a:defRPr sz="1400" b="0">
                          <a:solidFill>
                            <a:srgbClr val="23282D"/>
                          </a:solidFill>
                        </a:defRPr>
                      </a:pPr>
                      <a:r>
                        <a:t>Tab Visibility</a:t>
                      </a:r>
                    </a:p>
                  </a:txBody>
                  <a:tcPr marL="54864" marR="54864" marT="36576" marB="36576">
                    <a:solidFill>
                      <a:srgbClr val="FFFFFF"/>
                    </a:solidFill>
                  </a:tcPr>
                </a:tc>
                <a:tc>
                  <a:txBody>
                    <a:bodyPr/>
                    <a:lstStyle/>
                    <a:p>
                      <a:pPr>
                        <a:defRPr sz="1400" b="0">
                          <a:solidFill>
                            <a:srgbClr val="23282D"/>
                          </a:solidFill>
                        </a:defRPr>
                      </a:pPr>
                      <a:r>
                        <a:t>Whether the object tab is shown/available in the UI.</a:t>
                      </a:r>
                    </a:p>
                  </a:txBody>
                  <a:tcPr marL="54864" marR="54864" marT="36576" marB="36576">
                    <a:solidFill>
                      <a:srgbClr val="FFFFFF"/>
                    </a:solidFill>
                  </a:tcPr>
                </a:tc>
              </a:tr>
              <a:tr h="716280">
                <a:tc>
                  <a:txBody>
                    <a:bodyPr/>
                    <a:lstStyle/>
                    <a:p>
                      <a:pPr>
                        <a:defRPr sz="1400" b="0">
                          <a:solidFill>
                            <a:srgbClr val="23282D"/>
                          </a:solidFill>
                        </a:defRPr>
                      </a:pPr>
                      <a:r>
                        <a:t>App Access</a:t>
                      </a:r>
                    </a:p>
                  </a:txBody>
                  <a:tcPr marL="54864" marR="54864" marT="36576" marB="36576">
                    <a:solidFill>
                      <a:srgbClr val="FFFFFF"/>
                    </a:solidFill>
                  </a:tcPr>
                </a:tc>
                <a:tc>
                  <a:txBody>
                    <a:bodyPr/>
                    <a:lstStyle/>
                    <a:p>
                      <a:pPr>
                        <a:defRPr sz="1400" b="0">
                          <a:solidFill>
                            <a:srgbClr val="23282D"/>
                          </a:solidFill>
                        </a:defRPr>
                      </a:pPr>
                      <a:r>
                        <a:t>Which Salesforce apps the user can access.</a:t>
                      </a:r>
                    </a:p>
                  </a:txBody>
                  <a:tcPr marL="54864" marR="54864" marT="36576" marB="36576">
                    <a:solidFill>
                      <a:srgbClr val="FFFFFF"/>
                    </a:solidFill>
                  </a:tcPr>
                </a:tc>
              </a:tr>
              <a:tr h="716280">
                <a:tc>
                  <a:txBody>
                    <a:bodyPr/>
                    <a:lstStyle/>
                    <a:p>
                      <a:pPr>
                        <a:defRPr sz="1400" b="0">
                          <a:solidFill>
                            <a:srgbClr val="23282D"/>
                          </a:solidFill>
                        </a:defRPr>
                      </a:pPr>
                      <a:r>
                        <a:t>Record Types</a:t>
                      </a:r>
                    </a:p>
                  </a:txBody>
                  <a:tcPr marL="54864" marR="54864" marT="36576" marB="36576">
                    <a:solidFill>
                      <a:srgbClr val="FFFFFF"/>
                    </a:solidFill>
                  </a:tcPr>
                </a:tc>
                <a:tc>
                  <a:txBody>
                    <a:bodyPr/>
                    <a:lstStyle/>
                    <a:p>
                      <a:pPr>
                        <a:defRPr sz="1400" b="0">
                          <a:solidFill>
                            <a:srgbClr val="23282D"/>
                          </a:solidFill>
                        </a:defRPr>
                      </a:pPr>
                      <a:r>
                        <a:t>Which business processes / picklist values / page layouts are available.</a:t>
                      </a:r>
                    </a:p>
                  </a:txBody>
                  <a:tcPr marL="54864" marR="54864" marT="36576" marB="36576">
                    <a:solidFill>
                      <a:srgbClr val="FFFFFF"/>
                    </a:solidFill>
                  </a:tcPr>
                </a:tc>
              </a:tr>
              <a:tr h="716280">
                <a:tc>
                  <a:txBody>
                    <a:bodyPr/>
                    <a:lstStyle/>
                    <a:p>
                      <a:pPr>
                        <a:defRPr sz="1400" b="0">
                          <a:solidFill>
                            <a:srgbClr val="23282D"/>
                          </a:solidFill>
                        </a:defRPr>
                      </a:pPr>
                      <a:r>
                        <a:t>Page Layouts</a:t>
                      </a:r>
                    </a:p>
                  </a:txBody>
                  <a:tcPr marL="54864" marR="54864" marT="36576" marB="36576">
                    <a:solidFill>
                      <a:srgbClr val="FFFFFF"/>
                    </a:solidFill>
                  </a:tcPr>
                </a:tc>
                <a:tc>
                  <a:txBody>
                    <a:bodyPr/>
                    <a:lstStyle/>
                    <a:p>
                      <a:pPr>
                        <a:defRPr sz="1400" b="0">
                          <a:solidFill>
                            <a:srgbClr val="23282D"/>
                          </a:solidFill>
                        </a:defRPr>
                      </a:pPr>
                      <a:r>
                        <a:t>Which fields, sections, buttons and related lists appear on the page.</a:t>
                      </a:r>
                    </a:p>
                  </a:txBody>
                  <a:tcPr marL="54864" marR="54864" marT="36576" marB="36576">
                    <a:solidFill>
                      <a:srgbClr val="FFFFFF"/>
                    </a:solidFill>
                  </a:tcPr>
                </a:tc>
              </a:tr>
              <a:tr h="716280">
                <a:tc>
                  <a:txBody>
                    <a:bodyPr/>
                    <a:lstStyle/>
                    <a:p>
                      <a:pPr>
                        <a:defRPr sz="1400" b="0">
                          <a:solidFill>
                            <a:srgbClr val="23282D"/>
                          </a:solidFill>
                        </a:defRPr>
                      </a:pPr>
                      <a:r>
                        <a:t>Object Permissions</a:t>
                      </a:r>
                    </a:p>
                  </a:txBody>
                  <a:tcPr marL="54864" marR="54864" marT="36576" marB="36576">
                    <a:solidFill>
                      <a:srgbClr val="FFFFFF"/>
                    </a:solidFill>
                  </a:tcPr>
                </a:tc>
                <a:tc>
                  <a:txBody>
                    <a:bodyPr/>
                    <a:lstStyle/>
                    <a:p>
                      <a:pPr>
                        <a:defRPr sz="1400" b="0">
                          <a:solidFill>
                            <a:srgbClr val="23282D"/>
                          </a:solidFill>
                        </a:defRPr>
                      </a:pPr>
                      <a:r>
                        <a:t>Whether the user can Read/Create/Edit/Delete the object records.</a:t>
                      </a:r>
                    </a:p>
                  </a:txBody>
                  <a:tcPr marL="54864" marR="54864" marT="36576" marB="36576">
                    <a:solidFill>
                      <a:srgbClr val="FFFFFF"/>
                    </a:solidFill>
                  </a:tcPr>
                </a:tc>
              </a:tr>
            </a:tbl>
          </a:graphicData>
        </a:graphic>
      </p:graphicFrame>
      <p:sp>
        <p:nvSpPr>
          <p:cNvPr id="8" name="Rounded Rectangle 7"/>
          <p:cNvSpPr/>
          <p:nvPr/>
        </p:nvSpPr>
        <p:spPr>
          <a:xfrm>
            <a:off x="2103120" y="5650992"/>
            <a:ext cx="7955279" cy="64008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7712" y="5760720"/>
            <a:ext cx="7626096" cy="347472"/>
          </a:xfrm>
          <a:prstGeom prst="rect">
            <a:avLst/>
          </a:prstGeom>
          <a:noFill/>
        </p:spPr>
        <p:txBody>
          <a:bodyPr wrap="none">
            <a:spAutoFit/>
          </a:bodyPr>
          <a:lstStyle/>
          <a:p>
            <a:pPr>
              <a:defRPr sz="1600" b="1">
                <a:solidFill>
                  <a:srgbClr val="E17D23"/>
                </a:solidFill>
              </a:defRPr>
            </a:pPr>
            <a:r>
              <a:t>Security reminder</a:t>
            </a:r>
          </a:p>
        </p:txBody>
      </p:sp>
      <p:sp>
        <p:nvSpPr>
          <p:cNvPr id="10" name="TextBox 9"/>
          <p:cNvSpPr txBox="1"/>
          <p:nvPr/>
        </p:nvSpPr>
        <p:spPr>
          <a:xfrm>
            <a:off x="2267712" y="6153912"/>
            <a:ext cx="7626096" cy="18287"/>
          </a:xfrm>
          <a:prstGeom prst="rect">
            <a:avLst/>
          </a:prstGeom>
          <a:noFill/>
        </p:spPr>
        <p:txBody>
          <a:bodyPr wrap="square">
            <a:spAutoFit/>
          </a:bodyPr>
          <a:lstStyle/>
          <a:p>
            <a:pPr>
              <a:defRPr sz="1350">
                <a:solidFill>
                  <a:srgbClr val="23282D"/>
                </a:solidFill>
              </a:defRPr>
            </a:pPr>
            <a:r>
              <a:t>Hiding a tab or removing a field from a page is not a substitute for object permissions or FLS.</a:t>
            </a:r>
          </a:p>
        </p:txBody>
      </p:sp>
      <p:sp>
        <p:nvSpPr>
          <p:cNvPr id="11" name="Rectangle 10"/>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3" name="TextBox 12"/>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Field-Level Security (FLS)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FLS answers: “Can this user see or edit this particular field?”</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88720"/>
            <a:ext cx="6858000" cy="4663440"/>
          </a:xfrm>
          <a:prstGeom prst="rect">
            <a:avLst/>
          </a:prstGeom>
          <a:noFill/>
        </p:spPr>
        <p:txBody>
          <a:bodyPr wrap="square" lIns="45720" tIns="18288" rIns="45720">
            <a:spAutoFit/>
          </a:bodyPr>
          <a:lstStyle/>
          <a:p>
            <a:pPr>
              <a:spcAft>
                <a:spcPts val="800"/>
              </a:spcAft>
              <a:defRPr sz="1800">
                <a:solidFill>
                  <a:srgbClr val="23282D"/>
                </a:solidFill>
              </a:defRPr>
            </a:pPr>
            <a:r>
              <a:t>FLS controls field visibility and editability for a user.</a:t>
            </a:r>
          </a:p>
          <a:p>
            <a:pPr>
              <a:spcAft>
                <a:spcPts val="800"/>
              </a:spcAft>
              <a:defRPr sz="1800">
                <a:solidFill>
                  <a:srgbClr val="23282D"/>
                </a:solidFill>
              </a:defRPr>
            </a:pPr>
            <a:r>
              <a:t>It applies across the Salesforce UI and is an important security layer for API/report/search access as well.</a:t>
            </a:r>
          </a:p>
          <a:p>
            <a:pPr>
              <a:spcAft>
                <a:spcPts val="800"/>
              </a:spcAft>
              <a:defRPr sz="1800">
                <a:solidFill>
                  <a:srgbClr val="23282D"/>
                </a:solidFill>
              </a:defRPr>
            </a:pPr>
            <a:r>
              <a:t>FLS can be configured in Profiles and Permission Sets; Salesforce recommends Permission Sets / Permission Set Groups for scalable permission management.</a:t>
            </a:r>
          </a:p>
          <a:p>
            <a:pPr>
              <a:spcAft>
                <a:spcPts val="800"/>
              </a:spcAft>
              <a:defRPr sz="1800">
                <a:solidFill>
                  <a:srgbClr val="23282D"/>
                </a:solidFill>
              </a:defRPr>
            </a:pPr>
            <a:r>
              <a:t>If FLS says a field is hidden, putting the field on a page layout does not expose it.</a:t>
            </a:r>
          </a:p>
          <a:p>
            <a:pPr>
              <a:spcAft>
                <a:spcPts val="800"/>
              </a:spcAft>
              <a:defRPr sz="1800">
                <a:solidFill>
                  <a:srgbClr val="23282D"/>
                </a:solidFill>
              </a:defRPr>
            </a:pPr>
            <a:r>
              <a:t>FLS is different from record access: a user can have access to a record but still be unable to see a sensitive field.</a:t>
            </a:r>
          </a:p>
        </p:txBody>
      </p:sp>
      <p:sp>
        <p:nvSpPr>
          <p:cNvPr id="8" name="Rounded Rectangle 7"/>
          <p:cNvSpPr/>
          <p:nvPr/>
        </p:nvSpPr>
        <p:spPr>
          <a:xfrm>
            <a:off x="7909560" y="1417320"/>
            <a:ext cx="3337560" cy="2103120"/>
          </a:xfrm>
          <a:prstGeom prst="roundRect">
            <a:avLst/>
          </a:prstGeom>
          <a:solidFill>
            <a:srgbClr val="FCEBEB"/>
          </a:solidFill>
          <a:ln w="19050">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1527048"/>
            <a:ext cx="3008376" cy="347472"/>
          </a:xfrm>
          <a:prstGeom prst="rect">
            <a:avLst/>
          </a:prstGeom>
          <a:noFill/>
        </p:spPr>
        <p:txBody>
          <a:bodyPr wrap="none">
            <a:spAutoFit/>
          </a:bodyPr>
          <a:lstStyle/>
          <a:p>
            <a:pPr>
              <a:defRPr sz="1600" b="1">
                <a:solidFill>
                  <a:srgbClr val="BE3737"/>
                </a:solidFill>
              </a:defRPr>
            </a:pPr>
            <a:r>
              <a:t>Example</a:t>
            </a:r>
          </a:p>
        </p:txBody>
      </p:sp>
      <p:sp>
        <p:nvSpPr>
          <p:cNvPr id="10" name="TextBox 9"/>
          <p:cNvSpPr txBox="1"/>
          <p:nvPr/>
        </p:nvSpPr>
        <p:spPr>
          <a:xfrm>
            <a:off x="8074152" y="1920240"/>
            <a:ext cx="3008376" cy="1481327"/>
          </a:xfrm>
          <a:prstGeom prst="rect">
            <a:avLst/>
          </a:prstGeom>
          <a:noFill/>
        </p:spPr>
        <p:txBody>
          <a:bodyPr wrap="square">
            <a:spAutoFit/>
          </a:bodyPr>
          <a:lstStyle/>
          <a:p>
            <a:pPr>
              <a:defRPr sz="1350">
                <a:solidFill>
                  <a:srgbClr val="23282D"/>
                </a:solidFill>
              </a:defRPr>
            </a:pPr>
            <a:r>
              <a:t>Opportunity fields:</a:t>
            </a:r>
            <a:br/>
            <a:r>
              <a:t>Amount → Visible/Edit</a:t>
            </a:r>
            <a:br/>
            <a:r>
              <a:t>Stage → Visible/Edit</a:t>
            </a:r>
            <a:br/>
            <a:r>
              <a:t>Commission__c → Hidden</a:t>
            </a:r>
          </a:p>
        </p:txBody>
      </p:sp>
      <p:sp>
        <p:nvSpPr>
          <p:cNvPr id="11" name="Rectangle 10"/>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3" name="TextBox 12"/>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FLS vs Page Layout</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Use FLS for security; use Page Layouts primarily for page organization.</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325880"/>
          <a:ext cx="10789920" cy="3474720"/>
        </p:xfrm>
        <a:graphic>
          <a:graphicData uri="http://schemas.openxmlformats.org/drawingml/2006/table">
            <a:tbl>
              <a:tblPr firstRow="1" bandRow="1">
                <a:tableStyleId>{5C22544A-7EE6-4342-B048-85BDC9FD1C3A}</a:tableStyleId>
              </a:tblPr>
              <a:tblGrid>
                <a:gridCol w="4754880"/>
                <a:gridCol w="6035040"/>
              </a:tblGrid>
              <a:tr h="694944">
                <a:tc>
                  <a:txBody>
                    <a:bodyPr/>
                    <a:lstStyle/>
                    <a:p>
                      <a:pPr>
                        <a:defRPr sz="1500" b="1">
                          <a:solidFill>
                            <a:srgbClr val="FFFFFF"/>
                          </a:solidFill>
                        </a:defRPr>
                      </a:pPr>
                      <a:r>
                        <a:t>Scenario</a:t>
                      </a:r>
                    </a:p>
                  </a:txBody>
                  <a:tcPr marL="54864" marR="54864" marT="36576" marB="36576">
                    <a:solidFill>
                      <a:srgbClr val="183757"/>
                    </a:solidFill>
                  </a:tcPr>
                </a:tc>
                <a:tc>
                  <a:txBody>
                    <a:bodyPr/>
                    <a:lstStyle/>
                    <a:p>
                      <a:pPr>
                        <a:defRPr sz="1500" b="1">
                          <a:solidFill>
                            <a:srgbClr val="FFFFFF"/>
                          </a:solidFill>
                        </a:defRPr>
                      </a:pPr>
                      <a:r>
                        <a:t>Result</a:t>
                      </a:r>
                    </a:p>
                  </a:txBody>
                  <a:tcPr marL="54864" marR="54864" marT="36576" marB="36576">
                    <a:solidFill>
                      <a:srgbClr val="183757"/>
                    </a:solidFill>
                  </a:tcPr>
                </a:tc>
              </a:tr>
              <a:tr h="694944">
                <a:tc>
                  <a:txBody>
                    <a:bodyPr/>
                    <a:lstStyle/>
                    <a:p>
                      <a:pPr>
                        <a:defRPr sz="1500" b="0">
                          <a:solidFill>
                            <a:srgbClr val="23282D"/>
                          </a:solidFill>
                        </a:defRPr>
                      </a:pPr>
                      <a:r>
                        <a:t>Page Layout = Visible; FLS = Visible</a:t>
                      </a:r>
                    </a:p>
                  </a:txBody>
                  <a:tcPr marL="54864" marR="54864" marT="36576" marB="36576">
                    <a:solidFill>
                      <a:srgbClr val="FFFFFF"/>
                    </a:solidFill>
                  </a:tcPr>
                </a:tc>
                <a:tc>
                  <a:txBody>
                    <a:bodyPr/>
                    <a:lstStyle/>
                    <a:p>
                      <a:pPr>
                        <a:defRPr sz="1500" b="0">
                          <a:solidFill>
                            <a:srgbClr val="23282D"/>
                          </a:solidFill>
                        </a:defRPr>
                      </a:pPr>
                      <a:r>
                        <a:t>Field is visible.</a:t>
                      </a:r>
                    </a:p>
                  </a:txBody>
                  <a:tcPr marL="54864" marR="54864" marT="36576" marB="36576">
                    <a:solidFill>
                      <a:srgbClr val="FFFFFF"/>
                    </a:solidFill>
                  </a:tcPr>
                </a:tc>
              </a:tr>
              <a:tr h="694944">
                <a:tc>
                  <a:txBody>
                    <a:bodyPr/>
                    <a:lstStyle/>
                    <a:p>
                      <a:pPr>
                        <a:defRPr sz="1500" b="0">
                          <a:solidFill>
                            <a:srgbClr val="23282D"/>
                          </a:solidFill>
                        </a:defRPr>
                      </a:pPr>
                      <a:r>
                        <a:t>Page Layout = Hidden; FLS = Visible</a:t>
                      </a:r>
                    </a:p>
                  </a:txBody>
                  <a:tcPr marL="54864" marR="54864" marT="36576" marB="36576">
                    <a:solidFill>
                      <a:srgbClr val="FFFFFF"/>
                    </a:solidFill>
                  </a:tcPr>
                </a:tc>
                <a:tc>
                  <a:txBody>
                    <a:bodyPr/>
                    <a:lstStyle/>
                    <a:p>
                      <a:pPr>
                        <a:defRPr sz="1500" b="0">
                          <a:solidFill>
                            <a:srgbClr val="23282D"/>
                          </a:solidFill>
                        </a:defRPr>
                      </a:pPr>
                      <a:r>
                        <a:t>Field is not shown on that layout.</a:t>
                      </a:r>
                    </a:p>
                  </a:txBody>
                  <a:tcPr marL="54864" marR="54864" marT="36576" marB="36576">
                    <a:solidFill>
                      <a:srgbClr val="FFFFFF"/>
                    </a:solidFill>
                  </a:tcPr>
                </a:tc>
              </a:tr>
              <a:tr h="694944">
                <a:tc>
                  <a:txBody>
                    <a:bodyPr/>
                    <a:lstStyle/>
                    <a:p>
                      <a:pPr>
                        <a:defRPr sz="1500" b="0">
                          <a:solidFill>
                            <a:srgbClr val="23282D"/>
                          </a:solidFill>
                        </a:defRPr>
                      </a:pPr>
                      <a:r>
                        <a:t>Page Layout = Visible; FLS = Hidden</a:t>
                      </a:r>
                    </a:p>
                  </a:txBody>
                  <a:tcPr marL="54864" marR="54864" marT="36576" marB="36576">
                    <a:solidFill>
                      <a:srgbClr val="FFFFFF"/>
                    </a:solidFill>
                  </a:tcPr>
                </a:tc>
                <a:tc>
                  <a:txBody>
                    <a:bodyPr/>
                    <a:lstStyle/>
                    <a:p>
                      <a:pPr>
                        <a:defRPr sz="1500" b="0">
                          <a:solidFill>
                            <a:srgbClr val="23282D"/>
                          </a:solidFill>
                        </a:defRPr>
                      </a:pPr>
                      <a:r>
                        <a:t>Field remains hidden.</a:t>
                      </a:r>
                    </a:p>
                  </a:txBody>
                  <a:tcPr marL="54864" marR="54864" marT="36576" marB="36576">
                    <a:solidFill>
                      <a:srgbClr val="FFFFFF"/>
                    </a:solidFill>
                  </a:tcPr>
                </a:tc>
              </a:tr>
              <a:tr h="694944">
                <a:tc>
                  <a:txBody>
                    <a:bodyPr/>
                    <a:lstStyle/>
                    <a:p>
                      <a:pPr>
                        <a:defRPr sz="1500" b="0">
                          <a:solidFill>
                            <a:srgbClr val="23282D"/>
                          </a:solidFill>
                        </a:defRPr>
                      </a:pPr>
                      <a:r>
                        <a:t>Page Layout = Required; FLS = Read Only</a:t>
                      </a:r>
                    </a:p>
                  </a:txBody>
                  <a:tcPr marL="54864" marR="54864" marT="36576" marB="36576">
                    <a:solidFill>
                      <a:srgbClr val="FFFFFF"/>
                    </a:solidFill>
                  </a:tcPr>
                </a:tc>
                <a:tc>
                  <a:txBody>
                    <a:bodyPr/>
                    <a:lstStyle/>
                    <a:p>
                      <a:pPr>
                        <a:defRPr sz="1500" b="0">
                          <a:solidFill>
                            <a:srgbClr val="23282D"/>
                          </a:solidFill>
                        </a:defRPr>
                      </a:pPr>
                      <a:r>
                        <a:t>FLS wins; field remains read-only.</a:t>
                      </a:r>
                    </a:p>
                  </a:txBody>
                  <a:tcPr marL="54864" marR="54864" marT="36576" marB="36576">
                    <a:solidFill>
                      <a:srgbClr val="FFFFFF"/>
                    </a:solidFill>
                  </a:tcPr>
                </a:tc>
              </a:tr>
            </a:tbl>
          </a:graphicData>
        </a:graphic>
      </p:graphicFrame>
      <p:sp>
        <p:nvSpPr>
          <p:cNvPr id="8" name="Rounded Rectangle 7"/>
          <p:cNvSpPr/>
          <p:nvPr/>
        </p:nvSpPr>
        <p:spPr>
          <a:xfrm>
            <a:off x="2194560" y="5074920"/>
            <a:ext cx="7772400" cy="86868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9152" y="5184648"/>
            <a:ext cx="7443216" cy="347472"/>
          </a:xfrm>
          <a:prstGeom prst="rect">
            <a:avLst/>
          </a:prstGeom>
          <a:noFill/>
        </p:spPr>
        <p:txBody>
          <a:bodyPr wrap="none">
            <a:spAutoFit/>
          </a:bodyPr>
          <a:lstStyle/>
          <a:p>
            <a:pPr>
              <a:defRPr sz="1600" b="1">
                <a:solidFill>
                  <a:srgbClr val="2079BE"/>
                </a:solidFill>
              </a:defRPr>
            </a:pPr>
            <a:r>
              <a:t>Rule to remember</a:t>
            </a:r>
          </a:p>
        </p:txBody>
      </p:sp>
      <p:sp>
        <p:nvSpPr>
          <p:cNvPr id="10" name="TextBox 9"/>
          <p:cNvSpPr txBox="1"/>
          <p:nvPr/>
        </p:nvSpPr>
        <p:spPr>
          <a:xfrm>
            <a:off x="2359152" y="5577840"/>
            <a:ext cx="7443216" cy="246887"/>
          </a:xfrm>
          <a:prstGeom prst="rect">
            <a:avLst/>
          </a:prstGeom>
          <a:noFill/>
        </p:spPr>
        <p:txBody>
          <a:bodyPr wrap="square">
            <a:spAutoFit/>
          </a:bodyPr>
          <a:lstStyle/>
          <a:p>
            <a:pPr>
              <a:defRPr sz="1350">
                <a:solidFill>
                  <a:srgbClr val="23282D"/>
                </a:solidFill>
              </a:defRPr>
            </a:pPr>
            <a:r>
              <a:t>The more restrictive field access wins between FLS and Page Layout.</a:t>
            </a:r>
          </a:p>
        </p:txBody>
      </p:sp>
      <p:sp>
        <p:nvSpPr>
          <p:cNvPr id="11" name="Rectangle 10"/>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3" name="TextBox 12"/>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Object + Field + Record Access Together</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A user needs the right permission at each relevant layer.</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645920"/>
            <a:ext cx="256032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847088"/>
            <a:ext cx="2340863" cy="685800"/>
          </a:xfrm>
          <a:prstGeom prst="rect">
            <a:avLst/>
          </a:prstGeom>
          <a:noFill/>
        </p:spPr>
        <p:txBody>
          <a:bodyPr wrap="none">
            <a:spAutoFit/>
          </a:bodyPr>
          <a:lstStyle/>
          <a:p>
            <a:pPr algn="ctr">
              <a:defRPr sz="1600" b="1">
                <a:solidFill>
                  <a:srgbClr val="23282D"/>
                </a:solidFill>
              </a:defRPr>
            </a:pPr>
            <a:r>
              <a:t>Object</a:t>
            </a:r>
            <a:br/>
            <a:r>
              <a:t>Permission</a:t>
            </a:r>
          </a:p>
        </p:txBody>
      </p:sp>
      <p:sp>
        <p:nvSpPr>
          <p:cNvPr id="9" name="Right Arrow 8"/>
          <p:cNvSpPr/>
          <p:nvPr/>
        </p:nvSpPr>
        <p:spPr>
          <a:xfrm>
            <a:off x="3099815" y="197510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0711" y="1645920"/>
            <a:ext cx="2560320" cy="1051560"/>
          </a:xfrm>
          <a:prstGeom prst="roundRect">
            <a:avLst/>
          </a:prstGeom>
          <a:solidFill>
            <a:srgbClr val="FFFFFF"/>
          </a:solidFill>
          <a:ln>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39" y="1847088"/>
            <a:ext cx="2340863" cy="685800"/>
          </a:xfrm>
          <a:prstGeom prst="rect">
            <a:avLst/>
          </a:prstGeom>
          <a:noFill/>
        </p:spPr>
        <p:txBody>
          <a:bodyPr wrap="none">
            <a:spAutoFit/>
          </a:bodyPr>
          <a:lstStyle/>
          <a:p>
            <a:pPr algn="ctr">
              <a:defRPr sz="1600" b="1">
                <a:solidFill>
                  <a:srgbClr val="23282D"/>
                </a:solidFill>
              </a:defRPr>
            </a:pPr>
            <a:r>
              <a:t>Field</a:t>
            </a:r>
            <a:br/>
            <a:r>
              <a:t>Permission</a:t>
            </a:r>
          </a:p>
        </p:txBody>
      </p:sp>
      <p:sp>
        <p:nvSpPr>
          <p:cNvPr id="12" name="Right Arrow 11"/>
          <p:cNvSpPr/>
          <p:nvPr/>
        </p:nvSpPr>
        <p:spPr>
          <a:xfrm>
            <a:off x="6007607" y="197510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18503" y="1645920"/>
            <a:ext cx="256032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847088"/>
            <a:ext cx="2340863" cy="685800"/>
          </a:xfrm>
          <a:prstGeom prst="rect">
            <a:avLst/>
          </a:prstGeom>
          <a:noFill/>
        </p:spPr>
        <p:txBody>
          <a:bodyPr wrap="none">
            <a:spAutoFit/>
          </a:bodyPr>
          <a:lstStyle/>
          <a:p>
            <a:pPr algn="ctr">
              <a:defRPr sz="1600" b="1">
                <a:solidFill>
                  <a:srgbClr val="23282D"/>
                </a:solidFill>
              </a:defRPr>
            </a:pPr>
            <a:r>
              <a:t>Record</a:t>
            </a:r>
            <a:br/>
            <a:r>
              <a:t>Access</a:t>
            </a:r>
          </a:p>
        </p:txBody>
      </p:sp>
      <p:sp>
        <p:nvSpPr>
          <p:cNvPr id="15" name="Right Arrow 14"/>
          <p:cNvSpPr/>
          <p:nvPr/>
        </p:nvSpPr>
        <p:spPr>
          <a:xfrm>
            <a:off x="8915399" y="197510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26296" y="1645920"/>
            <a:ext cx="256032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36024" y="1847088"/>
            <a:ext cx="2340863" cy="685800"/>
          </a:xfrm>
          <a:prstGeom prst="rect">
            <a:avLst/>
          </a:prstGeom>
          <a:noFill/>
        </p:spPr>
        <p:txBody>
          <a:bodyPr wrap="none">
            <a:spAutoFit/>
          </a:bodyPr>
          <a:lstStyle/>
          <a:p>
            <a:pPr algn="ctr">
              <a:defRPr sz="1600" b="1">
                <a:solidFill>
                  <a:srgbClr val="23282D"/>
                </a:solidFill>
              </a:defRPr>
            </a:pPr>
            <a:r>
              <a:t>Effective</a:t>
            </a:r>
            <a:br/>
            <a:r>
              <a:t>Access</a:t>
            </a:r>
          </a:p>
        </p:txBody>
      </p:sp>
      <p:sp>
        <p:nvSpPr>
          <p:cNvPr id="18" name="Rounded Rectangle 17"/>
          <p:cNvSpPr/>
          <p:nvPr/>
        </p:nvSpPr>
        <p:spPr>
          <a:xfrm>
            <a:off x="1005840" y="3246120"/>
            <a:ext cx="4937760" cy="182880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3355848"/>
            <a:ext cx="4608576" cy="347472"/>
          </a:xfrm>
          <a:prstGeom prst="rect">
            <a:avLst/>
          </a:prstGeom>
          <a:noFill/>
        </p:spPr>
        <p:txBody>
          <a:bodyPr wrap="none">
            <a:spAutoFit/>
          </a:bodyPr>
          <a:lstStyle/>
          <a:p>
            <a:pPr>
              <a:defRPr sz="1600" b="1">
                <a:solidFill>
                  <a:srgbClr val="2079BE"/>
                </a:solidFill>
              </a:defRPr>
            </a:pPr>
            <a:r>
              <a:t>Example</a:t>
            </a:r>
          </a:p>
        </p:txBody>
      </p:sp>
      <p:sp>
        <p:nvSpPr>
          <p:cNvPr id="20" name="TextBox 19"/>
          <p:cNvSpPr txBox="1"/>
          <p:nvPr/>
        </p:nvSpPr>
        <p:spPr>
          <a:xfrm>
            <a:off x="1170432" y="3749039"/>
            <a:ext cx="4608576" cy="1207007"/>
          </a:xfrm>
          <a:prstGeom prst="rect">
            <a:avLst/>
          </a:prstGeom>
          <a:noFill/>
        </p:spPr>
        <p:txBody>
          <a:bodyPr wrap="square">
            <a:spAutoFit/>
          </a:bodyPr>
          <a:lstStyle/>
          <a:p>
            <a:pPr>
              <a:defRPr sz="1350">
                <a:solidFill>
                  <a:srgbClr val="23282D"/>
                </a:solidFill>
              </a:defRPr>
            </a:pPr>
            <a:r>
              <a:t>John has Opportunity Read = Yes.</a:t>
            </a:r>
            <a:br/>
            <a:r>
              <a:t>OWD = Private.</a:t>
            </a:r>
            <a:br/>
            <a:r>
              <a:t>John does not own Sarah's Opportunity.</a:t>
            </a:r>
            <a:br/>
            <a:r>
              <a:t>→ John can access the object, but not Sarah's record unless another sharing mechanism grants access.</a:t>
            </a:r>
          </a:p>
        </p:txBody>
      </p:sp>
      <p:sp>
        <p:nvSpPr>
          <p:cNvPr id="21" name="Rounded Rectangle 20"/>
          <p:cNvSpPr/>
          <p:nvPr/>
        </p:nvSpPr>
        <p:spPr>
          <a:xfrm>
            <a:off x="6217920" y="3246120"/>
            <a:ext cx="4937760" cy="182880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3355848"/>
            <a:ext cx="4608576" cy="347472"/>
          </a:xfrm>
          <a:prstGeom prst="rect">
            <a:avLst/>
          </a:prstGeom>
          <a:noFill/>
        </p:spPr>
        <p:txBody>
          <a:bodyPr wrap="none">
            <a:spAutoFit/>
          </a:bodyPr>
          <a:lstStyle/>
          <a:p>
            <a:pPr>
              <a:defRPr sz="1600" b="1">
                <a:solidFill>
                  <a:srgbClr val="26915F"/>
                </a:solidFill>
              </a:defRPr>
            </a:pPr>
            <a:r>
              <a:t>Second example</a:t>
            </a:r>
          </a:p>
        </p:txBody>
      </p:sp>
      <p:sp>
        <p:nvSpPr>
          <p:cNvPr id="23" name="TextBox 22"/>
          <p:cNvSpPr txBox="1"/>
          <p:nvPr/>
        </p:nvSpPr>
        <p:spPr>
          <a:xfrm>
            <a:off x="6382512" y="3749039"/>
            <a:ext cx="4608576" cy="1207007"/>
          </a:xfrm>
          <a:prstGeom prst="rect">
            <a:avLst/>
          </a:prstGeom>
          <a:noFill/>
        </p:spPr>
        <p:txBody>
          <a:bodyPr wrap="square">
            <a:spAutoFit/>
          </a:bodyPr>
          <a:lstStyle/>
          <a:p>
            <a:pPr>
              <a:defRPr sz="1350">
                <a:solidFill>
                  <a:srgbClr val="23282D"/>
                </a:solidFill>
              </a:defRPr>
            </a:pPr>
            <a:r>
              <a:t>John has record access to the Opportunity, but Commission__c is hidden by FLS.</a:t>
            </a:r>
            <a:br/>
            <a:r>
              <a:t>→ John sees the record but not that field.</a:t>
            </a:r>
          </a:p>
        </p:txBody>
      </p:sp>
      <p:sp>
        <p:nvSpPr>
          <p:cNvPr id="24" name="Rectangle 2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6" name="TextBox 2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25880"/>
            <a:ext cx="164592" cy="3931920"/>
          </a:xfrm>
          <a:prstGeom prst="rect">
            <a:avLst/>
          </a:prstGeom>
          <a:solidFill>
            <a:srgbClr val="E17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508760"/>
            <a:ext cx="9875520" cy="1280160"/>
          </a:xfrm>
          <a:prstGeom prst="rect">
            <a:avLst/>
          </a:prstGeom>
          <a:noFill/>
        </p:spPr>
        <p:txBody>
          <a:bodyPr wrap="none">
            <a:spAutoFit/>
          </a:bodyPr>
          <a:lstStyle/>
          <a:p>
            <a:pPr>
              <a:defRPr sz="4000" b="1">
                <a:solidFill>
                  <a:srgbClr val="FFFFFF"/>
                </a:solidFill>
              </a:defRPr>
            </a:pPr>
            <a:r>
              <a:t>Record-Level Security</a:t>
            </a:r>
          </a:p>
        </p:txBody>
      </p:sp>
      <p:sp>
        <p:nvSpPr>
          <p:cNvPr id="5" name="TextBox 4"/>
          <p:cNvSpPr txBox="1"/>
          <p:nvPr/>
        </p:nvSpPr>
        <p:spPr>
          <a:xfrm>
            <a:off x="1170432" y="2880360"/>
            <a:ext cx="9509760" cy="1280160"/>
          </a:xfrm>
          <a:prstGeom prst="rect">
            <a:avLst/>
          </a:prstGeom>
          <a:noFill/>
        </p:spPr>
        <p:txBody>
          <a:bodyPr wrap="none">
            <a:spAutoFit/>
          </a:bodyPr>
          <a:lstStyle/>
          <a:p>
            <a:pPr>
              <a:defRPr sz="2200">
                <a:solidFill>
                  <a:srgbClr val="DCEBF5"/>
                </a:solidFill>
              </a:defRPr>
            </a:pPr>
            <a:r>
              <a:t>Now we move from “what can the user do?” to “which records can the user access?”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0373" y="159068"/>
            <a:ext cx="5080000" cy="6254750"/>
          </a:xfrm>
          <a:prstGeom prst="rect">
            <a:avLst/>
          </a:prstGeom>
        </p:spPr>
        <p:txBody>
          <a:bodyPr>
            <a:spAutoFit/>
          </a:bodyPr>
          <a:p>
            <a:pPr marL="0" algn="l" defTabSz="266700">
              <a:spcBef>
                <a:spcPts val="500"/>
              </a:spcBef>
              <a:spcAft>
                <a:spcPts val="500"/>
              </a:spcAft>
              <a:buClrTx/>
              <a:buSzTx/>
              <a:buFontTx/>
            </a:pPr>
            <a:r>
              <a:rPr sz="2000" b="1">
                <a:latin typeface="SimSun" panose="02010600030101010101" pitchFamily="2" charset="-122"/>
                <a:ea typeface="SimSun" panose="02010600030101010101" pitchFamily="2" charset="-122"/>
              </a:rPr>
              <a:t>Organization Wide Default- </a:t>
            </a:r>
            <a:endParaRPr sz="2000" b="1">
              <a:latin typeface="SimSun" panose="02010600030101010101" pitchFamily="2" charset="-122"/>
              <a:ea typeface="SimSun" panose="02010600030101010101" pitchFamily="2" charset="-122"/>
            </a:endParaRPr>
          </a:p>
          <a:p>
            <a:pPr marL="0" indent="0" algn="l" defTabSz="266700">
              <a:spcBef>
                <a:spcPts val="500"/>
              </a:spcBef>
              <a:spcAft>
                <a:spcPts val="500"/>
              </a:spcAft>
            </a:pPr>
            <a:r>
              <a:rPr sz="1700">
                <a:latin typeface="Times New Roman" panose="02020603050405020304"/>
                <a:ea typeface="SimSun" panose="02010600030101010101" pitchFamily="2" charset="-122"/>
              </a:rPr>
              <a:t>OWD establishes the </a:t>
            </a:r>
            <a:r>
              <a:rPr sz="1600" b="1">
                <a:latin typeface="Times New Roman" panose="02020603050405020304"/>
                <a:ea typeface="SimSun" panose="02010600030101010101" pitchFamily="2" charset="-122"/>
              </a:rPr>
              <a:t>baseline</a:t>
            </a:r>
            <a:r>
              <a:rPr sz="1700">
                <a:latin typeface="Times New Roman" panose="02020603050405020304"/>
                <a:ea typeface="SimSun" panose="02010600030101010101" pitchFamily="2" charset="-122"/>
              </a:rPr>
              <a:t>.</a:t>
            </a:r>
            <a:endParaRPr sz="1700">
              <a:latin typeface="Times New Roman" panose="02020603050405020304"/>
              <a:ea typeface="SimSun" panose="02010600030101010101" pitchFamily="2" charset="-122"/>
            </a:endParaRPr>
          </a:p>
          <a:p>
            <a:pPr algn="l" defTabSz="266700">
              <a:spcBef>
                <a:spcPts val="500"/>
              </a:spcBef>
              <a:spcAft>
                <a:spcPts val="500"/>
              </a:spcAft>
            </a:pPr>
            <a:r>
              <a:rPr sz="2000" b="1">
                <a:latin typeface="SimSun" panose="02010600030101010101" pitchFamily="2" charset="-122"/>
                <a:ea typeface="SimSun" panose="02010600030101010101" pitchFamily="2" charset="-122"/>
              </a:rPr>
              <a:t>Role Hierarchy</a:t>
            </a:r>
            <a:endParaRPr sz="2000" b="1">
              <a:latin typeface="SimSun" panose="02010600030101010101" pitchFamily="2" charset="-122"/>
              <a:ea typeface="SimSun" panose="02010600030101010101" pitchFamily="2" charset="-122"/>
            </a:endParaRPr>
          </a:p>
          <a:p>
            <a:pPr marL="0" indent="0" algn="l" defTabSz="266700">
              <a:spcBef>
                <a:spcPts val="500"/>
              </a:spcBef>
              <a:spcAft>
                <a:spcPts val="500"/>
              </a:spcAft>
            </a:pPr>
            <a:r>
              <a:rPr sz="1700">
                <a:latin typeface="Times New Roman" panose="02020603050405020304"/>
                <a:ea typeface="SimSun" panose="02010600030101010101" pitchFamily="2" charset="-122"/>
              </a:rPr>
              <a:t>Usually </a:t>
            </a:r>
            <a:r>
              <a:rPr sz="1600" b="1">
                <a:latin typeface="Times New Roman" panose="02020603050405020304"/>
                <a:ea typeface="SimSun" panose="02010600030101010101" pitchFamily="2" charset="-122"/>
              </a:rPr>
              <a:t>opens up access</a:t>
            </a:r>
            <a:r>
              <a:rPr sz="1700">
                <a:latin typeface="Times New Roman" panose="02020603050405020304"/>
                <a:ea typeface="SimSun" panose="02010600030101010101" pitchFamily="2" charset="-122"/>
              </a:rPr>
              <a:t> to people higher in the hierarchy.</a:t>
            </a:r>
            <a:endParaRPr sz="1700">
              <a:latin typeface="Times New Roman" panose="02020603050405020304"/>
              <a:ea typeface="SimSun" panose="02010600030101010101" pitchFamily="2" charset="-122"/>
            </a:endParaRPr>
          </a:p>
          <a:p>
            <a:pPr algn="l" defTabSz="266700">
              <a:spcBef>
                <a:spcPts val="500"/>
              </a:spcBef>
              <a:spcAft>
                <a:spcPts val="500"/>
              </a:spcAft>
            </a:pPr>
            <a:r>
              <a:rPr sz="2000" b="1">
                <a:latin typeface="SimSun" panose="02010600030101010101" pitchFamily="2" charset="-122"/>
                <a:ea typeface="SimSun" panose="02010600030101010101" pitchFamily="2" charset="-122"/>
              </a:rPr>
              <a:t>Sharing Rule</a:t>
            </a:r>
            <a:endParaRPr sz="2000" b="1">
              <a:latin typeface="SimSun" panose="02010600030101010101" pitchFamily="2" charset="-122"/>
              <a:ea typeface="SimSun" panose="02010600030101010101" pitchFamily="2" charset="-122"/>
            </a:endParaRPr>
          </a:p>
          <a:p>
            <a:pPr defTabSz="266700"/>
            <a:r>
              <a:rPr sz="1600" b="1">
                <a:latin typeface="Times New Roman" panose="02020603050405020304"/>
                <a:ea typeface="SimSun" panose="02010600030101010101" pitchFamily="2" charset="-122"/>
              </a:rPr>
              <a:t>Opens up access</a:t>
            </a:r>
            <a:r>
              <a:rPr sz="1700">
                <a:latin typeface="Times New Roman" panose="02020603050405020304"/>
                <a:ea typeface="SimSun" panose="02010600030101010101" pitchFamily="2" charset="-122"/>
              </a:rPr>
              <a:t> to additional users/groups.</a:t>
            </a:r>
            <a:endParaRPr sz="1700">
              <a:latin typeface="Times New Roman" panose="02020603050405020304"/>
              <a:ea typeface="SimSun" panose="02010600030101010101" pitchFamily="2" charset="-122"/>
            </a:endParaRPr>
          </a:p>
          <a:p>
            <a:pPr algn="l" defTabSz="266700">
              <a:spcBef>
                <a:spcPts val="500"/>
              </a:spcBef>
              <a:spcAft>
                <a:spcPts val="500"/>
              </a:spcAft>
            </a:pPr>
            <a:r>
              <a:rPr sz="2000" b="1">
                <a:latin typeface="SimSun" panose="02010600030101010101" pitchFamily="2" charset="-122"/>
                <a:ea typeface="SimSun" panose="02010600030101010101" pitchFamily="2" charset="-122"/>
              </a:rPr>
              <a:t>Manual Sharing</a:t>
            </a:r>
            <a:endParaRPr sz="2000" b="1">
              <a:latin typeface="SimSun" panose="02010600030101010101" pitchFamily="2" charset="-122"/>
              <a:ea typeface="SimSun" panose="02010600030101010101" pitchFamily="2" charset="-122"/>
            </a:endParaRPr>
          </a:p>
          <a:p>
            <a:pPr defTabSz="266700"/>
            <a:r>
              <a:rPr sz="1600" b="1">
                <a:latin typeface="Times New Roman" panose="02020603050405020304"/>
                <a:ea typeface="SimSun" panose="02010600030101010101" pitchFamily="2" charset="-122"/>
              </a:rPr>
              <a:t>Opens up access</a:t>
            </a:r>
            <a:r>
              <a:rPr sz="1700">
                <a:latin typeface="Times New Roman" panose="02020603050405020304"/>
                <a:ea typeface="SimSun" panose="02010600030101010101" pitchFamily="2" charset="-122"/>
              </a:rPr>
              <a:t> to a particular user/group for a particular record.</a:t>
            </a:r>
            <a:endParaRPr sz="1700">
              <a:latin typeface="Times New Roman" panose="02020603050405020304"/>
              <a:ea typeface="SimSun" panose="02010600030101010101" pitchFamily="2" charset="-122"/>
            </a:endParaRPr>
          </a:p>
          <a:p>
            <a:pPr algn="l" defTabSz="266700">
              <a:spcBef>
                <a:spcPts val="500"/>
              </a:spcBef>
              <a:spcAft>
                <a:spcPts val="500"/>
              </a:spcAft>
            </a:pPr>
            <a:r>
              <a:rPr sz="2000" b="1">
                <a:latin typeface="SimSun" panose="02010600030101010101" pitchFamily="2" charset="-122"/>
                <a:ea typeface="SimSun" panose="02010600030101010101" pitchFamily="2" charset="-122"/>
              </a:rPr>
              <a:t>Restriction Rule</a:t>
            </a:r>
            <a:endParaRPr sz="2000" b="1">
              <a:latin typeface="SimSun" panose="02010600030101010101" pitchFamily="2" charset="-122"/>
              <a:ea typeface="SimSun" panose="02010600030101010101" pitchFamily="2" charset="-122"/>
            </a:endParaRPr>
          </a:p>
          <a:p>
            <a:pPr defTabSz="266700"/>
            <a:r>
              <a:rPr sz="1600" b="1">
                <a:latin typeface="Times New Roman" panose="02020603050405020304"/>
                <a:ea typeface="SimSun" panose="02010600030101010101" pitchFamily="2" charset="-122"/>
              </a:rPr>
              <a:t>Filters/restricts</a:t>
            </a:r>
            <a:r>
              <a:rPr sz="1700">
                <a:latin typeface="Times New Roman" panose="02020603050405020304"/>
                <a:ea typeface="SimSun" panose="02010600030101010101" pitchFamily="2" charset="-122"/>
              </a:rPr>
              <a:t> records that a user would otherwise have access to.</a:t>
            </a:r>
            <a:endParaRPr sz="1700">
              <a:latin typeface="Times New Roman" panose="02020603050405020304"/>
              <a:ea typeface="SimSun" panose="02010600030101010101" pitchFamily="2" charset="-122"/>
            </a:endParaRPr>
          </a:p>
          <a:p>
            <a:pPr marL="0" indent="0" algn="l" defTabSz="266700">
              <a:spcBef>
                <a:spcPts val="500"/>
              </a:spcBef>
              <a:spcAft>
                <a:spcPts val="500"/>
              </a:spcAft>
            </a:pPr>
            <a:r>
              <a:rPr sz="1700">
                <a:latin typeface="Times New Roman" panose="02020603050405020304"/>
                <a:ea typeface="SimSun" panose="02010600030101010101" pitchFamily="2" charset="-122"/>
              </a:rPr>
              <a:t>So remember:</a:t>
            </a:r>
            <a:endParaRPr sz="1700">
              <a:latin typeface="Times New Roman" panose="02020603050405020304"/>
              <a:ea typeface="SimSun" panose="02010600030101010101" pitchFamily="2" charset="-122"/>
            </a:endParaRPr>
          </a:p>
          <a:p>
            <a:pPr marL="457200" indent="0" defTabSz="266700"/>
            <a:r>
              <a:rPr sz="1700" b="1">
                <a:latin typeface="Times New Roman" panose="02020603050405020304"/>
                <a:ea typeface="Times New Roman" panose="02020603050405020304"/>
              </a:rPr>
              <a:t>OWD = Start here</a:t>
            </a:r>
            <a:endParaRPr sz="1700" b="1">
              <a:latin typeface="Times New Roman" panose="02020603050405020304"/>
              <a:ea typeface="Times New Roman" panose="02020603050405020304"/>
            </a:endParaRPr>
          </a:p>
          <a:p>
            <a:pPr marL="457200" indent="0" defTabSz="266700"/>
            <a:r>
              <a:rPr sz="1700" b="1">
                <a:latin typeface="Times New Roman" panose="02020603050405020304"/>
                <a:ea typeface="Times New Roman" panose="02020603050405020304"/>
              </a:rPr>
              <a:t>Role Hierarchy = Open upward</a:t>
            </a:r>
            <a:endParaRPr sz="1700" b="1">
              <a:latin typeface="Times New Roman" panose="02020603050405020304"/>
              <a:ea typeface="Times New Roman" panose="02020603050405020304"/>
            </a:endParaRPr>
          </a:p>
          <a:p>
            <a:pPr marL="457200" indent="0" defTabSz="266700"/>
            <a:r>
              <a:rPr sz="1700" b="1">
                <a:latin typeface="Times New Roman" panose="02020603050405020304"/>
                <a:ea typeface="Times New Roman" panose="02020603050405020304"/>
              </a:rPr>
              <a:t>Sharing Rule = Open automatically</a:t>
            </a:r>
            <a:endParaRPr sz="1700" b="1">
              <a:latin typeface="Times New Roman" panose="02020603050405020304"/>
              <a:ea typeface="Times New Roman" panose="02020603050405020304"/>
            </a:endParaRPr>
          </a:p>
          <a:p>
            <a:pPr marL="457200" indent="0" defTabSz="266700"/>
            <a:r>
              <a:rPr sz="1700" b="1">
                <a:latin typeface="Times New Roman" panose="02020603050405020304"/>
                <a:ea typeface="Times New Roman" panose="02020603050405020304"/>
              </a:rPr>
              <a:t>Manual Sharing = Open one specific record</a:t>
            </a:r>
            <a:endParaRPr sz="1700" b="1">
              <a:latin typeface="Times New Roman" panose="02020603050405020304"/>
              <a:ea typeface="Times New Roman" panose="02020603050405020304"/>
            </a:endParaRPr>
          </a:p>
          <a:p>
            <a:pPr marL="457200" indent="0" defTabSz="266700"/>
            <a:r>
              <a:rPr sz="1700" b="1">
                <a:latin typeface="Times New Roman" panose="02020603050405020304"/>
                <a:ea typeface="Times New Roman" panose="02020603050405020304"/>
              </a:rPr>
              <a:t>Restriction Rule = Filter back down</a:t>
            </a:r>
            <a:endParaRPr sz="1700" b="1">
              <a:latin typeface="Times New Roman" panose="02020603050405020304"/>
              <a:ea typeface="Times New Roman" panose="02020603050405020304"/>
            </a:endParaRPr>
          </a:p>
        </p:txBody>
      </p:sp>
      <p:pic>
        <p:nvPicPr>
          <p:cNvPr id="3" name="Picture 2"/>
          <p:cNvPicPr>
            <a:picLocks noChangeAspect="1"/>
          </p:cNvPicPr>
          <p:nvPr/>
        </p:nvPicPr>
        <p:blipFill>
          <a:blip r:embed="rId1"/>
          <a:stretch>
            <a:fillRect/>
          </a:stretch>
        </p:blipFill>
        <p:spPr>
          <a:xfrm>
            <a:off x="5519420" y="612140"/>
            <a:ext cx="6097905" cy="53486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Organization-Wide Defaults (OWD)</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OWD sets the baseline/default record access for users who do not own the record.</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766560" cy="4480560"/>
          </a:xfrm>
          <a:prstGeom prst="rect">
            <a:avLst/>
          </a:prstGeom>
          <a:noFill/>
        </p:spPr>
        <p:txBody>
          <a:bodyPr wrap="square" lIns="45720" tIns="18288" rIns="45720">
            <a:spAutoFit/>
          </a:bodyPr>
          <a:lstStyle/>
          <a:p>
            <a:pPr>
              <a:spcAft>
                <a:spcPts val="800"/>
              </a:spcAft>
              <a:defRPr sz="1800">
                <a:solidFill>
                  <a:srgbClr val="23282D"/>
                </a:solidFill>
              </a:defRPr>
            </a:pPr>
            <a:r>
              <a:t>OWD is a record-level security setting configured per object.</a:t>
            </a:r>
          </a:p>
          <a:p>
            <a:pPr>
              <a:spcAft>
                <a:spcPts val="800"/>
              </a:spcAft>
              <a:defRPr sz="1800">
                <a:solidFill>
                  <a:srgbClr val="23282D"/>
                </a:solidFill>
              </a:defRPr>
            </a:pPr>
            <a:r>
              <a:t>It answers: “By default, what can users do with records they do not own?”</a:t>
            </a:r>
          </a:p>
          <a:p>
            <a:pPr>
              <a:spcAft>
                <a:spcPts val="800"/>
              </a:spcAft>
              <a:defRPr sz="1800">
                <a:solidFill>
                  <a:srgbClr val="23282D"/>
                </a:solidFill>
              </a:defRPr>
            </a:pPr>
            <a:r>
              <a:t>A common best practice is to start with the most restrictive baseline needed, then open access with other sharing mechanisms.</a:t>
            </a:r>
          </a:p>
          <a:p>
            <a:pPr>
              <a:spcAft>
                <a:spcPts val="800"/>
              </a:spcAft>
              <a:defRPr sz="1800">
                <a:solidFill>
                  <a:srgbClr val="23282D"/>
                </a:solidFill>
              </a:defRPr>
            </a:pPr>
            <a:r>
              <a:t>OWD is not the final answer: Role Hierarchy, Sharing Rules, Manual Sharing and other mechanisms can extend access.</a:t>
            </a:r>
          </a:p>
          <a:p>
            <a:pPr>
              <a:spcAft>
                <a:spcPts val="800"/>
              </a:spcAft>
              <a:defRPr sz="1800">
                <a:solidFill>
                  <a:srgbClr val="23282D"/>
                </a:solidFill>
              </a:defRPr>
            </a:pPr>
            <a:r>
              <a:t>OWD settings can differ by object; internal and external access can also have separate settings where supported.</a:t>
            </a:r>
          </a:p>
        </p:txBody>
      </p:sp>
      <p:sp>
        <p:nvSpPr>
          <p:cNvPr id="8" name="Rounded Rectangle 7"/>
          <p:cNvSpPr/>
          <p:nvPr/>
        </p:nvSpPr>
        <p:spPr>
          <a:xfrm>
            <a:off x="7955279" y="1645920"/>
            <a:ext cx="3200400" cy="155448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19871" y="1755648"/>
            <a:ext cx="2871216" cy="347472"/>
          </a:xfrm>
          <a:prstGeom prst="rect">
            <a:avLst/>
          </a:prstGeom>
          <a:noFill/>
        </p:spPr>
        <p:txBody>
          <a:bodyPr wrap="none">
            <a:spAutoFit/>
          </a:bodyPr>
          <a:lstStyle/>
          <a:p>
            <a:pPr>
              <a:defRPr sz="1600" b="1">
                <a:solidFill>
                  <a:srgbClr val="E17D23"/>
                </a:solidFill>
              </a:defRPr>
            </a:pPr>
            <a:r>
              <a:t>Think of OWD as</a:t>
            </a:r>
          </a:p>
        </p:txBody>
      </p:sp>
      <p:sp>
        <p:nvSpPr>
          <p:cNvPr id="10" name="TextBox 9"/>
          <p:cNvSpPr txBox="1"/>
          <p:nvPr/>
        </p:nvSpPr>
        <p:spPr>
          <a:xfrm>
            <a:off x="8119871" y="2148840"/>
            <a:ext cx="2871216" cy="932688"/>
          </a:xfrm>
          <a:prstGeom prst="rect">
            <a:avLst/>
          </a:prstGeom>
          <a:noFill/>
        </p:spPr>
        <p:txBody>
          <a:bodyPr wrap="square">
            <a:spAutoFit/>
          </a:bodyPr>
          <a:lstStyle/>
          <a:p>
            <a:pPr>
              <a:defRPr sz="1350">
                <a:solidFill>
                  <a:srgbClr val="23282D"/>
                </a:solidFill>
              </a:defRPr>
            </a:pPr>
            <a:r>
              <a:t>The starting line.</a:t>
            </a:r>
            <a:br/>
            <a:r>
              <a:t>Not a permanent wall.</a:t>
            </a:r>
          </a:p>
        </p:txBody>
      </p:sp>
      <p:sp>
        <p:nvSpPr>
          <p:cNvPr id="11" name="Rounded Rectangle 10"/>
          <p:cNvSpPr/>
          <p:nvPr/>
        </p:nvSpPr>
        <p:spPr>
          <a:xfrm>
            <a:off x="7955279" y="3566160"/>
            <a:ext cx="3200400" cy="118872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1" y="3675887"/>
            <a:ext cx="2871216" cy="347472"/>
          </a:xfrm>
          <a:prstGeom prst="rect">
            <a:avLst/>
          </a:prstGeom>
          <a:noFill/>
        </p:spPr>
        <p:txBody>
          <a:bodyPr wrap="none">
            <a:spAutoFit/>
          </a:bodyPr>
          <a:lstStyle/>
          <a:p>
            <a:pPr>
              <a:defRPr sz="1600" b="1">
                <a:solidFill>
                  <a:srgbClr val="26915F"/>
                </a:solidFill>
              </a:defRPr>
            </a:pPr>
            <a:r>
              <a:t>Common design pattern</a:t>
            </a:r>
          </a:p>
        </p:txBody>
      </p:sp>
      <p:sp>
        <p:nvSpPr>
          <p:cNvPr id="13" name="TextBox 12"/>
          <p:cNvSpPr txBox="1"/>
          <p:nvPr/>
        </p:nvSpPr>
        <p:spPr>
          <a:xfrm>
            <a:off x="8119871" y="4069080"/>
            <a:ext cx="2871216" cy="566928"/>
          </a:xfrm>
          <a:prstGeom prst="rect">
            <a:avLst/>
          </a:prstGeom>
          <a:noFill/>
        </p:spPr>
        <p:txBody>
          <a:bodyPr wrap="square">
            <a:spAutoFit/>
          </a:bodyPr>
          <a:lstStyle/>
          <a:p>
            <a:pPr>
              <a:defRPr sz="1350">
                <a:solidFill>
                  <a:srgbClr val="23282D"/>
                </a:solidFill>
              </a:defRPr>
            </a:pPr>
            <a:r>
              <a:t>Private baseline → selectively open access.</a:t>
            </a:r>
          </a:p>
        </p:txBody>
      </p:sp>
      <p:sp>
        <p:nvSpPr>
          <p:cNvPr id="14" name="Rectangle 1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6" name="TextBox 1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OWD: Common Sharing Models</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325880"/>
          <a:ext cx="11064240" cy="3337560"/>
        </p:xfrm>
        <a:graphic>
          <a:graphicData uri="http://schemas.openxmlformats.org/drawingml/2006/table">
            <a:tbl>
              <a:tblPr firstRow="1" bandRow="1">
                <a:tableStyleId>{5C22544A-7EE6-4342-B048-85BDC9FD1C3A}</a:tableStyleId>
              </a:tblPr>
              <a:tblGrid>
                <a:gridCol w="2011680"/>
                <a:gridCol w="4663440"/>
                <a:gridCol w="4389120"/>
              </a:tblGrid>
              <a:tr h="834390">
                <a:tc>
                  <a:txBody>
                    <a:bodyPr/>
                    <a:lstStyle/>
                    <a:p>
                      <a:pPr>
                        <a:defRPr sz="1400" b="1">
                          <a:solidFill>
                            <a:srgbClr val="FFFFFF"/>
                          </a:solidFill>
                        </a:defRPr>
                      </a:pPr>
                      <a:r>
                        <a:t>OWD</a:t>
                      </a:r>
                    </a:p>
                  </a:txBody>
                  <a:tcPr marL="54864" marR="54864" marT="36576" marB="36576">
                    <a:solidFill>
                      <a:srgbClr val="183757"/>
                    </a:solidFill>
                  </a:tcPr>
                </a:tc>
                <a:tc>
                  <a:txBody>
                    <a:bodyPr/>
                    <a:lstStyle/>
                    <a:p>
                      <a:pPr>
                        <a:defRPr sz="1400" b="1">
                          <a:solidFill>
                            <a:srgbClr val="FFFFFF"/>
                          </a:solidFill>
                        </a:defRPr>
                      </a:pPr>
                      <a:r>
                        <a:t>Default visibility</a:t>
                      </a:r>
                    </a:p>
                  </a:txBody>
                  <a:tcPr marL="54864" marR="54864" marT="36576" marB="36576">
                    <a:solidFill>
                      <a:srgbClr val="183757"/>
                    </a:solidFill>
                  </a:tcPr>
                </a:tc>
                <a:tc>
                  <a:txBody>
                    <a:bodyPr/>
                    <a:lstStyle/>
                    <a:p>
                      <a:pPr>
                        <a:defRPr sz="1400" b="1">
                          <a:solidFill>
                            <a:srgbClr val="FFFFFF"/>
                          </a:solidFill>
                        </a:defRPr>
                      </a:pPr>
                      <a:r>
                        <a:t>Default editability</a:t>
                      </a:r>
                    </a:p>
                  </a:txBody>
                  <a:tcPr marL="54864" marR="54864" marT="36576" marB="36576">
                    <a:solidFill>
                      <a:srgbClr val="183757"/>
                    </a:solidFill>
                  </a:tcPr>
                </a:tc>
              </a:tr>
              <a:tr h="834390">
                <a:tc>
                  <a:txBody>
                    <a:bodyPr/>
                    <a:lstStyle/>
                    <a:p>
                      <a:pPr>
                        <a:defRPr sz="1400" b="0">
                          <a:solidFill>
                            <a:srgbClr val="23282D"/>
                          </a:solidFill>
                        </a:defRPr>
                      </a:pPr>
                      <a:r>
                        <a:t>Private</a:t>
                      </a:r>
                    </a:p>
                  </a:txBody>
                  <a:tcPr marL="54864" marR="54864" marT="36576" marB="36576">
                    <a:solidFill>
                      <a:srgbClr val="FFFFFF"/>
                    </a:solidFill>
                  </a:tcPr>
                </a:tc>
                <a:tc>
                  <a:txBody>
                    <a:bodyPr/>
                    <a:lstStyle/>
                    <a:p>
                      <a:pPr>
                        <a:defRPr sz="1400" b="0">
                          <a:solidFill>
                            <a:srgbClr val="23282D"/>
                          </a:solidFill>
                        </a:defRPr>
                      </a:pPr>
                      <a:r>
                        <a:t>Users see records they own / otherwise receive access to.</a:t>
                      </a:r>
                    </a:p>
                  </a:txBody>
                  <a:tcPr marL="54864" marR="54864" marT="36576" marB="36576">
                    <a:solidFill>
                      <a:srgbClr val="FFFFFF"/>
                    </a:solidFill>
                  </a:tcPr>
                </a:tc>
                <a:tc>
                  <a:txBody>
                    <a:bodyPr/>
                    <a:lstStyle/>
                    <a:p>
                      <a:pPr>
                        <a:defRPr sz="1400" b="0">
                          <a:solidFill>
                            <a:srgbClr val="23282D"/>
                          </a:solidFill>
                        </a:defRPr>
                      </a:pPr>
                      <a:r>
                        <a:t>Only owners / users granted edit access can edit.</a:t>
                      </a:r>
                    </a:p>
                  </a:txBody>
                  <a:tcPr marL="54864" marR="54864" marT="36576" marB="36576">
                    <a:solidFill>
                      <a:srgbClr val="FFFFFF"/>
                    </a:solidFill>
                  </a:tcPr>
                </a:tc>
              </a:tr>
              <a:tr h="834390">
                <a:tc>
                  <a:txBody>
                    <a:bodyPr/>
                    <a:lstStyle/>
                    <a:p>
                      <a:pPr>
                        <a:defRPr sz="1400" b="0">
                          <a:solidFill>
                            <a:srgbClr val="23282D"/>
                          </a:solidFill>
                        </a:defRPr>
                      </a:pPr>
                      <a:r>
                        <a:t>Public Read Only</a:t>
                      </a:r>
                    </a:p>
                  </a:txBody>
                  <a:tcPr marL="54864" marR="54864" marT="36576" marB="36576">
                    <a:solidFill>
                      <a:srgbClr val="FFFFFF"/>
                    </a:solidFill>
                  </a:tcPr>
                </a:tc>
                <a:tc>
                  <a:txBody>
                    <a:bodyPr/>
                    <a:lstStyle/>
                    <a:p>
                      <a:pPr>
                        <a:defRPr sz="1400" b="0">
                          <a:solidFill>
                            <a:srgbClr val="23282D"/>
                          </a:solidFill>
                        </a:defRPr>
                      </a:pPr>
                      <a:r>
                        <a:t>All users with object access can read records.</a:t>
                      </a:r>
                    </a:p>
                  </a:txBody>
                  <a:tcPr marL="54864" marR="54864" marT="36576" marB="36576">
                    <a:solidFill>
                      <a:srgbClr val="FFFFFF"/>
                    </a:solidFill>
                  </a:tcPr>
                </a:tc>
                <a:tc>
                  <a:txBody>
                    <a:bodyPr/>
                    <a:lstStyle/>
                    <a:p>
                      <a:pPr>
                        <a:defRPr sz="1400" b="0">
                          <a:solidFill>
                            <a:srgbClr val="23282D"/>
                          </a:solidFill>
                        </a:defRPr>
                      </a:pPr>
                      <a:r>
                        <a:t>Editing still depends on ownership or additional access.</a:t>
                      </a:r>
                    </a:p>
                  </a:txBody>
                  <a:tcPr marL="54864" marR="54864" marT="36576" marB="36576">
                    <a:solidFill>
                      <a:srgbClr val="FFFFFF"/>
                    </a:solidFill>
                  </a:tcPr>
                </a:tc>
              </a:tr>
              <a:tr h="834390">
                <a:tc>
                  <a:txBody>
                    <a:bodyPr/>
                    <a:lstStyle/>
                    <a:p>
                      <a:pPr>
                        <a:defRPr sz="1400" b="0">
                          <a:solidFill>
                            <a:srgbClr val="23282D"/>
                          </a:solidFill>
                        </a:defRPr>
                      </a:pPr>
                      <a:r>
                        <a:t>Public Read/Write</a:t>
                      </a:r>
                    </a:p>
                  </a:txBody>
                  <a:tcPr marL="54864" marR="54864" marT="36576" marB="36576">
                    <a:solidFill>
                      <a:srgbClr val="FFFFFF"/>
                    </a:solidFill>
                  </a:tcPr>
                </a:tc>
                <a:tc>
                  <a:txBody>
                    <a:bodyPr/>
                    <a:lstStyle/>
                    <a:p>
                      <a:pPr>
                        <a:defRPr sz="1400" b="0">
                          <a:solidFill>
                            <a:srgbClr val="23282D"/>
                          </a:solidFill>
                        </a:defRPr>
                      </a:pPr>
                      <a:r>
                        <a:t>All users with object access can read records.</a:t>
                      </a:r>
                    </a:p>
                  </a:txBody>
                  <a:tcPr marL="54864" marR="54864" marT="36576" marB="36576">
                    <a:solidFill>
                      <a:srgbClr val="FFFFFF"/>
                    </a:solidFill>
                  </a:tcPr>
                </a:tc>
                <a:tc>
                  <a:txBody>
                    <a:bodyPr/>
                    <a:lstStyle/>
                    <a:p>
                      <a:pPr>
                        <a:defRPr sz="1400" b="0">
                          <a:solidFill>
                            <a:srgbClr val="23282D"/>
                          </a:solidFill>
                        </a:defRPr>
                      </a:pPr>
                      <a:r>
                        <a:t>All users with object access can generally edit records.</a:t>
                      </a:r>
                    </a:p>
                  </a:txBody>
                  <a:tcPr marL="54864" marR="54864" marT="36576" marB="36576">
                    <a:solidFill>
                      <a:srgbClr val="FFFFFF"/>
                    </a:solidFill>
                  </a:tcPr>
                </a:tc>
              </a:tr>
            </a:tbl>
          </a:graphicData>
        </a:graphic>
      </p:graphicFrame>
      <p:sp>
        <p:nvSpPr>
          <p:cNvPr id="7" name="Rounded Rectangle 6"/>
          <p:cNvSpPr/>
          <p:nvPr/>
        </p:nvSpPr>
        <p:spPr>
          <a:xfrm>
            <a:off x="1097280" y="4983480"/>
            <a:ext cx="9966960" cy="91440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5093208"/>
            <a:ext cx="921385" cy="337185"/>
          </a:xfrm>
          <a:prstGeom prst="rect">
            <a:avLst/>
          </a:prstGeom>
          <a:noFill/>
        </p:spPr>
        <p:txBody>
          <a:bodyPr wrap="none">
            <a:spAutoFit/>
          </a:bodyPr>
          <a:lstStyle/>
          <a:p>
            <a:pPr>
              <a:defRPr sz="1600" b="1">
                <a:solidFill>
                  <a:srgbClr val="2079BE"/>
                </a:solidFill>
              </a:defRPr>
            </a:pPr>
            <a:r>
              <a:t>question</a:t>
            </a:r>
          </a:p>
        </p:txBody>
      </p:sp>
      <p:sp>
        <p:nvSpPr>
          <p:cNvPr id="9" name="TextBox 8"/>
          <p:cNvSpPr txBox="1"/>
          <p:nvPr/>
        </p:nvSpPr>
        <p:spPr>
          <a:xfrm>
            <a:off x="1261872" y="5486400"/>
            <a:ext cx="9637776" cy="292607"/>
          </a:xfrm>
          <a:prstGeom prst="rect">
            <a:avLst/>
          </a:prstGeom>
          <a:noFill/>
        </p:spPr>
        <p:txBody>
          <a:bodyPr wrap="square">
            <a:spAutoFit/>
          </a:bodyPr>
          <a:lstStyle/>
          <a:p>
            <a:pPr>
              <a:defRPr sz="1350">
                <a:solidFill>
                  <a:srgbClr val="23282D"/>
                </a:solidFill>
              </a:defRPr>
            </a:pPr>
            <a:r>
              <a:t>If OWD is Private, can another user ever see the record? </a:t>
            </a:r>
            <a:r>
              <a:rPr>
                <a:highlight>
                  <a:srgbClr val="000000"/>
                </a:highlight>
              </a:rPr>
              <a:t>YES—through other sharing/access mechanisms.</a:t>
            </a:r>
            <a:endParaRPr>
              <a:highlight>
                <a:srgbClr val="000000"/>
              </a:highlight>
            </a:endParaRPr>
          </a:p>
        </p:txBody>
      </p:sp>
      <p:sp>
        <p:nvSpPr>
          <p:cNvPr id="10" name="Rectangle 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2" name="TextBox 1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3020" y="825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2222500" cy="506730"/>
          </a:xfrm>
          <a:prstGeom prst="rect">
            <a:avLst/>
          </a:prstGeom>
          <a:noFill/>
        </p:spPr>
        <p:txBody>
          <a:bodyPr wrap="none">
            <a:spAutoFit/>
          </a:bodyPr>
          <a:lstStyle/>
          <a:p>
            <a:pPr>
              <a:defRPr sz="2700" b="1">
                <a:solidFill>
                  <a:srgbClr val="FFFFFF"/>
                </a:solidFill>
              </a:defRPr>
            </a:pPr>
            <a:r>
              <a:t>OWD </a:t>
            </a:r>
            <a:r>
              <a:rPr lang="en-US"/>
              <a:t>Example</a:t>
            </a:r>
            <a:endParaRPr lang="en-US"/>
          </a:p>
        </p:txBody>
      </p:sp>
      <p:sp>
        <p:nvSpPr>
          <p:cNvPr id="5" name="TextBox 4"/>
          <p:cNvSpPr txBox="1"/>
          <p:nvPr/>
        </p:nvSpPr>
        <p:spPr>
          <a:xfrm>
            <a:off x="548640" y="768096"/>
            <a:ext cx="5737225" cy="291465"/>
          </a:xfrm>
          <a:prstGeom prst="rect">
            <a:avLst/>
          </a:prstGeom>
          <a:noFill/>
        </p:spPr>
        <p:txBody>
          <a:bodyPr wrap="none">
            <a:spAutoFit/>
          </a:bodyPr>
          <a:lstStyle/>
          <a:p>
            <a:pPr>
              <a:defRPr sz="1300">
                <a:solidFill>
                  <a:srgbClr val="5A646E"/>
                </a:solidFill>
              </a:defRPr>
            </a:pPr>
            <a:r>
              <a:t>objective: prove that Private means “not shared by default,” not “never shareable.”</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600200"/>
            <a:ext cx="256032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801368"/>
            <a:ext cx="2340863" cy="685800"/>
          </a:xfrm>
          <a:prstGeom prst="rect">
            <a:avLst/>
          </a:prstGeom>
          <a:noFill/>
        </p:spPr>
        <p:txBody>
          <a:bodyPr wrap="none">
            <a:spAutoFit/>
          </a:bodyPr>
          <a:lstStyle/>
          <a:p>
            <a:pPr algn="ctr">
              <a:defRPr sz="1600" b="1">
                <a:solidFill>
                  <a:srgbClr val="23282D"/>
                </a:solidFill>
              </a:defRPr>
            </a:pPr>
            <a:r>
              <a:t>John owns</a:t>
            </a:r>
            <a:br/>
            <a:r>
              <a:t>Client A</a:t>
            </a:r>
          </a:p>
        </p:txBody>
      </p:sp>
      <p:sp>
        <p:nvSpPr>
          <p:cNvPr id="9" name="Right Arrow 8"/>
          <p:cNvSpPr/>
          <p:nvPr/>
        </p:nvSpPr>
        <p:spPr>
          <a:xfrm>
            <a:off x="3099815" y="192938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0711" y="1600200"/>
            <a:ext cx="256032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39" y="1801368"/>
            <a:ext cx="2340863" cy="685800"/>
          </a:xfrm>
          <a:prstGeom prst="rect">
            <a:avLst/>
          </a:prstGeom>
          <a:noFill/>
        </p:spPr>
        <p:txBody>
          <a:bodyPr wrap="none">
            <a:spAutoFit/>
          </a:bodyPr>
          <a:lstStyle/>
          <a:p>
            <a:pPr algn="ctr">
              <a:defRPr sz="1600" b="1">
                <a:solidFill>
                  <a:srgbClr val="23282D"/>
                </a:solidFill>
              </a:defRPr>
            </a:pPr>
            <a:r>
              <a:t>OWD =</a:t>
            </a:r>
            <a:br/>
            <a:r>
              <a:t>Private</a:t>
            </a:r>
          </a:p>
        </p:txBody>
      </p:sp>
      <p:sp>
        <p:nvSpPr>
          <p:cNvPr id="12" name="Right Arrow 11"/>
          <p:cNvSpPr/>
          <p:nvPr/>
        </p:nvSpPr>
        <p:spPr>
          <a:xfrm>
            <a:off x="6007607" y="192938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18503" y="1600200"/>
            <a:ext cx="256032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1801368"/>
            <a:ext cx="2340863" cy="685800"/>
          </a:xfrm>
          <a:prstGeom prst="rect">
            <a:avLst/>
          </a:prstGeom>
          <a:noFill/>
        </p:spPr>
        <p:txBody>
          <a:bodyPr wrap="none">
            <a:spAutoFit/>
          </a:bodyPr>
          <a:lstStyle/>
          <a:p>
            <a:pPr algn="ctr">
              <a:defRPr sz="1600" b="1">
                <a:solidFill>
                  <a:srgbClr val="23282D"/>
                </a:solidFill>
              </a:defRPr>
            </a:pPr>
            <a:r>
              <a:t>Sarah logs in</a:t>
            </a:r>
          </a:p>
        </p:txBody>
      </p:sp>
      <p:sp>
        <p:nvSpPr>
          <p:cNvPr id="15" name="Right Arrow 14"/>
          <p:cNvSpPr/>
          <p:nvPr/>
        </p:nvSpPr>
        <p:spPr>
          <a:xfrm>
            <a:off x="8915399" y="1929384"/>
            <a:ext cx="274320"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26296" y="1600200"/>
            <a:ext cx="2560320" cy="1051560"/>
          </a:xfrm>
          <a:prstGeom prst="roundRect">
            <a:avLst/>
          </a:prstGeom>
          <a:solidFill>
            <a:srgbClr val="FFFFFF"/>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36024" y="1801368"/>
            <a:ext cx="2340863" cy="685800"/>
          </a:xfrm>
          <a:prstGeom prst="rect">
            <a:avLst/>
          </a:prstGeom>
          <a:noFill/>
        </p:spPr>
        <p:txBody>
          <a:bodyPr wrap="none">
            <a:spAutoFit/>
          </a:bodyPr>
          <a:lstStyle/>
          <a:p>
            <a:pPr algn="ctr">
              <a:defRPr sz="1600" b="1">
                <a:solidFill>
                  <a:srgbClr val="23282D"/>
                </a:solidFill>
              </a:defRPr>
            </a:pPr>
            <a:r>
              <a:t>Sarah cannot</a:t>
            </a:r>
            <a:br/>
            <a:r>
              <a:t>see Client A</a:t>
            </a:r>
          </a:p>
        </p:txBody>
      </p:sp>
      <p:sp>
        <p:nvSpPr>
          <p:cNvPr id="18" name="Rounded Rectangle 17"/>
          <p:cNvSpPr/>
          <p:nvPr/>
        </p:nvSpPr>
        <p:spPr>
          <a:xfrm>
            <a:off x="1828800" y="3291840"/>
            <a:ext cx="8412480" cy="146304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93392" y="3401568"/>
            <a:ext cx="8083296" cy="347472"/>
          </a:xfrm>
          <a:prstGeom prst="rect">
            <a:avLst/>
          </a:prstGeom>
          <a:noFill/>
        </p:spPr>
        <p:txBody>
          <a:bodyPr wrap="none">
            <a:spAutoFit/>
          </a:bodyPr>
          <a:lstStyle/>
          <a:p>
            <a:pPr>
              <a:defRPr sz="1600" b="1">
                <a:solidFill>
                  <a:srgbClr val="26915F"/>
                </a:solidFill>
              </a:defRPr>
            </a:pPr>
            <a:r>
              <a:t>Then change the story</a:t>
            </a:r>
          </a:p>
        </p:txBody>
      </p:sp>
      <p:sp>
        <p:nvSpPr>
          <p:cNvPr id="20" name="TextBox 19"/>
          <p:cNvSpPr txBox="1"/>
          <p:nvPr/>
        </p:nvSpPr>
        <p:spPr>
          <a:xfrm>
            <a:off x="1993392" y="3794760"/>
            <a:ext cx="8083296" cy="841248"/>
          </a:xfrm>
          <a:prstGeom prst="rect">
            <a:avLst/>
          </a:prstGeom>
          <a:noFill/>
        </p:spPr>
        <p:txBody>
          <a:bodyPr wrap="square">
            <a:spAutoFit/>
          </a:bodyPr>
          <a:lstStyle/>
          <a:p>
            <a:pPr>
              <a:defRPr sz="1350">
                <a:solidFill>
                  <a:srgbClr val="23282D"/>
                </a:solidFill>
              </a:defRPr>
            </a:pPr>
            <a:r>
              <a:t>Create a sharing mechanism later and show Sarah gaining access. This makes the difference between baseline access and extended access obvious.</a:t>
            </a:r>
          </a:p>
        </p:txBody>
      </p:sp>
      <p:sp>
        <p:nvSpPr>
          <p:cNvPr id="21" name="Rounded Rectangle 20"/>
          <p:cNvSpPr/>
          <p:nvPr/>
        </p:nvSpPr>
        <p:spPr>
          <a:xfrm>
            <a:off x="8001000" y="5394960"/>
            <a:ext cx="3429000" cy="822960"/>
          </a:xfrm>
          <a:prstGeom prst="roundRect">
            <a:avLst/>
          </a:prstGeom>
          <a:solidFill>
            <a:srgbClr val="FDF1E4"/>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5504688"/>
            <a:ext cx="3063240" cy="594360"/>
          </a:xfrm>
          <a:prstGeom prst="rect">
            <a:avLst/>
          </a:prstGeom>
          <a:noFill/>
        </p:spPr>
        <p:txBody>
          <a:bodyPr wrap="square">
            <a:spAutoFit/>
          </a:bodyPr>
          <a:lstStyle/>
          <a:p>
            <a:pPr>
              <a:defRPr sz="1100">
                <a:solidFill>
                  <a:srgbClr val="23282D"/>
                </a:solidFill>
              </a:defRPr>
            </a:pPr>
            <a:r>
              <a:rPr>
                <a:highlight>
                  <a:srgbClr val="000000"/>
                </a:highlight>
              </a:rPr>
              <a:t>Trainer cue: Ask trainees to predict the result before logging in as Sarah.</a:t>
            </a:r>
            <a:endParaRPr>
              <a:highlight>
                <a:srgbClr val="000000"/>
              </a:highlight>
            </a:endParaRPr>
          </a:p>
        </p:txBody>
      </p:sp>
      <p:sp>
        <p:nvSpPr>
          <p:cNvPr id="23" name="Rectangle 22"/>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5" name="TextBox 24"/>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0" y="862330"/>
            <a:ext cx="12191365" cy="51327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0655" y="244475"/>
            <a:ext cx="11607800" cy="6260465"/>
          </a:xfrm>
          <a:prstGeom prst="rect">
            <a:avLst/>
          </a:prstGeom>
          <a:noFill/>
        </p:spPr>
        <p:txBody>
          <a:bodyPr wrap="square" rtlCol="0">
            <a:noAutofit/>
          </a:bodyPr>
          <a:p>
            <a:r>
              <a:rPr lang="en-US" altLang="en-US"/>
              <a:t>In Salesforce, </a:t>
            </a:r>
            <a:r>
              <a:rPr lang="en-US" altLang="en-US">
                <a:highlight>
                  <a:srgbClr val="FFFF00"/>
                </a:highlight>
              </a:rPr>
              <a:t>Default Internal Access and Default External Access</a:t>
            </a:r>
            <a:r>
              <a:rPr lang="en-US" altLang="en-US"/>
              <a:t> are the baseline Organization-Wide Defaults (OWD) that set initial record visibility for an object. Internal access controls what regular employee users see, while external access controls what community or partner users see in Experience Cloud. </a:t>
            </a:r>
            <a:endParaRPr lang="en-US" altLang="en-US"/>
          </a:p>
          <a:p>
            <a:endParaRPr lang="en-US" altLang="en-US"/>
          </a:p>
          <a:p>
            <a:endParaRPr lang="en-US" altLang="en-US"/>
          </a:p>
          <a:p>
            <a:r>
              <a:rPr lang="en-US" altLang="en-US">
                <a:highlight>
                  <a:srgbClr val="FFFF00"/>
                </a:highlight>
              </a:rPr>
              <a:t>Default Internal Access</a:t>
            </a:r>
            <a:endParaRPr lang="en-US" altLang="en-US">
              <a:highlight>
                <a:srgbClr val="FFFF00"/>
              </a:highlight>
            </a:endParaRPr>
          </a:p>
          <a:p>
            <a:r>
              <a:rPr lang="en-US" altLang="en-US"/>
              <a:t>Applies to regular employees and users with standard Salesforce licenses.</a:t>
            </a:r>
            <a:endParaRPr lang="en-US" altLang="en-US"/>
          </a:p>
          <a:p>
            <a:r>
              <a:rPr lang="en-US" altLang="en-US"/>
              <a:t>Sets the base level view and edit permissions for staff inside your company.</a:t>
            </a:r>
            <a:endParaRPr lang="en-US" altLang="en-US"/>
          </a:p>
          <a:p>
            <a:r>
              <a:rPr lang="en-US" altLang="en-US"/>
              <a:t>Example: If set to Private, employees only see records they own unless a role hierarchy or sharing rule opens access. </a:t>
            </a:r>
            <a:endParaRPr lang="en-US" altLang="en-US"/>
          </a:p>
          <a:p>
            <a:endParaRPr lang="en-US" altLang="en-US"/>
          </a:p>
          <a:p>
            <a:r>
              <a:rPr lang="en-US" altLang="en-US">
                <a:highlight>
                  <a:srgbClr val="FFFF00"/>
                </a:highlight>
              </a:rPr>
              <a:t>Default External Access</a:t>
            </a:r>
            <a:endParaRPr lang="en-US" altLang="en-US">
              <a:highlight>
                <a:srgbClr val="FFFF00"/>
              </a:highlight>
            </a:endParaRPr>
          </a:p>
          <a:p>
            <a:r>
              <a:rPr lang="en-US" altLang="en-US"/>
              <a:t>Applies to outside partners, customers, or users with Experience Cloud licenses.</a:t>
            </a:r>
            <a:endParaRPr lang="en-US" altLang="en-US"/>
          </a:p>
          <a:p>
            <a:r>
              <a:rPr lang="en-US" altLang="en-US"/>
              <a:t>Controls baseline data visibility for external portal or community users.</a:t>
            </a:r>
            <a:endParaRPr lang="en-US" altLang="en-US"/>
          </a:p>
          <a:p>
            <a:r>
              <a:rPr lang="en-US" altLang="en-US"/>
              <a:t>Must always be equal to or more restrictive than the internal access level (you cannot give outsiders more open default access than your own internal team).</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1081405"/>
            <a:ext cx="12191365" cy="46945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Role Hierarchy</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Role Hierarchy extends record access vertically in the hierarchy.</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0" y="1463040"/>
            <a:ext cx="256032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8528" y="1664208"/>
            <a:ext cx="2340863" cy="685800"/>
          </a:xfrm>
          <a:prstGeom prst="rect">
            <a:avLst/>
          </a:prstGeom>
          <a:noFill/>
        </p:spPr>
        <p:txBody>
          <a:bodyPr wrap="none">
            <a:spAutoFit/>
          </a:bodyPr>
          <a:lstStyle/>
          <a:p>
            <a:pPr algn="ctr">
              <a:defRPr sz="1600" b="1">
                <a:solidFill>
                  <a:srgbClr val="23282D"/>
                </a:solidFill>
              </a:defRPr>
            </a:pPr>
            <a:r>
              <a:t>CEO</a:t>
            </a:r>
          </a:p>
        </p:txBody>
      </p:sp>
      <p:sp>
        <p:nvSpPr>
          <p:cNvPr id="9" name="Right Arrow 8"/>
          <p:cNvSpPr/>
          <p:nvPr/>
        </p:nvSpPr>
        <p:spPr>
          <a:xfrm>
            <a:off x="4425696" y="1792224"/>
            <a:ext cx="52120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79" y="1463040"/>
            <a:ext cx="256032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93207" y="1664208"/>
            <a:ext cx="2340863" cy="685800"/>
          </a:xfrm>
          <a:prstGeom prst="rect">
            <a:avLst/>
          </a:prstGeom>
          <a:noFill/>
        </p:spPr>
        <p:txBody>
          <a:bodyPr wrap="none">
            <a:spAutoFit/>
          </a:bodyPr>
          <a:lstStyle/>
          <a:p>
            <a:pPr algn="ctr">
              <a:defRPr sz="1600" b="1">
                <a:solidFill>
                  <a:srgbClr val="23282D"/>
                </a:solidFill>
              </a:defRPr>
            </a:pPr>
            <a:r>
              <a:t>Sales Manager</a:t>
            </a:r>
          </a:p>
        </p:txBody>
      </p:sp>
      <p:sp>
        <p:nvSpPr>
          <p:cNvPr id="12" name="Right Arrow 11"/>
          <p:cNvSpPr/>
          <p:nvPr/>
        </p:nvSpPr>
        <p:spPr>
          <a:xfrm>
            <a:off x="7580375" y="1792224"/>
            <a:ext cx="521208"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59" y="1463040"/>
            <a:ext cx="256032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7" y="1664208"/>
            <a:ext cx="2340863" cy="685800"/>
          </a:xfrm>
          <a:prstGeom prst="rect">
            <a:avLst/>
          </a:prstGeom>
          <a:noFill/>
        </p:spPr>
        <p:txBody>
          <a:bodyPr wrap="none">
            <a:spAutoFit/>
          </a:bodyPr>
          <a:lstStyle/>
          <a:p>
            <a:pPr algn="ctr">
              <a:defRPr sz="1600" b="1">
                <a:solidFill>
                  <a:srgbClr val="23282D"/>
                </a:solidFill>
              </a:defRPr>
            </a:pPr>
            <a:r>
              <a:t>Sales Rep</a:t>
            </a:r>
          </a:p>
        </p:txBody>
      </p:sp>
      <p:sp>
        <p:nvSpPr>
          <p:cNvPr id="15" name="TextBox 14"/>
          <p:cNvSpPr txBox="1"/>
          <p:nvPr/>
        </p:nvSpPr>
        <p:spPr>
          <a:xfrm>
            <a:off x="914400" y="3063240"/>
            <a:ext cx="10241280" cy="2194560"/>
          </a:xfrm>
          <a:prstGeom prst="rect">
            <a:avLst/>
          </a:prstGeom>
          <a:noFill/>
        </p:spPr>
        <p:txBody>
          <a:bodyPr wrap="square" lIns="45720" tIns="18288" rIns="45720">
            <a:spAutoFit/>
          </a:bodyPr>
          <a:lstStyle/>
          <a:p>
            <a:pPr>
              <a:spcAft>
                <a:spcPts val="800"/>
              </a:spcAft>
              <a:defRPr sz="1800">
                <a:solidFill>
                  <a:srgbClr val="23282D"/>
                </a:solidFill>
              </a:defRPr>
            </a:pPr>
            <a:r>
              <a:t>Users higher in the hierarchy can generally access records owned by users below them, subject to object and sharing configuration.</a:t>
            </a:r>
          </a:p>
          <a:p>
            <a:pPr>
              <a:spcAft>
                <a:spcPts val="800"/>
              </a:spcAft>
              <a:defRPr sz="1800">
                <a:solidFill>
                  <a:srgbClr val="23282D"/>
                </a:solidFill>
              </a:defRPr>
            </a:pPr>
            <a:r>
              <a:t>The hierarchy is about data access, not necessarily the company's exact HR reporting structure.</a:t>
            </a:r>
          </a:p>
          <a:p>
            <a:pPr>
              <a:spcAft>
                <a:spcPts val="800"/>
              </a:spcAft>
              <a:defRPr sz="1800">
                <a:solidFill>
                  <a:srgbClr val="23282D"/>
                </a:solidFill>
              </a:defRPr>
            </a:pPr>
            <a:r>
              <a:t>Roles do not replace Profiles or Permission Sets.</a:t>
            </a:r>
          </a:p>
          <a:p>
            <a:pPr>
              <a:spcAft>
                <a:spcPts val="800"/>
              </a:spcAft>
              <a:defRPr sz="1800">
                <a:solidFill>
                  <a:srgbClr val="23282D"/>
                </a:solidFill>
              </a:defRPr>
            </a:pPr>
            <a:r>
              <a:t>For custom objects, “Grant Access Using Hierarchies” can be disabled; standard objects have their own supported behavior.</a:t>
            </a:r>
          </a:p>
        </p:txBody>
      </p:sp>
      <p:sp>
        <p:nvSpPr>
          <p:cNvPr id="16" name="Rectangle 15"/>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8" name="TextBox 17"/>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Profile vs Role: Common Confusion</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85800" y="1325880"/>
          <a:ext cx="10789920" cy="3566160"/>
        </p:xfrm>
        <a:graphic>
          <a:graphicData uri="http://schemas.openxmlformats.org/drawingml/2006/table">
            <a:tbl>
              <a:tblPr firstRow="1" bandRow="1">
                <a:tableStyleId>{5C22544A-7EE6-4342-B048-85BDC9FD1C3A}</a:tableStyleId>
              </a:tblPr>
              <a:tblGrid>
                <a:gridCol w="5212080"/>
                <a:gridCol w="5577840"/>
              </a:tblGrid>
              <a:tr h="713232">
                <a:tc>
                  <a:txBody>
                    <a:bodyPr/>
                    <a:lstStyle/>
                    <a:p>
                      <a:pPr>
                        <a:defRPr sz="1500" b="1">
                          <a:solidFill>
                            <a:srgbClr val="FFFFFF"/>
                          </a:solidFill>
                        </a:defRPr>
                      </a:pPr>
                      <a:r>
                        <a:t>Profile / Permission Set</a:t>
                      </a:r>
                    </a:p>
                  </a:txBody>
                  <a:tcPr marL="54864" marR="54864" marT="36576" marB="36576">
                    <a:solidFill>
                      <a:srgbClr val="183757"/>
                    </a:solidFill>
                  </a:tcPr>
                </a:tc>
                <a:tc>
                  <a:txBody>
                    <a:bodyPr/>
                    <a:lstStyle/>
                    <a:p>
                      <a:pPr>
                        <a:defRPr sz="1500" b="1">
                          <a:solidFill>
                            <a:srgbClr val="FFFFFF"/>
                          </a:solidFill>
                        </a:defRPr>
                      </a:pPr>
                      <a:r>
                        <a:t>Role / Role Hierarchy</a:t>
                      </a:r>
                    </a:p>
                  </a:txBody>
                  <a:tcPr marL="54864" marR="54864" marT="36576" marB="36576">
                    <a:solidFill>
                      <a:srgbClr val="183757"/>
                    </a:solidFill>
                  </a:tcPr>
                </a:tc>
              </a:tr>
              <a:tr h="713232">
                <a:tc>
                  <a:txBody>
                    <a:bodyPr/>
                    <a:lstStyle/>
                    <a:p>
                      <a:pPr>
                        <a:defRPr sz="1500" b="0">
                          <a:solidFill>
                            <a:srgbClr val="23282D"/>
                          </a:solidFill>
                        </a:defRPr>
                      </a:pPr>
                      <a:r>
                        <a:t>Controls object and field permissions.</a:t>
                      </a:r>
                    </a:p>
                  </a:txBody>
                  <a:tcPr marL="54864" marR="54864" marT="36576" marB="36576">
                    <a:solidFill>
                      <a:srgbClr val="FFFFFF"/>
                    </a:solidFill>
                  </a:tcPr>
                </a:tc>
                <a:tc>
                  <a:txBody>
                    <a:bodyPr/>
                    <a:lstStyle/>
                    <a:p>
                      <a:pPr>
                        <a:defRPr sz="1500" b="0">
                          <a:solidFill>
                            <a:srgbClr val="23282D"/>
                          </a:solidFill>
                        </a:defRPr>
                      </a:pPr>
                      <a:r>
                        <a:t>Primarily affects record-level access.</a:t>
                      </a:r>
                    </a:p>
                  </a:txBody>
                  <a:tcPr marL="54864" marR="54864" marT="36576" marB="36576">
                    <a:solidFill>
                      <a:srgbClr val="FFFFFF"/>
                    </a:solidFill>
                  </a:tcPr>
                </a:tc>
              </a:tr>
              <a:tr h="713232">
                <a:tc>
                  <a:txBody>
                    <a:bodyPr/>
                    <a:lstStyle/>
                    <a:p>
                      <a:pPr>
                        <a:defRPr sz="1500" b="0">
                          <a:solidFill>
                            <a:srgbClr val="23282D"/>
                          </a:solidFill>
                        </a:defRPr>
                      </a:pPr>
                      <a:r>
                        <a:t>Answers “What can you do?”</a:t>
                      </a:r>
                    </a:p>
                  </a:txBody>
                  <a:tcPr marL="54864" marR="54864" marT="36576" marB="36576">
                    <a:solidFill>
                      <a:srgbClr val="FFFFFF"/>
                    </a:solidFill>
                  </a:tcPr>
                </a:tc>
                <a:tc>
                  <a:txBody>
                    <a:bodyPr/>
                    <a:lstStyle/>
                    <a:p>
                      <a:pPr>
                        <a:defRPr sz="1500" b="0">
                          <a:solidFill>
                            <a:srgbClr val="23282D"/>
                          </a:solidFill>
                        </a:defRPr>
                      </a:pPr>
                      <a:r>
                        <a:t>Answers “Which records can you access because of your position?”</a:t>
                      </a:r>
                    </a:p>
                  </a:txBody>
                  <a:tcPr marL="54864" marR="54864" marT="36576" marB="36576">
                    <a:solidFill>
                      <a:srgbClr val="FFFFFF"/>
                    </a:solidFill>
                  </a:tcPr>
                </a:tc>
              </a:tr>
              <a:tr h="713232">
                <a:tc>
                  <a:txBody>
                    <a:bodyPr/>
                    <a:lstStyle/>
                    <a:p>
                      <a:pPr>
                        <a:defRPr sz="1500" b="0">
                          <a:solidFill>
                            <a:srgbClr val="23282D"/>
                          </a:solidFill>
                        </a:defRPr>
                      </a:pPr>
                      <a:r>
                        <a:t>One Profile per user; multiple Permission Sets possible.</a:t>
                      </a:r>
                    </a:p>
                  </a:txBody>
                  <a:tcPr marL="54864" marR="54864" marT="36576" marB="36576">
                    <a:solidFill>
                      <a:srgbClr val="FFFFFF"/>
                    </a:solidFill>
                  </a:tcPr>
                </a:tc>
                <a:tc>
                  <a:txBody>
                    <a:bodyPr/>
                    <a:lstStyle/>
                    <a:p>
                      <a:pPr>
                        <a:defRPr sz="1500" b="0">
                          <a:solidFill>
                            <a:srgbClr val="23282D"/>
                          </a:solidFill>
                        </a:defRPr>
                      </a:pPr>
                      <a:r>
                        <a:t>A user can be assigned a role; roles form a hierarchy.</a:t>
                      </a:r>
                    </a:p>
                  </a:txBody>
                  <a:tcPr marL="54864" marR="54864" marT="36576" marB="36576">
                    <a:solidFill>
                      <a:srgbClr val="FFFFFF"/>
                    </a:solidFill>
                  </a:tcPr>
                </a:tc>
              </a:tr>
              <a:tr h="713232">
                <a:tc>
                  <a:txBody>
                    <a:bodyPr/>
                    <a:lstStyle/>
                    <a:p>
                      <a:pPr>
                        <a:defRPr sz="1500" b="0">
                          <a:solidFill>
                            <a:srgbClr val="23282D"/>
                          </a:solidFill>
                        </a:defRPr>
                      </a:pPr>
                      <a:r>
                        <a:t>Example: Opportunity Edit = Yes.</a:t>
                      </a:r>
                    </a:p>
                  </a:txBody>
                  <a:tcPr marL="54864" marR="54864" marT="36576" marB="36576">
                    <a:solidFill>
                      <a:srgbClr val="FFFFFF"/>
                    </a:solidFill>
                  </a:tcPr>
                </a:tc>
                <a:tc>
                  <a:txBody>
                    <a:bodyPr/>
                    <a:lstStyle/>
                    <a:p>
                      <a:pPr>
                        <a:defRPr sz="1500" b="0">
                          <a:solidFill>
                            <a:srgbClr val="23282D"/>
                          </a:solidFill>
                        </a:defRPr>
                      </a:pPr>
                      <a:r>
                        <a:t>Example: Sales Manager can access Sales Rep records.</a:t>
                      </a:r>
                    </a:p>
                  </a:txBody>
                  <a:tcPr marL="54864" marR="54864" marT="36576" marB="36576">
                    <a:solidFill>
                      <a:srgbClr val="FFFFFF"/>
                    </a:solidFill>
                  </a:tcPr>
                </a:tc>
              </a:tr>
            </a:tbl>
          </a:graphicData>
        </a:graphic>
      </p:graphicFrame>
      <p:sp>
        <p:nvSpPr>
          <p:cNvPr id="7" name="Rounded Rectangle 6"/>
          <p:cNvSpPr/>
          <p:nvPr/>
        </p:nvSpPr>
        <p:spPr>
          <a:xfrm>
            <a:off x="2834640" y="5212080"/>
            <a:ext cx="6400800" cy="777240"/>
          </a:xfrm>
          <a:prstGeom prst="roundRect">
            <a:avLst/>
          </a:prstGeom>
          <a:solidFill>
            <a:srgbClr val="F0EBFA"/>
          </a:solidFill>
          <a:ln w="19050">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9232" y="5321808"/>
            <a:ext cx="6071616" cy="347472"/>
          </a:xfrm>
          <a:prstGeom prst="rect">
            <a:avLst/>
          </a:prstGeom>
          <a:noFill/>
        </p:spPr>
        <p:txBody>
          <a:bodyPr wrap="none">
            <a:spAutoFit/>
          </a:bodyPr>
          <a:lstStyle/>
          <a:p>
            <a:pPr>
              <a:defRPr sz="1600" b="1">
                <a:solidFill>
                  <a:srgbClr val="694BA5"/>
                </a:solidFill>
              </a:defRPr>
            </a:pPr>
            <a:r>
              <a:t>Memory trick</a:t>
            </a:r>
          </a:p>
        </p:txBody>
      </p:sp>
      <p:sp>
        <p:nvSpPr>
          <p:cNvPr id="9" name="TextBox 8"/>
          <p:cNvSpPr txBox="1"/>
          <p:nvPr/>
        </p:nvSpPr>
        <p:spPr>
          <a:xfrm>
            <a:off x="2999232" y="5715000"/>
            <a:ext cx="6071616" cy="155447"/>
          </a:xfrm>
          <a:prstGeom prst="rect">
            <a:avLst/>
          </a:prstGeom>
          <a:noFill/>
        </p:spPr>
        <p:txBody>
          <a:bodyPr wrap="square">
            <a:spAutoFit/>
          </a:bodyPr>
          <a:lstStyle/>
          <a:p>
            <a:pPr>
              <a:defRPr sz="1350">
                <a:solidFill>
                  <a:srgbClr val="23282D"/>
                </a:solidFill>
              </a:defRPr>
            </a:pPr>
            <a:r>
              <a:t>Profile = permissions</a:t>
            </a:r>
            <a:br/>
            <a:r>
              <a:t>Role = record access position</a:t>
            </a:r>
          </a:p>
        </p:txBody>
      </p:sp>
      <p:sp>
        <p:nvSpPr>
          <p:cNvPr id="10" name="Rectangle 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2" name="TextBox 1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19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814705"/>
            <a:ext cx="12191365" cy="52279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1185545"/>
            <a:ext cx="12191365" cy="44869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Sharing Rules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Sharing Rules automatically extend record access to groups of users.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949440" cy="4480560"/>
          </a:xfrm>
          <a:prstGeom prst="rect">
            <a:avLst/>
          </a:prstGeom>
          <a:noFill/>
        </p:spPr>
        <p:txBody>
          <a:bodyPr wrap="square" lIns="45720" tIns="18288" rIns="45720">
            <a:spAutoFit/>
          </a:bodyPr>
          <a:lstStyle/>
          <a:p>
            <a:pPr>
              <a:spcAft>
                <a:spcPts val="800"/>
              </a:spcAft>
              <a:defRPr sz="1800">
                <a:solidFill>
                  <a:srgbClr val="23282D"/>
                </a:solidFill>
              </a:defRPr>
            </a:pPr>
            <a:r>
              <a:t>Sharing Rules are exceptions to the OWD baseline.</a:t>
            </a:r>
          </a:p>
          <a:p>
            <a:pPr>
              <a:spcAft>
                <a:spcPts val="800"/>
              </a:spcAft>
              <a:defRPr sz="1800">
                <a:solidFill>
                  <a:srgbClr val="23282D"/>
                </a:solidFill>
              </a:defRPr>
            </a:pPr>
            <a:r>
              <a:t>They can extend access to users, roles, territories or public groups depending on the supported sharing target.</a:t>
            </a:r>
          </a:p>
          <a:p>
            <a:pPr>
              <a:spcAft>
                <a:spcPts val="800"/>
              </a:spcAft>
              <a:defRPr sz="1800">
                <a:solidFill>
                  <a:srgbClr val="23282D"/>
                </a:solidFill>
              </a:defRPr>
            </a:pPr>
            <a:r>
              <a:t>Owner-based sharing rules share records based on who owns them.</a:t>
            </a:r>
          </a:p>
          <a:p>
            <a:pPr>
              <a:spcAft>
                <a:spcPts val="800"/>
              </a:spcAft>
              <a:defRPr sz="1800">
                <a:solidFill>
                  <a:srgbClr val="23282D"/>
                </a:solidFill>
              </a:defRPr>
            </a:pPr>
            <a:r>
              <a:t>Criteria-based sharing rules share records based on field values on the record.</a:t>
            </a:r>
          </a:p>
          <a:p>
            <a:pPr>
              <a:spcAft>
                <a:spcPts val="800"/>
              </a:spcAft>
              <a:defRPr sz="1800">
                <a:solidFill>
                  <a:srgbClr val="23282D"/>
                </a:solidFill>
              </a:defRPr>
            </a:pPr>
            <a:r>
              <a:t>Sharing Rules are designed to open access—not to make access more restrictive than OWD.</a:t>
            </a:r>
          </a:p>
        </p:txBody>
      </p:sp>
      <p:sp>
        <p:nvSpPr>
          <p:cNvPr id="8" name="Rounded Rectangle 7"/>
          <p:cNvSpPr/>
          <p:nvPr/>
        </p:nvSpPr>
        <p:spPr>
          <a:xfrm>
            <a:off x="7955279" y="1554480"/>
            <a:ext cx="3200400" cy="182880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19871" y="1664207"/>
            <a:ext cx="2871216" cy="347472"/>
          </a:xfrm>
          <a:prstGeom prst="rect">
            <a:avLst/>
          </a:prstGeom>
          <a:noFill/>
        </p:spPr>
        <p:txBody>
          <a:bodyPr wrap="none">
            <a:spAutoFit/>
          </a:bodyPr>
          <a:lstStyle/>
          <a:p>
            <a:pPr>
              <a:defRPr sz="1600" b="1">
                <a:solidFill>
                  <a:srgbClr val="26915F"/>
                </a:solidFill>
              </a:defRPr>
            </a:pPr>
            <a:r>
              <a:t>Business requirement</a:t>
            </a:r>
          </a:p>
        </p:txBody>
      </p:sp>
      <p:sp>
        <p:nvSpPr>
          <p:cNvPr id="10" name="TextBox 9"/>
          <p:cNvSpPr txBox="1"/>
          <p:nvPr/>
        </p:nvSpPr>
        <p:spPr>
          <a:xfrm>
            <a:off x="8119871" y="2057400"/>
            <a:ext cx="2871216" cy="1207007"/>
          </a:xfrm>
          <a:prstGeom prst="rect">
            <a:avLst/>
          </a:prstGeom>
          <a:noFill/>
        </p:spPr>
        <p:txBody>
          <a:bodyPr wrap="square">
            <a:spAutoFit/>
          </a:bodyPr>
          <a:lstStyle/>
          <a:p>
            <a:pPr>
              <a:defRPr sz="1350">
                <a:solidFill>
                  <a:srgbClr val="23282D"/>
                </a:solidFill>
              </a:defRPr>
            </a:pPr>
            <a:r>
              <a:t>“All Sales Opportunities should be readable by Finance.”</a:t>
            </a:r>
            <a:br/>
            <a:r>
              <a:t>→ A Sharing Rule is a strong candidate.</a:t>
            </a:r>
          </a:p>
        </p:txBody>
      </p:sp>
      <p:sp>
        <p:nvSpPr>
          <p:cNvPr id="11" name="Rounded Rectangle 10"/>
          <p:cNvSpPr/>
          <p:nvPr/>
        </p:nvSpPr>
        <p:spPr>
          <a:xfrm>
            <a:off x="7955279" y="3749039"/>
            <a:ext cx="3200400" cy="150876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1" y="3858768"/>
            <a:ext cx="2871216" cy="347472"/>
          </a:xfrm>
          <a:prstGeom prst="rect">
            <a:avLst/>
          </a:prstGeom>
          <a:noFill/>
        </p:spPr>
        <p:txBody>
          <a:bodyPr wrap="none">
            <a:spAutoFit/>
          </a:bodyPr>
          <a:lstStyle/>
          <a:p>
            <a:pPr>
              <a:defRPr sz="1600" b="1">
                <a:solidFill>
                  <a:srgbClr val="E17D23"/>
                </a:solidFill>
              </a:defRPr>
            </a:pPr>
            <a:r>
              <a:t>Not a Sharing Rule</a:t>
            </a:r>
          </a:p>
        </p:txBody>
      </p:sp>
      <p:sp>
        <p:nvSpPr>
          <p:cNvPr id="13" name="TextBox 12"/>
          <p:cNvSpPr txBox="1"/>
          <p:nvPr/>
        </p:nvSpPr>
        <p:spPr>
          <a:xfrm>
            <a:off x="8119871" y="4251959"/>
            <a:ext cx="2871216" cy="886967"/>
          </a:xfrm>
          <a:prstGeom prst="rect">
            <a:avLst/>
          </a:prstGeom>
          <a:noFill/>
        </p:spPr>
        <p:txBody>
          <a:bodyPr wrap="square">
            <a:spAutoFit/>
          </a:bodyPr>
          <a:lstStyle/>
          <a:p>
            <a:pPr>
              <a:defRPr sz="1350">
                <a:solidFill>
                  <a:srgbClr val="23282D"/>
                </a:solidFill>
              </a:defRPr>
            </a:pPr>
            <a:r>
              <a:t>“Only show Finance users West records.”</a:t>
            </a:r>
            <a:br/>
            <a:r>
              <a:t>→ That is a filtering/restriction requirement.</a:t>
            </a:r>
          </a:p>
        </p:txBody>
      </p:sp>
      <p:sp>
        <p:nvSpPr>
          <p:cNvPr id="14" name="Rectangle 13"/>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6" name="TextBox 15"/>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Sharing Rules: Owner-Based vs Criteria-Based</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94360" y="1371600"/>
          <a:ext cx="10972799" cy="2971800"/>
        </p:xfrm>
        <a:graphic>
          <a:graphicData uri="http://schemas.openxmlformats.org/drawingml/2006/table">
            <a:tbl>
              <a:tblPr firstRow="1" bandRow="1">
                <a:tableStyleId>{5C22544A-7EE6-4342-B048-85BDC9FD1C3A}</a:tableStyleId>
              </a:tblPr>
              <a:tblGrid>
                <a:gridCol w="2011680"/>
                <a:gridCol w="3749039"/>
                <a:gridCol w="5212080"/>
              </a:tblGrid>
              <a:tr h="990600">
                <a:tc>
                  <a:txBody>
                    <a:bodyPr/>
                    <a:lstStyle/>
                    <a:p>
                      <a:pPr>
                        <a:defRPr sz="1400" b="1">
                          <a:solidFill>
                            <a:srgbClr val="FFFFFF"/>
                          </a:solidFill>
                        </a:defRPr>
                      </a:pPr>
                      <a:r>
                        <a:t>Type</a:t>
                      </a:r>
                    </a:p>
                  </a:txBody>
                  <a:tcPr marL="54864" marR="54864" marT="36576" marB="36576">
                    <a:solidFill>
                      <a:srgbClr val="183757"/>
                    </a:solidFill>
                  </a:tcPr>
                </a:tc>
                <a:tc>
                  <a:txBody>
                    <a:bodyPr/>
                    <a:lstStyle/>
                    <a:p>
                      <a:pPr>
                        <a:defRPr sz="1400" b="1">
                          <a:solidFill>
                            <a:srgbClr val="FFFFFF"/>
                          </a:solidFill>
                        </a:defRPr>
                      </a:pPr>
                      <a:r>
                        <a:t>Question it answers</a:t>
                      </a:r>
                    </a:p>
                  </a:txBody>
                  <a:tcPr marL="54864" marR="54864" marT="36576" marB="36576">
                    <a:solidFill>
                      <a:srgbClr val="183757"/>
                    </a:solidFill>
                  </a:tcPr>
                </a:tc>
                <a:tc>
                  <a:txBody>
                    <a:bodyPr/>
                    <a:lstStyle/>
                    <a:p>
                      <a:pPr>
                        <a:defRPr sz="1400" b="1">
                          <a:solidFill>
                            <a:srgbClr val="FFFFFF"/>
                          </a:solidFill>
                        </a:defRPr>
                      </a:pPr>
                      <a:r>
                        <a:t>Example</a:t>
                      </a:r>
                    </a:p>
                  </a:txBody>
                  <a:tcPr marL="54864" marR="54864" marT="36576" marB="36576">
                    <a:solidFill>
                      <a:srgbClr val="183757"/>
                    </a:solidFill>
                  </a:tcPr>
                </a:tc>
              </a:tr>
              <a:tr h="990600">
                <a:tc>
                  <a:txBody>
                    <a:bodyPr/>
                    <a:lstStyle/>
                    <a:p>
                      <a:pPr>
                        <a:defRPr sz="1400" b="0">
                          <a:solidFill>
                            <a:srgbClr val="23282D"/>
                          </a:solidFill>
                        </a:defRPr>
                      </a:pPr>
                      <a:r>
                        <a:t>Owner-Based</a:t>
                      </a:r>
                    </a:p>
                  </a:txBody>
                  <a:tcPr marL="54864" marR="54864" marT="36576" marB="36576">
                    <a:solidFill>
                      <a:srgbClr val="FFFFFF"/>
                    </a:solidFill>
                  </a:tcPr>
                </a:tc>
                <a:tc>
                  <a:txBody>
                    <a:bodyPr/>
                    <a:lstStyle/>
                    <a:p>
                      <a:pPr>
                        <a:defRPr sz="1400" b="0">
                          <a:solidFill>
                            <a:srgbClr val="23282D"/>
                          </a:solidFill>
                        </a:defRPr>
                      </a:pPr>
                      <a:r>
                        <a:t>Who owns the records that should be shared?</a:t>
                      </a:r>
                    </a:p>
                  </a:txBody>
                  <a:tcPr marL="54864" marR="54864" marT="36576" marB="36576">
                    <a:solidFill>
                      <a:srgbClr val="FFFFFF"/>
                    </a:solidFill>
                  </a:tcPr>
                </a:tc>
                <a:tc>
                  <a:txBody>
                    <a:bodyPr/>
                    <a:lstStyle/>
                    <a:p>
                      <a:pPr>
                        <a:defRPr sz="1400" b="0">
                          <a:solidFill>
                            <a:srgbClr val="23282D"/>
                          </a:solidFill>
                        </a:defRPr>
                      </a:pPr>
                      <a:r>
                        <a:t>Share records owned by Sales roles with Finance Group.</a:t>
                      </a:r>
                    </a:p>
                  </a:txBody>
                  <a:tcPr marL="54864" marR="54864" marT="36576" marB="36576">
                    <a:solidFill>
                      <a:srgbClr val="FFFFFF"/>
                    </a:solidFill>
                  </a:tcPr>
                </a:tc>
              </a:tr>
              <a:tr h="990600">
                <a:tc>
                  <a:txBody>
                    <a:bodyPr/>
                    <a:lstStyle/>
                    <a:p>
                      <a:pPr>
                        <a:defRPr sz="1400" b="0">
                          <a:solidFill>
                            <a:srgbClr val="23282D"/>
                          </a:solidFill>
                        </a:defRPr>
                      </a:pPr>
                      <a:r>
                        <a:t>Criteria-Based</a:t>
                      </a:r>
                    </a:p>
                  </a:txBody>
                  <a:tcPr marL="54864" marR="54864" marT="36576" marB="36576">
                    <a:solidFill>
                      <a:srgbClr val="FFFFFF"/>
                    </a:solidFill>
                  </a:tcPr>
                </a:tc>
                <a:tc>
                  <a:txBody>
                    <a:bodyPr/>
                    <a:lstStyle/>
                    <a:p>
                      <a:pPr>
                        <a:defRPr sz="1400" b="0">
                          <a:solidFill>
                            <a:srgbClr val="23282D"/>
                          </a:solidFill>
                        </a:defRPr>
                      </a:pPr>
                      <a:r>
                        <a:t>What field values identify the records?</a:t>
                      </a:r>
                    </a:p>
                  </a:txBody>
                  <a:tcPr marL="54864" marR="54864" marT="36576" marB="36576">
                    <a:solidFill>
                      <a:srgbClr val="FFFFFF"/>
                    </a:solidFill>
                  </a:tcPr>
                </a:tc>
                <a:tc>
                  <a:txBody>
                    <a:bodyPr/>
                    <a:lstStyle/>
                    <a:p>
                      <a:pPr>
                        <a:defRPr sz="1400" b="0">
                          <a:solidFill>
                            <a:srgbClr val="23282D"/>
                          </a:solidFill>
                        </a:defRPr>
                      </a:pPr>
                      <a:r>
                        <a:t>Share records where Region = West with West Finance Group.</a:t>
                      </a:r>
                    </a:p>
                  </a:txBody>
                  <a:tcPr marL="54864" marR="54864" marT="36576" marB="36576">
                    <a:solidFill>
                      <a:srgbClr val="FFFFFF"/>
                    </a:solidFill>
                  </a:tcPr>
                </a:tc>
              </a:tr>
            </a:tbl>
          </a:graphicData>
        </a:graphic>
      </p:graphicFrame>
      <p:sp>
        <p:nvSpPr>
          <p:cNvPr id="8" name="TextBox 7"/>
          <p:cNvSpPr txBox="1"/>
          <p:nvPr/>
        </p:nvSpPr>
        <p:spPr>
          <a:xfrm>
            <a:off x="1261872" y="4818888"/>
            <a:ext cx="309880" cy="337185"/>
          </a:xfrm>
          <a:prstGeom prst="rect">
            <a:avLst/>
          </a:prstGeom>
          <a:noFill/>
        </p:spPr>
        <p:txBody>
          <a:bodyPr wrap="none">
            <a:spAutoFit/>
          </a:bodyPr>
          <a:lstStyle/>
          <a:p>
            <a:pPr>
              <a:defRPr sz="1600" b="1">
                <a:solidFill>
                  <a:srgbClr val="2079BE"/>
                </a:solidFill>
              </a:defRPr>
            </a:pPr>
          </a:p>
        </p:txBody>
      </p:sp>
      <p:sp>
        <p:nvSpPr>
          <p:cNvPr id="9" name="TextBox 8"/>
          <p:cNvSpPr txBox="1"/>
          <p:nvPr/>
        </p:nvSpPr>
        <p:spPr>
          <a:xfrm>
            <a:off x="1261872" y="5212080"/>
            <a:ext cx="9637776" cy="299085"/>
          </a:xfrm>
          <a:prstGeom prst="rect">
            <a:avLst/>
          </a:prstGeom>
          <a:noFill/>
        </p:spPr>
        <p:txBody>
          <a:bodyPr wrap="square">
            <a:spAutoFit/>
          </a:bodyPr>
          <a:lstStyle/>
          <a:p>
            <a:pPr>
              <a:defRPr sz="1350">
                <a:solidFill>
                  <a:srgbClr val="23282D"/>
                </a:solidFill>
              </a:defRPr>
            </a:pPr>
          </a:p>
        </p:txBody>
      </p:sp>
      <p:sp>
        <p:nvSpPr>
          <p:cNvPr id="10" name="Rectangle 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2" name="TextBox 1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871855"/>
            <a:ext cx="12191365" cy="51136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5475" y="484505"/>
            <a:ext cx="4064000" cy="368300"/>
          </a:xfrm>
          <a:prstGeom prst="rect">
            <a:avLst/>
          </a:prstGeom>
          <a:noFill/>
        </p:spPr>
        <p:txBody>
          <a:bodyPr wrap="square" rtlCol="0">
            <a:spAutoFit/>
          </a:bodyPr>
          <a:p>
            <a:r>
              <a:rPr lang="en-US"/>
              <a:t>At bottom:</a:t>
            </a:r>
            <a:endParaRPr lang="en-US"/>
          </a:p>
        </p:txBody>
      </p:sp>
      <p:pic>
        <p:nvPicPr>
          <p:cNvPr id="3" name="Picture 2"/>
          <p:cNvPicPr>
            <a:picLocks noChangeAspect="1"/>
          </p:cNvPicPr>
          <p:nvPr/>
        </p:nvPicPr>
        <p:blipFill>
          <a:blip r:embed="rId1"/>
          <a:stretch>
            <a:fillRect/>
          </a:stretch>
        </p:blipFill>
        <p:spPr>
          <a:xfrm>
            <a:off x="0" y="1313180"/>
            <a:ext cx="12191365" cy="42310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768350"/>
            <a:ext cx="12191365" cy="53206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8255" y="1651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Public Groups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A Public Group is a reusable collection of users/roles/groups used by sharing and other Salesforce features.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554480"/>
            <a:ext cx="256032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55648"/>
            <a:ext cx="2340863" cy="685800"/>
          </a:xfrm>
          <a:prstGeom prst="rect">
            <a:avLst/>
          </a:prstGeom>
          <a:noFill/>
        </p:spPr>
        <p:txBody>
          <a:bodyPr wrap="none">
            <a:spAutoFit/>
          </a:bodyPr>
          <a:lstStyle/>
          <a:p>
            <a:pPr algn="ctr">
              <a:defRPr sz="1600" b="1">
                <a:solidFill>
                  <a:srgbClr val="23282D"/>
                </a:solidFill>
              </a:defRPr>
            </a:pPr>
            <a:r>
              <a:t>John</a:t>
            </a:r>
            <a:br/>
            <a:r>
              <a:t>Sarah</a:t>
            </a:r>
            <a:br/>
            <a:r>
              <a:t>Finance User</a:t>
            </a:r>
          </a:p>
        </p:txBody>
      </p:sp>
      <p:sp>
        <p:nvSpPr>
          <p:cNvPr id="9" name="Right Arrow 8"/>
          <p:cNvSpPr/>
          <p:nvPr/>
        </p:nvSpPr>
        <p:spPr>
          <a:xfrm>
            <a:off x="3191256" y="1883664"/>
            <a:ext cx="246887"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74720" y="1554480"/>
            <a:ext cx="256032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1755648"/>
            <a:ext cx="2340863" cy="685800"/>
          </a:xfrm>
          <a:prstGeom prst="rect">
            <a:avLst/>
          </a:prstGeom>
          <a:noFill/>
        </p:spPr>
        <p:txBody>
          <a:bodyPr wrap="none">
            <a:spAutoFit/>
          </a:bodyPr>
          <a:lstStyle/>
          <a:p>
            <a:pPr algn="ctr">
              <a:defRPr sz="1600" b="1">
                <a:solidFill>
                  <a:srgbClr val="23282D"/>
                </a:solidFill>
              </a:defRPr>
            </a:pPr>
            <a:r>
              <a:t>Finance Team</a:t>
            </a:r>
            <a:br/>
            <a:r>
              <a:t>Public Group</a:t>
            </a:r>
          </a:p>
        </p:txBody>
      </p:sp>
      <p:sp>
        <p:nvSpPr>
          <p:cNvPr id="12" name="Right Arrow 11"/>
          <p:cNvSpPr/>
          <p:nvPr/>
        </p:nvSpPr>
        <p:spPr>
          <a:xfrm>
            <a:off x="6071616" y="1883664"/>
            <a:ext cx="246887"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554480"/>
            <a:ext cx="256032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1755648"/>
            <a:ext cx="2340863" cy="685800"/>
          </a:xfrm>
          <a:prstGeom prst="rect">
            <a:avLst/>
          </a:prstGeom>
          <a:noFill/>
        </p:spPr>
        <p:txBody>
          <a:bodyPr wrap="none">
            <a:spAutoFit/>
          </a:bodyPr>
          <a:lstStyle/>
          <a:p>
            <a:pPr algn="ctr">
              <a:defRPr sz="1600" b="1">
                <a:solidFill>
                  <a:srgbClr val="23282D"/>
                </a:solidFill>
              </a:defRPr>
            </a:pPr>
            <a:r>
              <a:t>Sharing Rule</a:t>
            </a:r>
          </a:p>
        </p:txBody>
      </p:sp>
      <p:sp>
        <p:nvSpPr>
          <p:cNvPr id="15" name="Right Arrow 14"/>
          <p:cNvSpPr/>
          <p:nvPr/>
        </p:nvSpPr>
        <p:spPr>
          <a:xfrm>
            <a:off x="8951976" y="1883664"/>
            <a:ext cx="246887"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35440" y="1554480"/>
            <a:ext cx="256032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45167" y="1755648"/>
            <a:ext cx="2340863" cy="685800"/>
          </a:xfrm>
          <a:prstGeom prst="rect">
            <a:avLst/>
          </a:prstGeom>
          <a:noFill/>
        </p:spPr>
        <p:txBody>
          <a:bodyPr wrap="none">
            <a:spAutoFit/>
          </a:bodyPr>
          <a:lstStyle/>
          <a:p>
            <a:pPr algn="ctr">
              <a:defRPr sz="1600" b="1">
                <a:solidFill>
                  <a:srgbClr val="23282D"/>
                </a:solidFill>
              </a:defRPr>
            </a:pPr>
            <a:r>
              <a:t>Sales Records</a:t>
            </a:r>
          </a:p>
        </p:txBody>
      </p:sp>
      <p:sp>
        <p:nvSpPr>
          <p:cNvPr id="18" name="TextBox 17"/>
          <p:cNvSpPr txBox="1"/>
          <p:nvPr/>
        </p:nvSpPr>
        <p:spPr>
          <a:xfrm>
            <a:off x="822960" y="3246120"/>
            <a:ext cx="10332720" cy="1376680"/>
          </a:xfrm>
          <a:prstGeom prst="rect">
            <a:avLst/>
          </a:prstGeom>
          <a:noFill/>
        </p:spPr>
        <p:txBody>
          <a:bodyPr wrap="square" lIns="45720" tIns="18288" rIns="45720">
            <a:spAutoFit/>
          </a:bodyPr>
          <a:lstStyle/>
          <a:p>
            <a:pPr>
              <a:spcAft>
                <a:spcPts val="800"/>
              </a:spcAft>
              <a:defRPr sz="1800">
                <a:solidFill>
                  <a:srgbClr val="23282D"/>
                </a:solidFill>
              </a:defRPr>
            </a:pPr>
            <a:r>
              <a:t>A group can contain individual users and, depending on configuration, roles or other groups.</a:t>
            </a:r>
          </a:p>
          <a:p>
            <a:pPr>
              <a:spcAft>
                <a:spcPts val="800"/>
              </a:spcAft>
              <a:defRPr sz="1800">
                <a:solidFill>
                  <a:srgbClr val="23282D"/>
                </a:solidFill>
              </a:defRPr>
            </a:pPr>
            <a:r>
              <a:t>Public Groups make sharing rules easier to manage because you share to the group instead of maintaining many individual users.</a:t>
            </a:r>
          </a:p>
          <a:p>
            <a:pPr>
              <a:spcAft>
                <a:spcPts val="800"/>
              </a:spcAft>
              <a:defRPr sz="1800">
                <a:solidFill>
                  <a:srgbClr val="23282D"/>
                </a:solidFill>
              </a:defRPr>
            </a:pPr>
          </a:p>
        </p:txBody>
      </p:sp>
      <p:sp>
        <p:nvSpPr>
          <p:cNvPr id="19" name="Rectangle 18"/>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1" name="TextBox 20"/>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Manual Sharing</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Manual Sharing is a one-off record-level sharing exception.</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74320" y="1508760"/>
            <a:ext cx="205740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709928"/>
            <a:ext cx="1837943" cy="685800"/>
          </a:xfrm>
          <a:prstGeom prst="rect">
            <a:avLst/>
          </a:prstGeom>
          <a:noFill/>
        </p:spPr>
        <p:txBody>
          <a:bodyPr wrap="none">
            <a:spAutoFit/>
          </a:bodyPr>
          <a:lstStyle/>
          <a:p>
            <a:pPr algn="ctr">
              <a:defRPr sz="1600" b="1">
                <a:solidFill>
                  <a:srgbClr val="23282D"/>
                </a:solidFill>
              </a:defRPr>
            </a:pPr>
            <a:r>
              <a:t>John owns</a:t>
            </a:r>
            <a:br/>
            <a:r>
              <a:t>Client A</a:t>
            </a:r>
          </a:p>
        </p:txBody>
      </p:sp>
      <p:sp>
        <p:nvSpPr>
          <p:cNvPr id="9" name="Right Arrow 8"/>
          <p:cNvSpPr/>
          <p:nvPr/>
        </p:nvSpPr>
        <p:spPr>
          <a:xfrm>
            <a:off x="2368296" y="1837943"/>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96312" y="1508760"/>
            <a:ext cx="205740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06040" y="1709928"/>
            <a:ext cx="1837943" cy="685800"/>
          </a:xfrm>
          <a:prstGeom prst="rect">
            <a:avLst/>
          </a:prstGeom>
          <a:noFill/>
        </p:spPr>
        <p:txBody>
          <a:bodyPr wrap="none">
            <a:spAutoFit/>
          </a:bodyPr>
          <a:lstStyle/>
          <a:p>
            <a:pPr algn="ctr">
              <a:defRPr sz="1600" b="1">
                <a:solidFill>
                  <a:srgbClr val="23282D"/>
                </a:solidFill>
              </a:defRPr>
            </a:pPr>
            <a:r>
              <a:t>Click Share</a:t>
            </a:r>
          </a:p>
        </p:txBody>
      </p:sp>
      <p:sp>
        <p:nvSpPr>
          <p:cNvPr id="12" name="Right Arrow 11"/>
          <p:cNvSpPr/>
          <p:nvPr/>
        </p:nvSpPr>
        <p:spPr>
          <a:xfrm>
            <a:off x="4590288" y="1837943"/>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18304" y="1508760"/>
            <a:ext cx="205740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8032" y="1709928"/>
            <a:ext cx="1837943" cy="685800"/>
          </a:xfrm>
          <a:prstGeom prst="rect">
            <a:avLst/>
          </a:prstGeom>
          <a:noFill/>
        </p:spPr>
        <p:txBody>
          <a:bodyPr wrap="none">
            <a:spAutoFit/>
          </a:bodyPr>
          <a:lstStyle/>
          <a:p>
            <a:pPr algn="ctr">
              <a:defRPr sz="1600" b="1">
                <a:solidFill>
                  <a:srgbClr val="23282D"/>
                </a:solidFill>
              </a:defRPr>
            </a:pPr>
            <a:r>
              <a:t>Select</a:t>
            </a:r>
            <a:br/>
            <a:r>
              <a:t>Finance User</a:t>
            </a:r>
          </a:p>
        </p:txBody>
      </p:sp>
      <p:sp>
        <p:nvSpPr>
          <p:cNvPr id="15" name="Right Arrow 14"/>
          <p:cNvSpPr/>
          <p:nvPr/>
        </p:nvSpPr>
        <p:spPr>
          <a:xfrm>
            <a:off x="6812280" y="1837943"/>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40296" y="1508760"/>
            <a:ext cx="205740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1709928"/>
            <a:ext cx="1837943" cy="685800"/>
          </a:xfrm>
          <a:prstGeom prst="rect">
            <a:avLst/>
          </a:prstGeom>
          <a:noFill/>
        </p:spPr>
        <p:txBody>
          <a:bodyPr wrap="none">
            <a:spAutoFit/>
          </a:bodyPr>
          <a:lstStyle/>
          <a:p>
            <a:pPr algn="ctr">
              <a:defRPr sz="1600" b="1">
                <a:solidFill>
                  <a:srgbClr val="23282D"/>
                </a:solidFill>
              </a:defRPr>
            </a:pPr>
            <a:r>
              <a:t>Read/Write</a:t>
            </a:r>
          </a:p>
        </p:txBody>
      </p:sp>
      <p:sp>
        <p:nvSpPr>
          <p:cNvPr id="18" name="Right Arrow 17"/>
          <p:cNvSpPr/>
          <p:nvPr/>
        </p:nvSpPr>
        <p:spPr>
          <a:xfrm>
            <a:off x="9034272" y="1837943"/>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62288" y="1508760"/>
            <a:ext cx="2057400" cy="1051560"/>
          </a:xfrm>
          <a:prstGeom prst="roundRect">
            <a:avLst/>
          </a:prstGeom>
          <a:solidFill>
            <a:srgbClr val="FFFFFF"/>
          </a:solidFill>
          <a:ln>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72016" y="1709928"/>
            <a:ext cx="1837943" cy="685800"/>
          </a:xfrm>
          <a:prstGeom prst="rect">
            <a:avLst/>
          </a:prstGeom>
          <a:noFill/>
        </p:spPr>
        <p:txBody>
          <a:bodyPr wrap="none">
            <a:spAutoFit/>
          </a:bodyPr>
          <a:lstStyle/>
          <a:p>
            <a:pPr algn="ctr">
              <a:defRPr sz="1600" b="1">
                <a:solidFill>
                  <a:srgbClr val="23282D"/>
                </a:solidFill>
              </a:defRPr>
            </a:pPr>
            <a:r>
              <a:t>Finance User</a:t>
            </a:r>
            <a:br/>
            <a:r>
              <a:t>can access</a:t>
            </a:r>
          </a:p>
        </p:txBody>
      </p:sp>
      <p:sp>
        <p:nvSpPr>
          <p:cNvPr id="21" name="TextBox 20"/>
          <p:cNvSpPr txBox="1"/>
          <p:nvPr/>
        </p:nvSpPr>
        <p:spPr>
          <a:xfrm>
            <a:off x="868680" y="3154680"/>
            <a:ext cx="10332720" cy="2194560"/>
          </a:xfrm>
          <a:prstGeom prst="rect">
            <a:avLst/>
          </a:prstGeom>
          <a:noFill/>
        </p:spPr>
        <p:txBody>
          <a:bodyPr wrap="square" lIns="45720" tIns="18288" rIns="45720">
            <a:spAutoFit/>
          </a:bodyPr>
          <a:lstStyle/>
          <a:p>
            <a:pPr>
              <a:spcAft>
                <a:spcPts val="800"/>
              </a:spcAft>
              <a:defRPr sz="1800">
                <a:solidFill>
                  <a:srgbClr val="23282D"/>
                </a:solidFill>
              </a:defRPr>
            </a:pPr>
            <a:r>
              <a:t>Useful when a specific record needs to be shared but there is no consistent rule for a whole group of records.</a:t>
            </a:r>
          </a:p>
          <a:p>
            <a:pPr>
              <a:spcAft>
                <a:spcPts val="800"/>
              </a:spcAft>
              <a:defRPr sz="1800">
                <a:solidFill>
                  <a:srgbClr val="23282D"/>
                </a:solidFill>
              </a:defRPr>
            </a:pPr>
            <a:r>
              <a:t>It is not the right tool for sharing thousands of records one-by-one.</a:t>
            </a:r>
          </a:p>
          <a:p>
            <a:pPr>
              <a:spcAft>
                <a:spcPts val="800"/>
              </a:spcAft>
              <a:defRPr sz="1800">
                <a:solidFill>
                  <a:srgbClr val="23282D"/>
                </a:solidFill>
              </a:defRPr>
            </a:pPr>
            <a:r>
              <a:t>Record owners can manually share records where supported.</a:t>
            </a:r>
          </a:p>
          <a:p>
            <a:pPr>
              <a:spcAft>
                <a:spcPts val="800"/>
              </a:spcAft>
              <a:defRPr sz="1800">
                <a:solidFill>
                  <a:srgbClr val="23282D"/>
                </a:solidFill>
              </a:defRPr>
            </a:pPr>
            <a:r>
              <a:t>Manual sharing does not replace object permissions; the recipient still needs the necessary object-level access.</a:t>
            </a:r>
          </a:p>
        </p:txBody>
      </p:sp>
      <p:sp>
        <p:nvSpPr>
          <p:cNvPr id="22" name="Rectangle 21"/>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4" name="TextBox 23"/>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935990" y="407035"/>
            <a:ext cx="8743950" cy="3486150"/>
          </a:xfrm>
          <a:prstGeom prst="rect">
            <a:avLst/>
          </a:prstGeom>
        </p:spPr>
      </p:pic>
      <p:sp>
        <p:nvSpPr>
          <p:cNvPr id="3" name="Text Box 2"/>
          <p:cNvSpPr txBox="1"/>
          <p:nvPr/>
        </p:nvSpPr>
        <p:spPr>
          <a:xfrm>
            <a:off x="1570355" y="4697095"/>
            <a:ext cx="8990965" cy="922020"/>
          </a:xfrm>
          <a:prstGeom prst="rect">
            <a:avLst/>
          </a:prstGeom>
          <a:noFill/>
        </p:spPr>
        <p:txBody>
          <a:bodyPr wrap="square" rtlCol="0">
            <a:spAutoFit/>
          </a:bodyPr>
          <a:p>
            <a:r>
              <a:rPr lang="en-US"/>
              <a:t>Note : </a:t>
            </a:r>
            <a:r>
              <a:rPr lang="en-US" altLang="en-US"/>
              <a:t>In order to Perform the Manual sharing the records object ‘OWD’ needs to be ‘Private or Read only’. If the OWD is Public Read/Write then there will not be any Sharing option available on that record because all the ‘public’ already have read write access.</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257810"/>
            <a:ext cx="12191365" cy="63423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240790" y="952500"/>
            <a:ext cx="9709150" cy="4953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878840"/>
            <a:ext cx="12191365" cy="5100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8255" y="825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Sharing Rule vs Manual Sharing</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11201400" cy="4251960"/>
        </p:xfrm>
        <a:graphic>
          <a:graphicData uri="http://schemas.openxmlformats.org/drawingml/2006/table">
            <a:tbl>
              <a:tblPr firstRow="1" bandRow="1">
                <a:tableStyleId>{5C22544A-7EE6-4342-B048-85BDC9FD1C3A}</a:tableStyleId>
              </a:tblPr>
              <a:tblGrid>
                <a:gridCol w="2286000"/>
                <a:gridCol w="4206240"/>
                <a:gridCol w="4709160"/>
              </a:tblGrid>
              <a:tr h="708660">
                <a:tc>
                  <a:txBody>
                    <a:bodyPr/>
                    <a:lstStyle/>
                    <a:p>
                      <a:pPr>
                        <a:defRPr sz="1300" b="1">
                          <a:solidFill>
                            <a:srgbClr val="FFFFFF"/>
                          </a:solidFill>
                        </a:defRPr>
                      </a:pPr>
                      <a:r>
                        <a:t>Question</a:t>
                      </a:r>
                    </a:p>
                  </a:txBody>
                  <a:tcPr marL="54864" marR="54864" marT="36576" marB="36576">
                    <a:solidFill>
                      <a:srgbClr val="183757"/>
                    </a:solidFill>
                  </a:tcPr>
                </a:tc>
                <a:tc>
                  <a:txBody>
                    <a:bodyPr/>
                    <a:lstStyle/>
                    <a:p>
                      <a:pPr>
                        <a:defRPr sz="1300" b="1">
                          <a:solidFill>
                            <a:srgbClr val="FFFFFF"/>
                          </a:solidFill>
                        </a:defRPr>
                      </a:pPr>
                      <a:r>
                        <a:t>Sharing Rule</a:t>
                      </a:r>
                    </a:p>
                  </a:txBody>
                  <a:tcPr marL="54864" marR="54864" marT="36576" marB="36576">
                    <a:solidFill>
                      <a:srgbClr val="183757"/>
                    </a:solidFill>
                  </a:tcPr>
                </a:tc>
                <a:tc>
                  <a:txBody>
                    <a:bodyPr/>
                    <a:lstStyle/>
                    <a:p>
                      <a:pPr>
                        <a:defRPr sz="1300" b="1">
                          <a:solidFill>
                            <a:srgbClr val="FFFFFF"/>
                          </a:solidFill>
                        </a:defRPr>
                      </a:pPr>
                      <a:r>
                        <a:t>Manual Sharing</a:t>
                      </a:r>
                    </a:p>
                  </a:txBody>
                  <a:tcPr marL="54864" marR="54864" marT="36576" marB="36576">
                    <a:solidFill>
                      <a:srgbClr val="183757"/>
                    </a:solidFill>
                  </a:tcPr>
                </a:tc>
              </a:tr>
              <a:tr h="708660">
                <a:tc>
                  <a:txBody>
                    <a:bodyPr/>
                    <a:lstStyle/>
                    <a:p>
                      <a:pPr>
                        <a:defRPr sz="1300" b="0">
                          <a:solidFill>
                            <a:srgbClr val="23282D"/>
                          </a:solidFill>
                        </a:defRPr>
                      </a:pPr>
                      <a:r>
                        <a:t>Automatic?</a:t>
                      </a:r>
                    </a:p>
                  </a:txBody>
                  <a:tcPr marL="54864" marR="54864" marT="36576" marB="36576">
                    <a:solidFill>
                      <a:srgbClr val="FFFFFF"/>
                    </a:solidFill>
                  </a:tcPr>
                </a:tc>
                <a:tc>
                  <a:txBody>
                    <a:bodyPr/>
                    <a:lstStyle/>
                    <a:p>
                      <a:pPr>
                        <a:defRPr sz="1300" b="0">
                          <a:solidFill>
                            <a:srgbClr val="23282D"/>
                          </a:solidFill>
                        </a:defRPr>
                      </a:pPr>
                      <a:r>
                        <a:t>Yes</a:t>
                      </a:r>
                    </a:p>
                  </a:txBody>
                  <a:tcPr marL="54864" marR="54864" marT="36576" marB="36576">
                    <a:solidFill>
                      <a:srgbClr val="FFFFFF"/>
                    </a:solidFill>
                  </a:tcPr>
                </a:tc>
                <a:tc>
                  <a:txBody>
                    <a:bodyPr/>
                    <a:lstStyle/>
                    <a:p>
                      <a:pPr>
                        <a:defRPr sz="1300" b="0">
                          <a:solidFill>
                            <a:srgbClr val="23282D"/>
                          </a:solidFill>
                        </a:defRPr>
                      </a:pPr>
                      <a:r>
                        <a:t>No</a:t>
                      </a:r>
                    </a:p>
                  </a:txBody>
                  <a:tcPr marL="54864" marR="54864" marT="36576" marB="36576">
                    <a:solidFill>
                      <a:srgbClr val="FFFFFF"/>
                    </a:solidFill>
                  </a:tcPr>
                </a:tc>
              </a:tr>
              <a:tr h="708660">
                <a:tc>
                  <a:txBody>
                    <a:bodyPr/>
                    <a:lstStyle/>
                    <a:p>
                      <a:pPr>
                        <a:defRPr sz="1300" b="0">
                          <a:solidFill>
                            <a:srgbClr val="23282D"/>
                          </a:solidFill>
                        </a:defRPr>
                      </a:pPr>
                      <a:r>
                        <a:t>Typical scope</a:t>
                      </a:r>
                    </a:p>
                  </a:txBody>
                  <a:tcPr marL="54864" marR="54864" marT="36576" marB="36576">
                    <a:solidFill>
                      <a:srgbClr val="FFFFFF"/>
                    </a:solidFill>
                  </a:tcPr>
                </a:tc>
                <a:tc>
                  <a:txBody>
                    <a:bodyPr/>
                    <a:lstStyle/>
                    <a:p>
                      <a:pPr>
                        <a:defRPr sz="1300" b="0">
                          <a:solidFill>
                            <a:srgbClr val="23282D"/>
                          </a:solidFill>
                        </a:defRPr>
                      </a:pPr>
                      <a:r>
                        <a:t>Many records / recurring requirement</a:t>
                      </a:r>
                    </a:p>
                  </a:txBody>
                  <a:tcPr marL="54864" marR="54864" marT="36576" marB="36576">
                    <a:solidFill>
                      <a:srgbClr val="FFFFFF"/>
                    </a:solidFill>
                  </a:tcPr>
                </a:tc>
                <a:tc>
                  <a:txBody>
                    <a:bodyPr/>
                    <a:lstStyle/>
                    <a:p>
                      <a:pPr>
                        <a:defRPr sz="1300" b="0">
                          <a:solidFill>
                            <a:srgbClr val="23282D"/>
                          </a:solidFill>
                        </a:defRPr>
                      </a:pPr>
                      <a:r>
                        <a:t>One or a few specific records</a:t>
                      </a:r>
                    </a:p>
                  </a:txBody>
                  <a:tcPr marL="54864" marR="54864" marT="36576" marB="36576">
                    <a:solidFill>
                      <a:srgbClr val="FFFFFF"/>
                    </a:solidFill>
                  </a:tcPr>
                </a:tc>
              </a:tr>
              <a:tr h="708660">
                <a:tc>
                  <a:txBody>
                    <a:bodyPr/>
                    <a:lstStyle/>
                    <a:p>
                      <a:pPr>
                        <a:defRPr sz="1300" b="0">
                          <a:solidFill>
                            <a:srgbClr val="23282D"/>
                          </a:solidFill>
                        </a:defRPr>
                      </a:pPr>
                      <a:r>
                        <a:t>Based on criteria?</a:t>
                      </a:r>
                    </a:p>
                  </a:txBody>
                  <a:tcPr marL="54864" marR="54864" marT="36576" marB="36576">
                    <a:solidFill>
                      <a:srgbClr val="FFFFFF"/>
                    </a:solidFill>
                  </a:tcPr>
                </a:tc>
                <a:tc>
                  <a:txBody>
                    <a:bodyPr/>
                    <a:lstStyle/>
                    <a:p>
                      <a:pPr>
                        <a:defRPr sz="1300" b="0">
                          <a:solidFill>
                            <a:srgbClr val="23282D"/>
                          </a:solidFill>
                        </a:defRPr>
                      </a:pPr>
                      <a:r>
                        <a:t>Yes, for criteria-based rules</a:t>
                      </a:r>
                    </a:p>
                  </a:txBody>
                  <a:tcPr marL="54864" marR="54864" marT="36576" marB="36576">
                    <a:solidFill>
                      <a:srgbClr val="FFFFFF"/>
                    </a:solidFill>
                  </a:tcPr>
                </a:tc>
                <a:tc>
                  <a:txBody>
                    <a:bodyPr/>
                    <a:lstStyle/>
                    <a:p>
                      <a:pPr>
                        <a:defRPr sz="1300" b="0">
                          <a:solidFill>
                            <a:srgbClr val="23282D"/>
                          </a:solidFill>
                        </a:defRPr>
                      </a:pPr>
                      <a:r>
                        <a:t>No</a:t>
                      </a:r>
                    </a:p>
                  </a:txBody>
                  <a:tcPr marL="54864" marR="54864" marT="36576" marB="36576">
                    <a:solidFill>
                      <a:srgbClr val="FFFFFF"/>
                    </a:solidFill>
                  </a:tcPr>
                </a:tc>
              </a:tr>
              <a:tr h="708660">
                <a:tc>
                  <a:txBody>
                    <a:bodyPr/>
                    <a:lstStyle/>
                    <a:p>
                      <a:pPr>
                        <a:defRPr sz="1300" b="0">
                          <a:solidFill>
                            <a:srgbClr val="23282D"/>
                          </a:solidFill>
                        </a:defRPr>
                      </a:pPr>
                      <a:r>
                        <a:t>Best use</a:t>
                      </a:r>
                    </a:p>
                  </a:txBody>
                  <a:tcPr marL="54864" marR="54864" marT="36576" marB="36576">
                    <a:solidFill>
                      <a:srgbClr val="FFFFFF"/>
                    </a:solidFill>
                  </a:tcPr>
                </a:tc>
                <a:tc>
                  <a:txBody>
                    <a:bodyPr/>
                    <a:lstStyle/>
                    <a:p>
                      <a:pPr>
                        <a:defRPr sz="1300" b="0">
                          <a:solidFill>
                            <a:srgbClr val="23282D"/>
                          </a:solidFill>
                        </a:defRPr>
                      </a:pPr>
                      <a:r>
                        <a:t>Consistent business requirement</a:t>
                      </a:r>
                    </a:p>
                  </a:txBody>
                  <a:tcPr marL="54864" marR="54864" marT="36576" marB="36576">
                    <a:solidFill>
                      <a:srgbClr val="FFFFFF"/>
                    </a:solidFill>
                  </a:tcPr>
                </a:tc>
                <a:tc>
                  <a:txBody>
                    <a:bodyPr/>
                    <a:lstStyle/>
                    <a:p>
                      <a:pPr>
                        <a:defRPr sz="1300" b="0">
                          <a:solidFill>
                            <a:srgbClr val="23282D"/>
                          </a:solidFill>
                        </a:defRPr>
                      </a:pPr>
                      <a:r>
                        <a:t>One-off collaboration</a:t>
                      </a:r>
                    </a:p>
                  </a:txBody>
                  <a:tcPr marL="54864" marR="54864" marT="36576" marB="36576">
                    <a:solidFill>
                      <a:srgbClr val="FFFFFF"/>
                    </a:solidFill>
                  </a:tcPr>
                </a:tc>
              </a:tr>
              <a:tr h="708660">
                <a:tc>
                  <a:txBody>
                    <a:bodyPr/>
                    <a:lstStyle/>
                    <a:p>
                      <a:pPr>
                        <a:defRPr sz="1300" b="0">
                          <a:solidFill>
                            <a:srgbClr val="23282D"/>
                          </a:solidFill>
                        </a:defRPr>
                      </a:pPr>
                      <a:r>
                        <a:t>Example</a:t>
                      </a:r>
                    </a:p>
                  </a:txBody>
                  <a:tcPr marL="54864" marR="54864" marT="36576" marB="36576">
                    <a:solidFill>
                      <a:srgbClr val="FFFFFF"/>
                    </a:solidFill>
                  </a:tcPr>
                </a:tc>
                <a:tc>
                  <a:txBody>
                    <a:bodyPr/>
                    <a:lstStyle/>
                    <a:p>
                      <a:pPr>
                        <a:defRPr sz="1300" b="0">
                          <a:solidFill>
                            <a:srgbClr val="23282D"/>
                          </a:solidFill>
                        </a:defRPr>
                      </a:pPr>
                      <a:r>
                        <a:t>All Sales records → Finance</a:t>
                      </a:r>
                    </a:p>
                  </a:txBody>
                  <a:tcPr marL="54864" marR="54864" marT="36576" marB="36576">
                    <a:solidFill>
                      <a:srgbClr val="FFFFFF"/>
                    </a:solidFill>
                  </a:tcPr>
                </a:tc>
                <a:tc>
                  <a:txBody>
                    <a:bodyPr/>
                    <a:lstStyle/>
                    <a:p>
                      <a:pPr>
                        <a:defRPr sz="1300" b="0">
                          <a:solidFill>
                            <a:srgbClr val="23282D"/>
                          </a:solidFill>
                        </a:defRPr>
                      </a:pPr>
                      <a:r>
                        <a:t>ABC Client → Sarah</a:t>
                      </a:r>
                    </a:p>
                  </a:txBody>
                  <a:tcPr marL="54864" marR="54864" marT="36576" marB="36576">
                    <a:solidFill>
                      <a:srgbClr val="FFFFFF"/>
                    </a:solidFill>
                  </a:tcPr>
                </a:tc>
              </a:tr>
            </a:tbl>
          </a:graphicData>
        </a:graphic>
      </p:graphicFrame>
      <p:sp>
        <p:nvSpPr>
          <p:cNvPr id="7" name="Rounded Rectangle 6"/>
          <p:cNvSpPr/>
          <p:nvPr/>
        </p:nvSpPr>
        <p:spPr>
          <a:xfrm>
            <a:off x="2377440" y="5596128"/>
            <a:ext cx="7315200" cy="59436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42032" y="5705856"/>
            <a:ext cx="6986016" cy="347472"/>
          </a:xfrm>
          <a:prstGeom prst="rect">
            <a:avLst/>
          </a:prstGeom>
          <a:noFill/>
        </p:spPr>
        <p:txBody>
          <a:bodyPr wrap="none">
            <a:spAutoFit/>
          </a:bodyPr>
          <a:lstStyle/>
          <a:p>
            <a:pPr>
              <a:defRPr sz="1600" b="1">
                <a:solidFill>
                  <a:srgbClr val="26915F"/>
                </a:solidFill>
              </a:defRPr>
            </a:pPr>
            <a:r>
              <a:t>Decision rule</a:t>
            </a:r>
          </a:p>
        </p:txBody>
      </p:sp>
      <p:sp>
        <p:nvSpPr>
          <p:cNvPr id="9" name="TextBox 8"/>
          <p:cNvSpPr txBox="1"/>
          <p:nvPr/>
        </p:nvSpPr>
        <p:spPr>
          <a:xfrm>
            <a:off x="4718685" y="5687695"/>
            <a:ext cx="7739380" cy="502920"/>
          </a:xfrm>
          <a:prstGeom prst="rect">
            <a:avLst/>
          </a:prstGeom>
          <a:noFill/>
        </p:spPr>
        <p:txBody>
          <a:bodyPr wrap="square">
            <a:noAutofit/>
          </a:bodyPr>
          <a:lstStyle/>
          <a:p>
            <a:pPr>
              <a:defRPr sz="1350">
                <a:solidFill>
                  <a:srgbClr val="23282D"/>
                </a:solidFill>
              </a:defRPr>
            </a:pPr>
            <a:r>
              <a:t>Recurring requirement → Sharing Rule.</a:t>
            </a:r>
            <a:br/>
            <a:r>
              <a:t>One-off exception → Manual Sharing.</a:t>
            </a:r>
          </a:p>
        </p:txBody>
      </p:sp>
      <p:sp>
        <p:nvSpPr>
          <p:cNvPr id="10" name="Rectangle 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2" name="TextBox 1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Restriction Rules</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Restriction Rules narrow the records a user can access by filtering their available record set.</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34440"/>
            <a:ext cx="6858000" cy="4480560"/>
          </a:xfrm>
          <a:prstGeom prst="rect">
            <a:avLst/>
          </a:prstGeom>
          <a:noFill/>
        </p:spPr>
        <p:txBody>
          <a:bodyPr wrap="square" lIns="45720" tIns="18288" rIns="45720">
            <a:spAutoFit/>
          </a:bodyPr>
          <a:lstStyle/>
          <a:p>
            <a:pPr>
              <a:spcAft>
                <a:spcPts val="800"/>
              </a:spcAft>
              <a:defRPr sz="1800">
                <a:solidFill>
                  <a:srgbClr val="23282D"/>
                </a:solidFill>
              </a:defRPr>
            </a:pPr>
            <a:r>
              <a:t>A Restriction Rule applies a record filter to a targeted user group.</a:t>
            </a:r>
          </a:p>
          <a:p>
            <a:pPr>
              <a:spcAft>
                <a:spcPts val="800"/>
              </a:spcAft>
              <a:defRPr sz="1800">
                <a:solidFill>
                  <a:srgbClr val="23282D"/>
                </a:solidFill>
              </a:defRPr>
            </a:pPr>
            <a:r>
              <a:t>The user may already have access through OWD, sharing rules or other sharing mechanisms.</a:t>
            </a:r>
          </a:p>
          <a:p>
            <a:pPr>
              <a:spcAft>
                <a:spcPts val="800"/>
              </a:spcAft>
              <a:defRPr sz="1800">
                <a:solidFill>
                  <a:srgbClr val="23282D"/>
                </a:solidFill>
              </a:defRPr>
            </a:pPr>
            <a:r>
              <a:t>The restriction rule filters that access so the user can see only records matching the specified criteria.</a:t>
            </a:r>
          </a:p>
          <a:p>
            <a:pPr>
              <a:spcAft>
                <a:spcPts val="800"/>
              </a:spcAft>
              <a:defRPr sz="1800">
                <a:solidFill>
                  <a:srgbClr val="23282D"/>
                </a:solidFill>
              </a:defRPr>
            </a:pPr>
            <a:r>
              <a:t>It does not remove the user's object-level Read/Edit permission.</a:t>
            </a:r>
          </a:p>
          <a:p>
            <a:pPr>
              <a:spcAft>
                <a:spcPts val="800"/>
              </a:spcAft>
              <a:defRPr sz="1800">
                <a:solidFill>
                  <a:srgbClr val="23282D"/>
                </a:solidFill>
              </a:defRPr>
            </a:pPr>
            <a:r>
              <a:t>Available in Lightning Experience for supported objects and editions.</a:t>
            </a:r>
          </a:p>
        </p:txBody>
      </p:sp>
      <p:sp>
        <p:nvSpPr>
          <p:cNvPr id="8" name="Rounded Rectangle 7"/>
          <p:cNvSpPr/>
          <p:nvPr/>
        </p:nvSpPr>
        <p:spPr>
          <a:xfrm>
            <a:off x="7818120" y="1417320"/>
            <a:ext cx="3520440" cy="283464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1527048"/>
            <a:ext cx="3191256" cy="347472"/>
          </a:xfrm>
          <a:prstGeom prst="rect">
            <a:avLst/>
          </a:prstGeom>
          <a:noFill/>
        </p:spPr>
        <p:txBody>
          <a:bodyPr wrap="none">
            <a:spAutoFit/>
          </a:bodyPr>
          <a:lstStyle/>
          <a:p>
            <a:pPr>
              <a:defRPr sz="1600" b="1">
                <a:solidFill>
                  <a:srgbClr val="E17D23"/>
                </a:solidFill>
              </a:defRPr>
            </a:pPr>
            <a:r>
              <a:t>Easy definition</a:t>
            </a:r>
          </a:p>
        </p:txBody>
      </p:sp>
      <p:sp>
        <p:nvSpPr>
          <p:cNvPr id="10" name="TextBox 9"/>
          <p:cNvSpPr txBox="1"/>
          <p:nvPr/>
        </p:nvSpPr>
        <p:spPr>
          <a:xfrm>
            <a:off x="7982712" y="1920240"/>
            <a:ext cx="3191256" cy="2212848"/>
          </a:xfrm>
          <a:prstGeom prst="rect">
            <a:avLst/>
          </a:prstGeom>
          <a:noFill/>
        </p:spPr>
        <p:txBody>
          <a:bodyPr wrap="square">
            <a:spAutoFit/>
          </a:bodyPr>
          <a:lstStyle/>
          <a:p>
            <a:pPr>
              <a:defRPr sz="1350">
                <a:solidFill>
                  <a:srgbClr val="23282D"/>
                </a:solidFill>
              </a:defRPr>
            </a:pPr>
            <a:r>
              <a:t>Sharing Rule:</a:t>
            </a:r>
            <a:br/>
            <a:r>
              <a:t>“Give this group more records.”</a:t>
            </a:r>
            <a:br/>
            <a:br/>
            <a:r>
              <a:t>Restriction Rule:</a:t>
            </a:r>
            <a:br/>
            <a:r>
              <a:t>“Of the records available to this group, show only these.”</a:t>
            </a:r>
          </a:p>
        </p:txBody>
      </p:sp>
      <p:sp>
        <p:nvSpPr>
          <p:cNvPr id="11" name="Rectangle 10"/>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3" name="TextBox 12"/>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36600" y="105410"/>
            <a:ext cx="10269855" cy="6185535"/>
          </a:xfrm>
          <a:prstGeom prst="rect">
            <a:avLst/>
          </a:prstGeom>
          <a:noFill/>
        </p:spPr>
        <p:txBody>
          <a:bodyPr wrap="square" rtlCol="0">
            <a:spAutoFit/>
          </a:bodyPr>
          <a:p>
            <a:r>
              <a:rPr lang="en-US" altLang="en-US"/>
              <a:t>Imagine:</a:t>
            </a:r>
            <a:endParaRPr lang="en-US" altLang="en-US"/>
          </a:p>
          <a:p>
            <a:r>
              <a:rPr lang="en-US" altLang="en-US"/>
              <a:t>OWD = Public Read Only</a:t>
            </a:r>
            <a:endParaRPr lang="en-US" altLang="en-US"/>
          </a:p>
          <a:p>
            <a:r>
              <a:rPr lang="en-US" altLang="en-US"/>
              <a:t>Therefore:</a:t>
            </a:r>
            <a:endParaRPr lang="en-US" altLang="en-US"/>
          </a:p>
          <a:p>
            <a:r>
              <a:rPr lang="en-US" altLang="en-US"/>
              <a:t>John</a:t>
            </a:r>
            <a:endParaRPr lang="en-US" altLang="en-US"/>
          </a:p>
          <a:p>
            <a:r>
              <a:rPr lang="en-US" altLang="en-US"/>
              <a:t> Therefore,</a:t>
            </a:r>
            <a:endParaRPr lang="en-US" altLang="en-US"/>
          </a:p>
          <a:p>
            <a:r>
              <a:rPr lang="en-US" altLang="en-US"/>
              <a:t>can see 100 records</a:t>
            </a:r>
            <a:endParaRPr lang="en-US" altLang="en-US"/>
          </a:p>
          <a:p>
            <a:r>
              <a:rPr lang="en-US" altLang="en-US"/>
              <a:t>But business says:</a:t>
            </a:r>
            <a:endParaRPr lang="en-US" altLang="en-US"/>
          </a:p>
          <a:p>
            <a:r>
              <a:rPr lang="en-US" altLang="en-US"/>
              <a:t>"John should only see records where Region = West."</a:t>
            </a:r>
            <a:endParaRPr lang="en-US" altLang="en-US"/>
          </a:p>
          <a:p>
            <a:r>
              <a:rPr lang="en-US" altLang="en-US"/>
              <a:t>We don't want to change OWD.</a:t>
            </a:r>
            <a:endParaRPr lang="en-US" altLang="en-US"/>
          </a:p>
          <a:p>
            <a:r>
              <a:rPr lang="en-US" altLang="en-US"/>
              <a:t>Create:</a:t>
            </a:r>
            <a:endParaRPr lang="en-US" altLang="en-US"/>
          </a:p>
          <a:p>
            <a:r>
              <a:rPr lang="en-US" altLang="en-US"/>
              <a:t>Restriction Rule</a:t>
            </a:r>
            <a:endParaRPr lang="en-US" altLang="en-US"/>
          </a:p>
          <a:p>
            <a:endParaRPr lang="en-US" altLang="en-US"/>
          </a:p>
          <a:p>
            <a:r>
              <a:rPr lang="en-US" altLang="en-US"/>
              <a:t>User:</a:t>
            </a:r>
            <a:endParaRPr lang="en-US" altLang="en-US"/>
          </a:p>
          <a:p>
            <a:r>
              <a:rPr lang="en-US" altLang="en-US"/>
              <a:t>John</a:t>
            </a:r>
            <a:endParaRPr lang="en-US" altLang="en-US"/>
          </a:p>
          <a:p>
            <a:endParaRPr lang="en-US" altLang="en-US"/>
          </a:p>
          <a:p>
            <a:r>
              <a:rPr lang="en-US" altLang="en-US"/>
              <a:t>Record:</a:t>
            </a:r>
            <a:endParaRPr lang="en-US" altLang="en-US"/>
          </a:p>
          <a:p>
            <a:r>
              <a:rPr lang="en-US" altLang="en-US"/>
              <a:t>Region = West</a:t>
            </a:r>
            <a:endParaRPr lang="en-US" altLang="en-US"/>
          </a:p>
          <a:p>
            <a:r>
              <a:rPr lang="en-US" altLang="en-US"/>
              <a:t>Now:</a:t>
            </a:r>
            <a:endParaRPr lang="en-US" altLang="en-US"/>
          </a:p>
          <a:p>
            <a:r>
              <a:rPr lang="en-US" altLang="en-US"/>
              <a:t>100 records available normally    ----&gt;  After Restriction Rule Restriction Rule</a:t>
            </a:r>
            <a:endParaRPr lang="en-US" altLang="en-US"/>
          </a:p>
          <a:p>
            <a:endParaRPr lang="en-US" altLang="en-US"/>
          </a:p>
          <a:p>
            <a:r>
              <a:rPr lang="en-US" altLang="en-US"/>
              <a:t>30 West records visible</a:t>
            </a:r>
            <a:endParaRPr lang="en-US" altLang="en-US"/>
          </a:p>
          <a:p>
            <a:r>
              <a:rPr lang="en-US" altLang="en-US"/>
              <a:t>The other 70 are filtered out.</a:t>
            </a: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825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Restriction Rule Example</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Business requirement: Finance can access Sales records, but only West records.</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 y="1417320"/>
            <a:ext cx="219456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 y="1618488"/>
            <a:ext cx="1975104" cy="685800"/>
          </a:xfrm>
          <a:prstGeom prst="rect">
            <a:avLst/>
          </a:prstGeom>
          <a:noFill/>
        </p:spPr>
        <p:txBody>
          <a:bodyPr wrap="none">
            <a:spAutoFit/>
          </a:bodyPr>
          <a:lstStyle/>
          <a:p>
            <a:pPr algn="ctr">
              <a:defRPr sz="1600" b="1">
                <a:solidFill>
                  <a:srgbClr val="23282D"/>
                </a:solidFill>
              </a:defRPr>
            </a:pPr>
            <a:r>
              <a:t>100 Sales</a:t>
            </a:r>
            <a:br/>
            <a:r>
              <a:t>records</a:t>
            </a:r>
          </a:p>
        </p:txBody>
      </p:sp>
      <p:sp>
        <p:nvSpPr>
          <p:cNvPr id="9" name="Right Arrow 8"/>
          <p:cNvSpPr/>
          <p:nvPr/>
        </p:nvSpPr>
        <p:spPr>
          <a:xfrm>
            <a:off x="2414016" y="1746504"/>
            <a:ext cx="73152"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3744" y="1417320"/>
            <a:ext cx="219456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3472" y="1618488"/>
            <a:ext cx="1975104" cy="685800"/>
          </a:xfrm>
          <a:prstGeom prst="rect">
            <a:avLst/>
          </a:prstGeom>
          <a:noFill/>
        </p:spPr>
        <p:txBody>
          <a:bodyPr wrap="none">
            <a:spAutoFit/>
          </a:bodyPr>
          <a:lstStyle/>
          <a:p>
            <a:pPr algn="ctr">
              <a:defRPr sz="1600" b="1">
                <a:solidFill>
                  <a:srgbClr val="23282D"/>
                </a:solidFill>
              </a:defRPr>
            </a:pPr>
            <a:r>
              <a:t>Sharing Rule</a:t>
            </a:r>
            <a:br/>
            <a:r>
              <a:t>→ Finance</a:t>
            </a:r>
          </a:p>
        </p:txBody>
      </p:sp>
      <p:sp>
        <p:nvSpPr>
          <p:cNvPr id="12" name="Right Arrow 11"/>
          <p:cNvSpPr/>
          <p:nvPr/>
        </p:nvSpPr>
        <p:spPr>
          <a:xfrm>
            <a:off x="4754880" y="1746504"/>
            <a:ext cx="73152"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64608" y="1417320"/>
            <a:ext cx="219456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4336" y="1618488"/>
            <a:ext cx="1975104" cy="685800"/>
          </a:xfrm>
          <a:prstGeom prst="rect">
            <a:avLst/>
          </a:prstGeom>
          <a:noFill/>
        </p:spPr>
        <p:txBody>
          <a:bodyPr wrap="none">
            <a:spAutoFit/>
          </a:bodyPr>
          <a:lstStyle/>
          <a:p>
            <a:pPr algn="ctr">
              <a:defRPr sz="1600" b="1">
                <a:solidFill>
                  <a:srgbClr val="23282D"/>
                </a:solidFill>
              </a:defRPr>
            </a:pPr>
            <a:r>
              <a:t>Finance has</a:t>
            </a:r>
            <a:br/>
            <a:r>
              <a:t>100 records</a:t>
            </a:r>
          </a:p>
        </p:txBody>
      </p:sp>
      <p:sp>
        <p:nvSpPr>
          <p:cNvPr id="15" name="Right Arrow 14"/>
          <p:cNvSpPr/>
          <p:nvPr/>
        </p:nvSpPr>
        <p:spPr>
          <a:xfrm>
            <a:off x="7095744" y="1746504"/>
            <a:ext cx="73152"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05472" y="1417320"/>
            <a:ext cx="219456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618488"/>
            <a:ext cx="1975104" cy="685800"/>
          </a:xfrm>
          <a:prstGeom prst="rect">
            <a:avLst/>
          </a:prstGeom>
          <a:noFill/>
        </p:spPr>
        <p:txBody>
          <a:bodyPr wrap="none">
            <a:spAutoFit/>
          </a:bodyPr>
          <a:lstStyle/>
          <a:p>
            <a:pPr algn="ctr">
              <a:defRPr sz="1600" b="1">
                <a:solidFill>
                  <a:srgbClr val="23282D"/>
                </a:solidFill>
              </a:defRPr>
            </a:pPr>
            <a:r>
              <a:t>Restriction Rule</a:t>
            </a:r>
            <a:br/>
            <a:r>
              <a:t>Region = West</a:t>
            </a:r>
          </a:p>
        </p:txBody>
      </p:sp>
      <p:sp>
        <p:nvSpPr>
          <p:cNvPr id="18" name="Right Arrow 17"/>
          <p:cNvSpPr/>
          <p:nvPr/>
        </p:nvSpPr>
        <p:spPr>
          <a:xfrm>
            <a:off x="9436607" y="1746504"/>
            <a:ext cx="73152"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46336" y="1417320"/>
            <a:ext cx="2194560" cy="1051560"/>
          </a:xfrm>
          <a:prstGeom prst="roundRect">
            <a:avLst/>
          </a:prstGeom>
          <a:solidFill>
            <a:srgbClr val="FFFFFF"/>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6063" y="1618488"/>
            <a:ext cx="1975104" cy="685800"/>
          </a:xfrm>
          <a:prstGeom prst="rect">
            <a:avLst/>
          </a:prstGeom>
          <a:noFill/>
        </p:spPr>
        <p:txBody>
          <a:bodyPr wrap="none">
            <a:spAutoFit/>
          </a:bodyPr>
          <a:lstStyle/>
          <a:p>
            <a:pPr algn="ctr">
              <a:defRPr sz="1600" b="1">
                <a:solidFill>
                  <a:srgbClr val="23282D"/>
                </a:solidFill>
              </a:defRPr>
            </a:pPr>
            <a:r>
              <a:t>Finance sees</a:t>
            </a:r>
            <a:br/>
            <a:r>
              <a:t>30 records</a:t>
            </a:r>
          </a:p>
        </p:txBody>
      </p:sp>
      <p:sp>
        <p:nvSpPr>
          <p:cNvPr id="21" name="Rounded Rectangle 20"/>
          <p:cNvSpPr/>
          <p:nvPr/>
        </p:nvSpPr>
        <p:spPr>
          <a:xfrm>
            <a:off x="1005840" y="3154680"/>
            <a:ext cx="4480560" cy="1508760"/>
          </a:xfrm>
          <a:prstGeom prst="roundRect">
            <a:avLst/>
          </a:prstGeom>
          <a:solidFill>
            <a:srgbClr val="E8F7EE"/>
          </a:solidFill>
          <a:ln w="19050">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3264408"/>
            <a:ext cx="4151376" cy="347472"/>
          </a:xfrm>
          <a:prstGeom prst="rect">
            <a:avLst/>
          </a:prstGeom>
          <a:noFill/>
        </p:spPr>
        <p:txBody>
          <a:bodyPr wrap="none">
            <a:spAutoFit/>
          </a:bodyPr>
          <a:lstStyle/>
          <a:p>
            <a:pPr>
              <a:defRPr sz="1600" b="1">
                <a:solidFill>
                  <a:srgbClr val="26915F"/>
                </a:solidFill>
              </a:defRPr>
            </a:pPr>
            <a:r>
              <a:t>Before restriction</a:t>
            </a:r>
          </a:p>
        </p:txBody>
      </p:sp>
      <p:sp>
        <p:nvSpPr>
          <p:cNvPr id="23" name="TextBox 22"/>
          <p:cNvSpPr txBox="1"/>
          <p:nvPr/>
        </p:nvSpPr>
        <p:spPr>
          <a:xfrm>
            <a:off x="1170432" y="3657600"/>
            <a:ext cx="4151376" cy="886967"/>
          </a:xfrm>
          <a:prstGeom prst="rect">
            <a:avLst/>
          </a:prstGeom>
          <a:noFill/>
        </p:spPr>
        <p:txBody>
          <a:bodyPr wrap="square">
            <a:spAutoFit/>
          </a:bodyPr>
          <a:lstStyle/>
          <a:p>
            <a:pPr>
              <a:defRPr sz="1350">
                <a:solidFill>
                  <a:srgbClr val="23282D"/>
                </a:solidFill>
              </a:defRPr>
            </a:pPr>
            <a:r>
              <a:t>Client A – West ✅</a:t>
            </a:r>
            <a:br/>
            <a:r>
              <a:t>Client B – East ✅</a:t>
            </a:r>
            <a:br/>
            <a:r>
              <a:t>Client C – West ✅</a:t>
            </a:r>
            <a:br/>
            <a:r>
              <a:t>Client D – East ✅</a:t>
            </a:r>
          </a:p>
        </p:txBody>
      </p:sp>
      <p:sp>
        <p:nvSpPr>
          <p:cNvPr id="24" name="Rounded Rectangle 23"/>
          <p:cNvSpPr/>
          <p:nvPr/>
        </p:nvSpPr>
        <p:spPr>
          <a:xfrm>
            <a:off x="6583680" y="3154680"/>
            <a:ext cx="4480560" cy="1508760"/>
          </a:xfrm>
          <a:prstGeom prst="roundRect">
            <a:avLst/>
          </a:prstGeom>
          <a:solidFill>
            <a:srgbClr val="FCEBEB"/>
          </a:solidFill>
          <a:ln w="19050">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48272" y="3264408"/>
            <a:ext cx="4151376" cy="347472"/>
          </a:xfrm>
          <a:prstGeom prst="rect">
            <a:avLst/>
          </a:prstGeom>
          <a:noFill/>
        </p:spPr>
        <p:txBody>
          <a:bodyPr wrap="none">
            <a:spAutoFit/>
          </a:bodyPr>
          <a:lstStyle/>
          <a:p>
            <a:pPr>
              <a:defRPr sz="1600" b="1">
                <a:solidFill>
                  <a:srgbClr val="BE3737"/>
                </a:solidFill>
              </a:defRPr>
            </a:pPr>
            <a:r>
              <a:t>After restriction</a:t>
            </a:r>
          </a:p>
        </p:txBody>
      </p:sp>
      <p:sp>
        <p:nvSpPr>
          <p:cNvPr id="26" name="TextBox 25"/>
          <p:cNvSpPr txBox="1"/>
          <p:nvPr/>
        </p:nvSpPr>
        <p:spPr>
          <a:xfrm>
            <a:off x="6748272" y="3657600"/>
            <a:ext cx="4151376" cy="886967"/>
          </a:xfrm>
          <a:prstGeom prst="rect">
            <a:avLst/>
          </a:prstGeom>
          <a:noFill/>
        </p:spPr>
        <p:txBody>
          <a:bodyPr wrap="square">
            <a:spAutoFit/>
          </a:bodyPr>
          <a:lstStyle/>
          <a:p>
            <a:pPr>
              <a:defRPr sz="1350">
                <a:solidFill>
                  <a:srgbClr val="23282D"/>
                </a:solidFill>
              </a:defRPr>
            </a:pPr>
            <a:r>
              <a:t>Client A – West ✅</a:t>
            </a:r>
            <a:br/>
            <a:r>
              <a:t>Client B – East ❌</a:t>
            </a:r>
            <a:br/>
            <a:r>
              <a:t>Client C – West ✅</a:t>
            </a:r>
            <a:br/>
            <a:r>
              <a:t>Client D – East ❌</a:t>
            </a:r>
          </a:p>
        </p:txBody>
      </p:sp>
      <p:sp>
        <p:nvSpPr>
          <p:cNvPr id="27" name="Rectangle 26"/>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9" name="TextBox 28"/>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34975" y="374015"/>
            <a:ext cx="11560810" cy="6307455"/>
          </a:xfrm>
          <a:prstGeom prst="rect">
            <a:avLst/>
          </a:prstGeom>
          <a:noFill/>
        </p:spPr>
        <p:txBody>
          <a:bodyPr wrap="square" rtlCol="0">
            <a:noAutofit/>
          </a:bodyPr>
          <a:p>
            <a:r>
              <a:rPr lang="en-US" altLang="en-US"/>
              <a:t>WD = Private</a:t>
            </a:r>
            <a:endParaRPr lang="en-US" altLang="en-US"/>
          </a:p>
          <a:p>
            <a:endParaRPr lang="en-US" altLang="en-US"/>
          </a:p>
          <a:p>
            <a:r>
              <a:rPr lang="en-US" altLang="en-US"/>
              <a:t>Sharing Rule → gives John access to 100 records</a:t>
            </a:r>
            <a:endParaRPr lang="en-US" altLang="en-US"/>
          </a:p>
          <a:p>
            <a:r>
              <a:rPr lang="en-US" altLang="en-US"/>
              <a:t>Then:</a:t>
            </a:r>
            <a:endParaRPr lang="en-US" altLang="en-US"/>
          </a:p>
          <a:p>
            <a:r>
              <a:rPr lang="en-US" altLang="en-US"/>
              <a:t>Restriction Rule</a:t>
            </a:r>
            <a:endParaRPr lang="en-US" altLang="en-US"/>
          </a:p>
          <a:p>
            <a:r>
              <a:rPr lang="en-US" altLang="en-US"/>
              <a:t>Region = West</a:t>
            </a:r>
            <a:endParaRPr lang="en-US" altLang="en-US"/>
          </a:p>
          <a:p>
            <a:endParaRPr lang="en-US" altLang="en-US"/>
          </a:p>
          <a:p>
            <a:r>
              <a:rPr lang="en-US" altLang="en-US"/>
              <a:t>John may only see:</a:t>
            </a:r>
            <a:endParaRPr lang="en-US" altLang="en-US"/>
          </a:p>
          <a:p>
            <a:r>
              <a:rPr lang="en-US" altLang="en-US"/>
              <a:t>30 West records</a:t>
            </a:r>
            <a:endParaRPr lang="en-US" altLang="en-US"/>
          </a:p>
          <a:p>
            <a:endParaRPr lang="en-US" altLang="en-US"/>
          </a:p>
          <a:p>
            <a:endParaRPr lang="en-US" altLang="en-US"/>
          </a:p>
          <a:p>
            <a:r>
              <a:rPr lang="en-US" altLang="en-US">
                <a:highlight>
                  <a:srgbClr val="FFFF00"/>
                </a:highlight>
              </a:rPr>
              <a:t>So Restriction Rule can reduce the effective record visibility after other sharing mechanisms have granted access.</a:t>
            </a:r>
            <a:endParaRPr lang="en-US" altLang="en-US">
              <a:highlight>
                <a:srgbClr val="FFFF00"/>
              </a:highlight>
            </a:endParaRPr>
          </a:p>
          <a:p>
            <a:r>
              <a:rPr lang="en-US" altLang="en-US">
                <a:highlight>
                  <a:srgbClr val="FFFF00"/>
                </a:highlight>
              </a:rPr>
              <a:t>This is why Salesforce describes restriction rules as further scoping data that users already have access to. </a:t>
            </a:r>
            <a:endParaRPr lang="en-US" altLang="en-US">
              <a:highlight>
                <a:srgbClr val="FFFF00"/>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836295"/>
            <a:ext cx="12191365" cy="51847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Sharing Rule vs Restriction Rule</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40080" y="1325880"/>
          <a:ext cx="10881360" cy="3566160"/>
        </p:xfrm>
        <a:graphic>
          <a:graphicData uri="http://schemas.openxmlformats.org/drawingml/2006/table">
            <a:tbl>
              <a:tblPr firstRow="1" bandRow="1">
                <a:tableStyleId>{5C22544A-7EE6-4342-B048-85BDC9FD1C3A}</a:tableStyleId>
              </a:tblPr>
              <a:tblGrid>
                <a:gridCol w="5486400"/>
                <a:gridCol w="5394960"/>
              </a:tblGrid>
              <a:tr h="713232">
                <a:tc>
                  <a:txBody>
                    <a:bodyPr/>
                    <a:lstStyle/>
                    <a:p>
                      <a:pPr>
                        <a:defRPr sz="1500" b="1">
                          <a:solidFill>
                            <a:srgbClr val="FFFFFF"/>
                          </a:solidFill>
                        </a:defRPr>
                      </a:pPr>
                      <a:r>
                        <a:t>Sharing Rule</a:t>
                      </a:r>
                    </a:p>
                  </a:txBody>
                  <a:tcPr marL="54864" marR="54864" marT="36576" marB="36576">
                    <a:solidFill>
                      <a:srgbClr val="183757"/>
                    </a:solidFill>
                  </a:tcPr>
                </a:tc>
                <a:tc>
                  <a:txBody>
                    <a:bodyPr/>
                    <a:lstStyle/>
                    <a:p>
                      <a:pPr>
                        <a:defRPr sz="1500" b="1">
                          <a:solidFill>
                            <a:srgbClr val="FFFFFF"/>
                          </a:solidFill>
                        </a:defRPr>
                      </a:pPr>
                      <a:r>
                        <a:t>Restriction Rule</a:t>
                      </a:r>
                    </a:p>
                  </a:txBody>
                  <a:tcPr marL="54864" marR="54864" marT="36576" marB="36576">
                    <a:solidFill>
                      <a:srgbClr val="183757"/>
                    </a:solidFill>
                  </a:tcPr>
                </a:tc>
              </a:tr>
              <a:tr h="713232">
                <a:tc>
                  <a:txBody>
                    <a:bodyPr/>
                    <a:lstStyle/>
                    <a:p>
                      <a:pPr>
                        <a:defRPr sz="1500" b="0">
                          <a:solidFill>
                            <a:srgbClr val="23282D"/>
                          </a:solidFill>
                        </a:defRPr>
                      </a:pPr>
                      <a:r>
                        <a:t>Expands record access.</a:t>
                      </a:r>
                    </a:p>
                  </a:txBody>
                  <a:tcPr marL="54864" marR="54864" marT="36576" marB="36576">
                    <a:solidFill>
                      <a:srgbClr val="FFFFFF"/>
                    </a:solidFill>
                  </a:tcPr>
                </a:tc>
                <a:tc>
                  <a:txBody>
                    <a:bodyPr/>
                    <a:lstStyle/>
                    <a:p>
                      <a:pPr>
                        <a:defRPr sz="1500" b="0">
                          <a:solidFill>
                            <a:srgbClr val="23282D"/>
                          </a:solidFill>
                        </a:defRPr>
                      </a:pPr>
                      <a:r>
                        <a:t>Filters / narrows record visibility.</a:t>
                      </a:r>
                    </a:p>
                  </a:txBody>
                  <a:tcPr marL="54864" marR="54864" marT="36576" marB="36576">
                    <a:solidFill>
                      <a:srgbClr val="FFFFFF"/>
                    </a:solidFill>
                  </a:tcPr>
                </a:tc>
              </a:tr>
              <a:tr h="713232">
                <a:tc>
                  <a:txBody>
                    <a:bodyPr/>
                    <a:lstStyle/>
                    <a:p>
                      <a:pPr>
                        <a:defRPr sz="1500" b="0">
                          <a:solidFill>
                            <a:srgbClr val="23282D"/>
                          </a:solidFill>
                        </a:defRPr>
                      </a:pPr>
                      <a:r>
                        <a:t>“Share these records with Finance.”</a:t>
                      </a:r>
                    </a:p>
                  </a:txBody>
                  <a:tcPr marL="54864" marR="54864" marT="36576" marB="36576">
                    <a:solidFill>
                      <a:srgbClr val="FFFFFF"/>
                    </a:solidFill>
                  </a:tcPr>
                </a:tc>
                <a:tc>
                  <a:txBody>
                    <a:bodyPr/>
                    <a:lstStyle/>
                    <a:p>
                      <a:pPr>
                        <a:defRPr sz="1500" b="0">
                          <a:solidFill>
                            <a:srgbClr val="23282D"/>
                          </a:solidFill>
                        </a:defRPr>
                      </a:pPr>
                      <a:r>
                        <a:t>“Finance can only see West records.”</a:t>
                      </a:r>
                    </a:p>
                  </a:txBody>
                  <a:tcPr marL="54864" marR="54864" marT="36576" marB="36576">
                    <a:solidFill>
                      <a:srgbClr val="FFFFFF"/>
                    </a:solidFill>
                  </a:tcPr>
                </a:tc>
              </a:tr>
              <a:tr h="713232">
                <a:tc>
                  <a:txBody>
                    <a:bodyPr/>
                    <a:lstStyle/>
                    <a:p>
                      <a:pPr>
                        <a:defRPr sz="1500" b="0">
                          <a:solidFill>
                            <a:srgbClr val="23282D"/>
                          </a:solidFill>
                        </a:defRPr>
                      </a:pPr>
                      <a:r>
                        <a:t>Designed to make more records available.</a:t>
                      </a:r>
                    </a:p>
                  </a:txBody>
                  <a:tcPr marL="54864" marR="54864" marT="36576" marB="36576">
                    <a:solidFill>
                      <a:srgbClr val="FFFFFF"/>
                    </a:solidFill>
                  </a:tcPr>
                </a:tc>
                <a:tc>
                  <a:txBody>
                    <a:bodyPr/>
                    <a:lstStyle/>
                    <a:p>
                      <a:pPr>
                        <a:defRPr sz="1500" b="0">
                          <a:solidFill>
                            <a:srgbClr val="23282D"/>
                          </a:solidFill>
                        </a:defRPr>
                      </a:pPr>
                      <a:r>
                        <a:t>Designed to refine which records are visible.</a:t>
                      </a:r>
                    </a:p>
                  </a:txBody>
                  <a:tcPr marL="54864" marR="54864" marT="36576" marB="36576">
                    <a:solidFill>
                      <a:srgbClr val="FFFFFF"/>
                    </a:solidFill>
                  </a:tcPr>
                </a:tc>
              </a:tr>
              <a:tr h="713232">
                <a:tc>
                  <a:txBody>
                    <a:bodyPr/>
                    <a:lstStyle/>
                    <a:p>
                      <a:pPr>
                        <a:defRPr sz="1500" b="0">
                          <a:solidFill>
                            <a:srgbClr val="23282D"/>
                          </a:solidFill>
                        </a:defRPr>
                      </a:pPr>
                      <a:r>
                        <a:t>Works as an additional access grant.</a:t>
                      </a:r>
                    </a:p>
                  </a:txBody>
                  <a:tcPr marL="54864" marR="54864" marT="36576" marB="36576">
                    <a:solidFill>
                      <a:srgbClr val="FFFFFF"/>
                    </a:solidFill>
                  </a:tcPr>
                </a:tc>
                <a:tc>
                  <a:txBody>
                    <a:bodyPr/>
                    <a:lstStyle/>
                    <a:p>
                      <a:pPr>
                        <a:defRPr sz="1500" b="0">
                          <a:solidFill>
                            <a:srgbClr val="23282D"/>
                          </a:solidFill>
                        </a:defRPr>
                      </a:pPr>
                      <a:r>
                        <a:t>Filters records the user otherwise has access to.</a:t>
                      </a:r>
                    </a:p>
                  </a:txBody>
                  <a:tcPr marL="54864" marR="54864" marT="36576" marB="36576">
                    <a:solidFill>
                      <a:srgbClr val="FFFFFF"/>
                    </a:solidFill>
                  </a:tcPr>
                </a:tc>
              </a:tr>
            </a:tbl>
          </a:graphicData>
        </a:graphic>
      </p:graphicFrame>
      <p:sp>
        <p:nvSpPr>
          <p:cNvPr id="7" name="Rounded Rectangle 6"/>
          <p:cNvSpPr/>
          <p:nvPr/>
        </p:nvSpPr>
        <p:spPr>
          <a:xfrm>
            <a:off x="3017520" y="5212080"/>
            <a:ext cx="6126480" cy="731520"/>
          </a:xfrm>
          <a:prstGeom prst="roundRect">
            <a:avLst/>
          </a:prstGeom>
          <a:solidFill>
            <a:srgbClr val="FDF1E4"/>
          </a:solidFill>
          <a:ln w="19050">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2112" y="5321808"/>
            <a:ext cx="5797296" cy="347472"/>
          </a:xfrm>
          <a:prstGeom prst="rect">
            <a:avLst/>
          </a:prstGeom>
          <a:noFill/>
        </p:spPr>
        <p:txBody>
          <a:bodyPr wrap="none">
            <a:spAutoFit/>
          </a:bodyPr>
          <a:lstStyle/>
          <a:p>
            <a:pPr>
              <a:defRPr sz="1600" b="1">
                <a:solidFill>
                  <a:srgbClr val="E17D23"/>
                </a:solidFill>
              </a:defRPr>
            </a:pPr>
            <a:r>
              <a:t>Memory line</a:t>
            </a:r>
          </a:p>
        </p:txBody>
      </p:sp>
      <p:sp>
        <p:nvSpPr>
          <p:cNvPr id="9" name="TextBox 8"/>
          <p:cNvSpPr txBox="1"/>
          <p:nvPr/>
        </p:nvSpPr>
        <p:spPr>
          <a:xfrm>
            <a:off x="4992370" y="5391785"/>
            <a:ext cx="5797550" cy="433070"/>
          </a:xfrm>
          <a:prstGeom prst="rect">
            <a:avLst/>
          </a:prstGeom>
          <a:noFill/>
        </p:spPr>
        <p:txBody>
          <a:bodyPr wrap="square">
            <a:noAutofit/>
          </a:bodyPr>
          <a:lstStyle/>
          <a:p>
            <a:pPr>
              <a:defRPr sz="1350">
                <a:solidFill>
                  <a:srgbClr val="23282D"/>
                </a:solidFill>
              </a:defRPr>
            </a:pPr>
            <a:r>
              <a:t>SHARING = ADD</a:t>
            </a:r>
            <a:br/>
            <a:r>
              <a:t>RESTRICTION = FILTER</a:t>
            </a:r>
          </a:p>
        </p:txBody>
      </p:sp>
      <p:sp>
        <p:nvSpPr>
          <p:cNvPr id="10" name="Rectangle 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2" name="TextBox 1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The End-to-End Security Model</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A single user can be affected by several layers at the same time.</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 y="1234440"/>
            <a:ext cx="1783080" cy="1051560"/>
          </a:xfrm>
          <a:prstGeom prst="roundRect">
            <a:avLst/>
          </a:prstGeom>
          <a:solidFill>
            <a:srgbClr val="FFFFFF"/>
          </a:solidFill>
          <a:ln>
            <a:solidFill>
              <a:srgbClr val="694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435608"/>
            <a:ext cx="1563624" cy="685800"/>
          </a:xfrm>
          <a:prstGeom prst="rect">
            <a:avLst/>
          </a:prstGeom>
          <a:noFill/>
        </p:spPr>
        <p:txBody>
          <a:bodyPr wrap="none">
            <a:spAutoFit/>
          </a:bodyPr>
          <a:lstStyle/>
          <a:p>
            <a:pPr algn="ctr">
              <a:defRPr sz="1600" b="1">
                <a:solidFill>
                  <a:srgbClr val="23282D"/>
                </a:solidFill>
              </a:defRPr>
            </a:pPr>
            <a:r>
              <a:t>Profile /</a:t>
            </a:r>
            <a:br/>
            <a:r>
              <a:t>Permission Set</a:t>
            </a:r>
          </a:p>
        </p:txBody>
      </p:sp>
      <p:sp>
        <p:nvSpPr>
          <p:cNvPr id="9" name="Right Arrow 8"/>
          <p:cNvSpPr/>
          <p:nvPr/>
        </p:nvSpPr>
        <p:spPr>
          <a:xfrm>
            <a:off x="1956816" y="1563624"/>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84831" y="1234440"/>
            <a:ext cx="1783080" cy="1051560"/>
          </a:xfrm>
          <a:prstGeom prst="roundRect">
            <a:avLst/>
          </a:prstGeom>
          <a:solidFill>
            <a:srgbClr val="E5F2FC"/>
          </a:solidFill>
          <a:ln>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94560" y="1435608"/>
            <a:ext cx="1563624" cy="685800"/>
          </a:xfrm>
          <a:prstGeom prst="rect">
            <a:avLst/>
          </a:prstGeom>
          <a:noFill/>
        </p:spPr>
        <p:txBody>
          <a:bodyPr wrap="none">
            <a:spAutoFit/>
          </a:bodyPr>
          <a:lstStyle/>
          <a:p>
            <a:pPr algn="ctr">
              <a:defRPr sz="1600" b="1">
                <a:solidFill>
                  <a:srgbClr val="23282D"/>
                </a:solidFill>
              </a:defRPr>
            </a:pPr>
            <a:r>
              <a:t>Object</a:t>
            </a:r>
            <a:br/>
            <a:r>
              <a:t>Permission</a:t>
            </a:r>
          </a:p>
        </p:txBody>
      </p:sp>
      <p:sp>
        <p:nvSpPr>
          <p:cNvPr id="12" name="Right Arrow 11"/>
          <p:cNvSpPr/>
          <p:nvPr/>
        </p:nvSpPr>
        <p:spPr>
          <a:xfrm>
            <a:off x="3904487" y="1563624"/>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32504" y="1234440"/>
            <a:ext cx="1783080" cy="1051560"/>
          </a:xfrm>
          <a:prstGeom prst="roundRect">
            <a:avLst/>
          </a:prstGeom>
          <a:solidFill>
            <a:srgbClr val="FFFFFF"/>
          </a:solidFill>
          <a:ln>
            <a:solidFill>
              <a:srgbClr val="19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42232" y="1435608"/>
            <a:ext cx="1563624" cy="685800"/>
          </a:xfrm>
          <a:prstGeom prst="rect">
            <a:avLst/>
          </a:prstGeom>
          <a:noFill/>
        </p:spPr>
        <p:txBody>
          <a:bodyPr wrap="none">
            <a:spAutoFit/>
          </a:bodyPr>
          <a:lstStyle/>
          <a:p>
            <a:pPr algn="ctr">
              <a:defRPr sz="1600" b="1">
                <a:solidFill>
                  <a:srgbClr val="23282D"/>
                </a:solidFill>
              </a:defRPr>
            </a:pPr>
            <a:r>
              <a:t>FLS</a:t>
            </a:r>
          </a:p>
        </p:txBody>
      </p:sp>
      <p:sp>
        <p:nvSpPr>
          <p:cNvPr id="15" name="Right Arrow 14"/>
          <p:cNvSpPr/>
          <p:nvPr/>
        </p:nvSpPr>
        <p:spPr>
          <a:xfrm>
            <a:off x="5852160" y="1563624"/>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80176" y="1234440"/>
            <a:ext cx="1783080" cy="1051560"/>
          </a:xfrm>
          <a:prstGeom prst="roundRect">
            <a:avLst/>
          </a:prstGeom>
          <a:solidFill>
            <a:srgbClr val="FFFFFF"/>
          </a:solidFill>
          <a:ln>
            <a:solidFill>
              <a:srgbClr val="E17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9904" y="1435608"/>
            <a:ext cx="1563624" cy="685800"/>
          </a:xfrm>
          <a:prstGeom prst="rect">
            <a:avLst/>
          </a:prstGeom>
          <a:noFill/>
        </p:spPr>
        <p:txBody>
          <a:bodyPr wrap="none">
            <a:spAutoFit/>
          </a:bodyPr>
          <a:lstStyle/>
          <a:p>
            <a:pPr algn="ctr">
              <a:defRPr sz="1600" b="1">
                <a:solidFill>
                  <a:srgbClr val="23282D"/>
                </a:solidFill>
              </a:defRPr>
            </a:pPr>
            <a:r>
              <a:t>OWD</a:t>
            </a:r>
          </a:p>
        </p:txBody>
      </p:sp>
      <p:sp>
        <p:nvSpPr>
          <p:cNvPr id="18" name="Right Arrow 17"/>
          <p:cNvSpPr/>
          <p:nvPr/>
        </p:nvSpPr>
        <p:spPr>
          <a:xfrm>
            <a:off x="7799831" y="1563624"/>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27848" y="1234440"/>
            <a:ext cx="1783080" cy="1051560"/>
          </a:xfrm>
          <a:prstGeom prst="roundRect">
            <a:avLst/>
          </a:prstGeom>
          <a:solidFill>
            <a:srgbClr val="FFFFFF"/>
          </a:solidFill>
          <a:ln>
            <a:solidFill>
              <a:srgbClr val="269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37575" y="1435608"/>
            <a:ext cx="1563624" cy="685800"/>
          </a:xfrm>
          <a:prstGeom prst="rect">
            <a:avLst/>
          </a:prstGeom>
          <a:noFill/>
        </p:spPr>
        <p:txBody>
          <a:bodyPr wrap="none">
            <a:spAutoFit/>
          </a:bodyPr>
          <a:lstStyle/>
          <a:p>
            <a:pPr algn="ctr">
              <a:defRPr sz="1600" b="1">
                <a:solidFill>
                  <a:srgbClr val="23282D"/>
                </a:solidFill>
              </a:defRPr>
            </a:pPr>
            <a:r>
              <a:t>Role /</a:t>
            </a:r>
            <a:br/>
            <a:r>
              <a:t>Sharing</a:t>
            </a:r>
          </a:p>
        </p:txBody>
      </p:sp>
      <p:sp>
        <p:nvSpPr>
          <p:cNvPr id="21" name="Right Arrow 20"/>
          <p:cNvSpPr/>
          <p:nvPr/>
        </p:nvSpPr>
        <p:spPr>
          <a:xfrm>
            <a:off x="9747503" y="1563624"/>
            <a:ext cx="91439" cy="384048"/>
          </a:xfrm>
          <a:prstGeom prst="rightArrow">
            <a:avLst/>
          </a:prstGeom>
          <a:solidFill>
            <a:srgbClr val="5A6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75519" y="1234440"/>
            <a:ext cx="1783080" cy="1051560"/>
          </a:xfrm>
          <a:prstGeom prst="roundRect">
            <a:avLst/>
          </a:prstGeom>
          <a:solidFill>
            <a:srgbClr val="FFFFFF"/>
          </a:solidFill>
          <a:ln>
            <a:solidFill>
              <a:srgbClr val="BE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5247" y="1435608"/>
            <a:ext cx="1563624" cy="685800"/>
          </a:xfrm>
          <a:prstGeom prst="rect">
            <a:avLst/>
          </a:prstGeom>
          <a:noFill/>
        </p:spPr>
        <p:txBody>
          <a:bodyPr wrap="none">
            <a:spAutoFit/>
          </a:bodyPr>
          <a:lstStyle/>
          <a:p>
            <a:pPr algn="ctr">
              <a:defRPr sz="1600" b="1">
                <a:solidFill>
                  <a:srgbClr val="23282D"/>
                </a:solidFill>
              </a:defRPr>
            </a:pPr>
            <a:r>
              <a:t>Restriction</a:t>
            </a:r>
            <a:br/>
            <a:r>
              <a:t>Filter</a:t>
            </a:r>
          </a:p>
        </p:txBody>
      </p:sp>
      <p:sp>
        <p:nvSpPr>
          <p:cNvPr id="24" name="Rounded Rectangle 23"/>
          <p:cNvSpPr/>
          <p:nvPr/>
        </p:nvSpPr>
        <p:spPr>
          <a:xfrm>
            <a:off x="1097280" y="2971800"/>
            <a:ext cx="9966960" cy="2240280"/>
          </a:xfrm>
          <a:prstGeom prst="roundRect">
            <a:avLst/>
          </a:prstGeom>
          <a:solidFill>
            <a:srgbClr val="E5F2FC"/>
          </a:solidFill>
          <a:ln w="19050">
            <a:solidFill>
              <a:srgbClr val="207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61872" y="3081528"/>
            <a:ext cx="9637776" cy="347472"/>
          </a:xfrm>
          <a:prstGeom prst="rect">
            <a:avLst/>
          </a:prstGeom>
          <a:noFill/>
        </p:spPr>
        <p:txBody>
          <a:bodyPr wrap="none">
            <a:spAutoFit/>
          </a:bodyPr>
          <a:lstStyle/>
          <a:p>
            <a:pPr>
              <a:defRPr sz="1600" b="1">
                <a:solidFill>
                  <a:srgbClr val="2079BE"/>
                </a:solidFill>
              </a:defRPr>
            </a:pPr>
            <a:r>
              <a:t>Example outcome</a:t>
            </a:r>
          </a:p>
        </p:txBody>
      </p:sp>
      <p:sp>
        <p:nvSpPr>
          <p:cNvPr id="26" name="TextBox 25"/>
          <p:cNvSpPr txBox="1"/>
          <p:nvPr/>
        </p:nvSpPr>
        <p:spPr>
          <a:xfrm>
            <a:off x="1261872" y="3474720"/>
            <a:ext cx="9637776" cy="1618488"/>
          </a:xfrm>
          <a:prstGeom prst="rect">
            <a:avLst/>
          </a:prstGeom>
          <a:noFill/>
        </p:spPr>
        <p:txBody>
          <a:bodyPr wrap="square">
            <a:spAutoFit/>
          </a:bodyPr>
          <a:lstStyle/>
          <a:p>
            <a:pPr>
              <a:defRPr sz="1350">
                <a:solidFill>
                  <a:srgbClr val="23282D"/>
                </a:solidFill>
              </a:defRPr>
            </a:pPr>
            <a:r>
              <a:t>John has Opportunity Read permission → can use the object.</a:t>
            </a:r>
            <a:br/>
            <a:r>
              <a:t>OWD = Private → he does not see every record.</a:t>
            </a:r>
            <a:br/>
            <a:r>
              <a:t>Role Hierarchy / Sharing Rule → additional records become available.</a:t>
            </a:r>
            <a:br/>
            <a:r>
              <a:t>FLS hides Commission__c → field remains invisible.</a:t>
            </a:r>
            <a:br/>
            <a:r>
              <a:t>Restriction Rule → some otherwise-available records may be filtered.</a:t>
            </a:r>
          </a:p>
        </p:txBody>
      </p:sp>
      <p:sp>
        <p:nvSpPr>
          <p:cNvPr id="27" name="Rectangle 26"/>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29" name="TextBox 28"/>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550" y="269875"/>
            <a:ext cx="11732895" cy="6194425"/>
          </a:xfrm>
          <a:prstGeom prst="rect">
            <a:avLst/>
          </a:prstGeom>
          <a:noFill/>
        </p:spPr>
        <p:txBody>
          <a:bodyPr wrap="square" rtlCol="0">
            <a:noAutofit/>
          </a:bodyPr>
          <a:p>
            <a:r>
              <a:rPr lang="en-US" altLang="en-US"/>
              <a:t>In Salesforce, </a:t>
            </a:r>
            <a:r>
              <a:rPr lang="en-US" altLang="en-US">
                <a:highlight>
                  <a:srgbClr val="FFFF00"/>
                </a:highlight>
              </a:rPr>
              <a:t>View All Records, Modify All Records, and View All Fields </a:t>
            </a:r>
            <a:r>
              <a:rPr lang="en-US" altLang="en-US"/>
              <a:t>are powerful object-level permissions. </a:t>
            </a:r>
            <a:endParaRPr lang="en-US" altLang="en-US"/>
          </a:p>
          <a:p>
            <a:r>
              <a:rPr lang="en-US" altLang="en-US"/>
              <a:t>They let users bypass normal sharing rules, role hierarchies, and field security settings for a specific object.</a:t>
            </a:r>
            <a:endParaRPr lang="en-US" altLang="en-US"/>
          </a:p>
          <a:p>
            <a:endParaRPr lang="en-US" altLang="en-US">
              <a:highlight>
                <a:srgbClr val="FFFF00"/>
              </a:highlight>
            </a:endParaRPr>
          </a:p>
          <a:p>
            <a:r>
              <a:rPr lang="en-US" altLang="en-US">
                <a:highlight>
                  <a:srgbClr val="FFFF00"/>
                </a:highlight>
              </a:rPr>
              <a:t>View All Records (View All)-</a:t>
            </a:r>
            <a:endParaRPr lang="en-US" altLang="en-US">
              <a:highlight>
                <a:srgbClr val="FFFF00"/>
              </a:highlight>
            </a:endParaRPr>
          </a:p>
          <a:p>
            <a:r>
              <a:rPr lang="en-US" altLang="en-US"/>
              <a:t>What it does: Lets a user view every record for a specific object, even if sharing settings are private.</a:t>
            </a:r>
            <a:endParaRPr lang="en-US" altLang="en-US"/>
          </a:p>
          <a:p>
            <a:r>
              <a:rPr lang="en-US" altLang="en-US"/>
              <a:t>Key detail: It ignores sharing rules and role hierarchies, but it does not let the user edit or delete records.</a:t>
            </a:r>
            <a:endParaRPr lang="en-US" altLang="en-US"/>
          </a:p>
          <a:p>
            <a:r>
              <a:rPr lang="en-US" altLang="en-US"/>
              <a:t>Use case: Managers or auditors who need to read all data across a department without owning the records.</a:t>
            </a:r>
            <a:endParaRPr lang="en-US" altLang="en-US"/>
          </a:p>
          <a:p>
            <a:endParaRPr lang="en-US" altLang="en-US"/>
          </a:p>
          <a:p>
            <a:r>
              <a:rPr lang="en-US" altLang="en-US">
                <a:highlight>
                  <a:srgbClr val="FFFF00"/>
                </a:highlight>
              </a:rPr>
              <a:t>Modify All Records (Modify All)-</a:t>
            </a:r>
            <a:endParaRPr lang="en-US" altLang="en-US">
              <a:highlight>
                <a:srgbClr val="FFFF00"/>
              </a:highlight>
            </a:endParaRPr>
          </a:p>
          <a:p>
            <a:r>
              <a:rPr lang="en-US" altLang="en-US"/>
              <a:t>-What it does: Lets a user view, edit, create, and delete all records for a specific object.</a:t>
            </a:r>
            <a:endParaRPr lang="en-US" altLang="en-US"/>
          </a:p>
          <a:p>
            <a:r>
              <a:rPr lang="en-US" altLang="en-US"/>
              <a:t>Key detail: It overrides sharing rules, meaning users can edit or delete records they do not own.</a:t>
            </a:r>
            <a:endParaRPr lang="en-US" altLang="en-US"/>
          </a:p>
          <a:p>
            <a:r>
              <a:rPr lang="en-US" altLang="en-US"/>
              <a:t>Use case: Data cleanup teams or system administrators who need full control over a specific object's data.</a:t>
            </a:r>
            <a:endParaRPr lang="en-US" altLang="en-US"/>
          </a:p>
          <a:p>
            <a:endParaRPr lang="en-US" altLang="en-US"/>
          </a:p>
          <a:p>
            <a:r>
              <a:rPr lang="en-US" altLang="en-US">
                <a:highlight>
                  <a:srgbClr val="FFFF00"/>
                </a:highlight>
              </a:rPr>
              <a:t>View All Fields-</a:t>
            </a:r>
            <a:endParaRPr lang="en-US" altLang="en-US">
              <a:highlight>
                <a:srgbClr val="FFFF00"/>
              </a:highlight>
            </a:endParaRPr>
          </a:p>
          <a:p>
            <a:r>
              <a:rPr lang="en-US" altLang="en-US"/>
              <a:t>What it does: Lets a user view every single field on a specific object's records.</a:t>
            </a:r>
            <a:endParaRPr lang="en-US" altLang="en-US"/>
          </a:p>
          <a:p>
            <a:r>
              <a:rPr lang="en-US" altLang="en-US"/>
              <a:t>Key detail: It overrides Field-Level Security (FLS). If a regular profile hides a sensitive field (like a salary or ID number), this permission unhides and shows it.</a:t>
            </a:r>
            <a:endParaRPr lang="en-US" altLang="en-US"/>
          </a:p>
          <a:p>
            <a:r>
              <a:rPr lang="en-US" altLang="en-US"/>
              <a:t>Use case: Special integration users, reporting tools, or compliance officers who require total data transparency for that object.</a:t>
            </a: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3061335" cy="506730"/>
          </a:xfrm>
          <a:prstGeom prst="rect">
            <a:avLst/>
          </a:prstGeom>
          <a:noFill/>
        </p:spPr>
        <p:txBody>
          <a:bodyPr wrap="none">
            <a:spAutoFit/>
          </a:bodyPr>
          <a:lstStyle/>
          <a:p>
            <a:pPr>
              <a:defRPr sz="2700" b="1">
                <a:solidFill>
                  <a:srgbClr val="FFFFFF"/>
                </a:solidFill>
              </a:defRPr>
            </a:pPr>
            <a:r>
              <a:t>Common Questions </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10789920" cy="2751455"/>
          </a:xfrm>
          <a:prstGeom prst="rect">
            <a:avLst/>
          </a:prstGeom>
          <a:noFill/>
        </p:spPr>
        <p:txBody>
          <a:bodyPr wrap="square" lIns="45720" tIns="18288" rIns="45720">
            <a:spAutoFit/>
          </a:bodyPr>
          <a:lstStyle/>
          <a:p>
            <a:pPr>
              <a:spcAft>
                <a:spcPts val="800"/>
              </a:spcAft>
              <a:defRPr sz="1600">
                <a:solidFill>
                  <a:srgbClr val="23282D"/>
                </a:solidFill>
              </a:defRPr>
            </a:pPr>
            <a:r>
              <a:t>If OWD is Private, can a manager still see a rep's records? </a:t>
            </a:r>
          </a:p>
          <a:p>
            <a:pPr>
              <a:spcAft>
                <a:spcPts val="800"/>
              </a:spcAft>
              <a:defRPr sz="1600">
                <a:solidFill>
                  <a:srgbClr val="23282D"/>
                </a:solidFill>
              </a:defRPr>
            </a:pPr>
            <a:r>
              <a:t>Can a Sharing Rule make access more restrictive than OWD? </a:t>
            </a:r>
          </a:p>
          <a:p>
            <a:pPr>
              <a:spcAft>
                <a:spcPts val="800"/>
              </a:spcAft>
              <a:defRPr sz="1600">
                <a:solidFill>
                  <a:srgbClr val="23282D"/>
                </a:solidFill>
              </a:defRPr>
            </a:pPr>
            <a:r>
              <a:t>Can a Permission Set give someone access to a record they cannot otherwise access? </a:t>
            </a:r>
          </a:p>
          <a:p>
            <a:pPr>
              <a:spcAft>
                <a:spcPts val="800"/>
              </a:spcAft>
              <a:defRPr sz="1600">
                <a:solidFill>
                  <a:srgbClr val="23282D"/>
                </a:solidFill>
              </a:defRPr>
            </a:pPr>
            <a:r>
              <a:t>If FLS hides a field but Page Layout shows it, what happens? </a:t>
            </a:r>
          </a:p>
          <a:p>
            <a:pPr>
              <a:spcAft>
                <a:spcPts val="800"/>
              </a:spcAft>
              <a:defRPr sz="1600">
                <a:solidFill>
                  <a:srgbClr val="23282D"/>
                </a:solidFill>
              </a:defRPr>
            </a:pPr>
            <a:r>
              <a:t>Is Role the same as Profile? </a:t>
            </a:r>
          </a:p>
          <a:p>
            <a:pPr>
              <a:spcAft>
                <a:spcPts val="800"/>
              </a:spcAft>
              <a:defRPr sz="1600">
                <a:solidFill>
                  <a:srgbClr val="23282D"/>
                </a:solidFill>
              </a:defRPr>
            </a:pPr>
            <a:r>
              <a:t>Is Manual Sharing suitable for 10,000 recurring records?</a:t>
            </a:r>
          </a:p>
          <a:p>
            <a:pPr>
              <a:spcAft>
                <a:spcPts val="800"/>
              </a:spcAft>
              <a:defRPr sz="1600">
                <a:solidFill>
                  <a:srgbClr val="23282D"/>
                </a:solidFill>
              </a:defRPr>
            </a:pPr>
            <a:r>
              <a:t>Can a Restriction Rule filter records a user otherwise has access to? </a:t>
            </a:r>
          </a:p>
          <a:p>
            <a:pPr>
              <a:spcAft>
                <a:spcPts val="800"/>
              </a:spcAft>
              <a:defRPr sz="1600">
                <a:solidFill>
                  <a:srgbClr val="23282D"/>
                </a:solidFill>
              </a:defRPr>
            </a:pPr>
            <a:r>
              <a:t>Does a Restriction Rule remove object Read permission? </a:t>
            </a:r>
          </a:p>
        </p:txBody>
      </p:sp>
      <p:sp>
        <p:nvSpPr>
          <p:cNvPr id="7" name="Rectangle 6"/>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9" name="TextBox 8"/>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29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1885" cy="506730"/>
          </a:xfrm>
          <a:prstGeom prst="rect">
            <a:avLst/>
          </a:prstGeom>
          <a:noFill/>
        </p:spPr>
        <p:txBody>
          <a:bodyPr wrap="none">
            <a:spAutoFit/>
          </a:bodyPr>
          <a:lstStyle/>
          <a:p>
            <a:pPr>
              <a:defRPr sz="2700" b="1">
                <a:solidFill>
                  <a:srgbClr val="FFFFFF"/>
                </a:solidFill>
              </a:defRPr>
            </a:pPr>
            <a:r>
              <a:t>Demo </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Use the same sequence every time you teach this topic.</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051560"/>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106424"/>
            <a:ext cx="411480" cy="274320"/>
          </a:xfrm>
          <a:prstGeom prst="rect">
            <a:avLst/>
          </a:prstGeom>
          <a:noFill/>
        </p:spPr>
        <p:txBody>
          <a:bodyPr wrap="none">
            <a:spAutoFit/>
          </a:bodyPr>
          <a:lstStyle/>
          <a:p>
            <a:pPr algn="ctr">
              <a:defRPr sz="1300" b="1">
                <a:solidFill>
                  <a:srgbClr val="FFFFFF"/>
                </a:solidFill>
              </a:defRPr>
            </a:pPr>
            <a:r>
              <a:t>1</a:t>
            </a:r>
          </a:p>
        </p:txBody>
      </p:sp>
      <p:sp>
        <p:nvSpPr>
          <p:cNvPr id="9" name="TextBox 8"/>
          <p:cNvSpPr txBox="1"/>
          <p:nvPr/>
        </p:nvSpPr>
        <p:spPr>
          <a:xfrm>
            <a:off x="1280160" y="1033271"/>
            <a:ext cx="2743200" cy="320040"/>
          </a:xfrm>
          <a:prstGeom prst="rect">
            <a:avLst/>
          </a:prstGeom>
          <a:noFill/>
        </p:spPr>
        <p:txBody>
          <a:bodyPr wrap="none">
            <a:spAutoFit/>
          </a:bodyPr>
          <a:lstStyle/>
          <a:p>
            <a:pPr>
              <a:defRPr sz="1600" b="1">
                <a:solidFill>
                  <a:srgbClr val="183757"/>
                </a:solidFill>
              </a:defRPr>
            </a:pPr>
            <a:r>
              <a:t>Set OWD = Private</a:t>
            </a:r>
          </a:p>
        </p:txBody>
      </p:sp>
      <p:sp>
        <p:nvSpPr>
          <p:cNvPr id="10" name="TextBox 9"/>
          <p:cNvSpPr txBox="1"/>
          <p:nvPr/>
        </p:nvSpPr>
        <p:spPr>
          <a:xfrm>
            <a:off x="3977639" y="1033271"/>
            <a:ext cx="7223760" cy="502920"/>
          </a:xfrm>
          <a:prstGeom prst="rect">
            <a:avLst/>
          </a:prstGeom>
          <a:noFill/>
        </p:spPr>
        <p:txBody>
          <a:bodyPr wrap="none">
            <a:spAutoFit/>
          </a:bodyPr>
          <a:lstStyle/>
          <a:p>
            <a:pPr>
              <a:defRPr sz="1350">
                <a:solidFill>
                  <a:srgbClr val="23282D"/>
                </a:solidFill>
              </a:defRPr>
            </a:pPr>
            <a:r>
              <a:t>Login as John/Sarah and prove users see their own records.</a:t>
            </a:r>
          </a:p>
        </p:txBody>
      </p:sp>
      <p:sp>
        <p:nvSpPr>
          <p:cNvPr id="11" name="Oval 10"/>
          <p:cNvSpPr/>
          <p:nvPr/>
        </p:nvSpPr>
        <p:spPr>
          <a:xfrm>
            <a:off x="685800" y="1874519"/>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29384"/>
            <a:ext cx="411480" cy="274320"/>
          </a:xfrm>
          <a:prstGeom prst="rect">
            <a:avLst/>
          </a:prstGeom>
          <a:noFill/>
        </p:spPr>
        <p:txBody>
          <a:bodyPr wrap="none">
            <a:spAutoFit/>
          </a:bodyPr>
          <a:lstStyle/>
          <a:p>
            <a:pPr algn="ctr">
              <a:defRPr sz="1300" b="1">
                <a:solidFill>
                  <a:srgbClr val="FFFFFF"/>
                </a:solidFill>
              </a:defRPr>
            </a:pPr>
            <a:r>
              <a:t>2</a:t>
            </a:r>
          </a:p>
        </p:txBody>
      </p:sp>
      <p:sp>
        <p:nvSpPr>
          <p:cNvPr id="13" name="TextBox 12"/>
          <p:cNvSpPr txBox="1"/>
          <p:nvPr/>
        </p:nvSpPr>
        <p:spPr>
          <a:xfrm>
            <a:off x="1280160" y="1856231"/>
            <a:ext cx="2743200" cy="320040"/>
          </a:xfrm>
          <a:prstGeom prst="rect">
            <a:avLst/>
          </a:prstGeom>
          <a:noFill/>
        </p:spPr>
        <p:txBody>
          <a:bodyPr wrap="none">
            <a:spAutoFit/>
          </a:bodyPr>
          <a:lstStyle/>
          <a:p>
            <a:pPr>
              <a:defRPr sz="1600" b="1">
                <a:solidFill>
                  <a:srgbClr val="183757"/>
                </a:solidFill>
              </a:defRPr>
            </a:pPr>
            <a:r>
              <a:t>Show Role Hierarchy</a:t>
            </a:r>
          </a:p>
        </p:txBody>
      </p:sp>
      <p:sp>
        <p:nvSpPr>
          <p:cNvPr id="14" name="TextBox 13"/>
          <p:cNvSpPr txBox="1"/>
          <p:nvPr/>
        </p:nvSpPr>
        <p:spPr>
          <a:xfrm>
            <a:off x="3977639" y="1856231"/>
            <a:ext cx="7223760" cy="502920"/>
          </a:xfrm>
          <a:prstGeom prst="rect">
            <a:avLst/>
          </a:prstGeom>
          <a:noFill/>
        </p:spPr>
        <p:txBody>
          <a:bodyPr wrap="none">
            <a:spAutoFit/>
          </a:bodyPr>
          <a:lstStyle/>
          <a:p>
            <a:pPr>
              <a:defRPr sz="1350">
                <a:solidFill>
                  <a:srgbClr val="23282D"/>
                </a:solidFill>
              </a:defRPr>
            </a:pPr>
            <a:r>
              <a:t>Login as Sales Manager and show access to rep records.</a:t>
            </a:r>
          </a:p>
        </p:txBody>
      </p:sp>
      <p:sp>
        <p:nvSpPr>
          <p:cNvPr id="15" name="Oval 14"/>
          <p:cNvSpPr/>
          <p:nvPr/>
        </p:nvSpPr>
        <p:spPr>
          <a:xfrm>
            <a:off x="685800" y="2697480"/>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52344"/>
            <a:ext cx="411480" cy="274320"/>
          </a:xfrm>
          <a:prstGeom prst="rect">
            <a:avLst/>
          </a:prstGeom>
          <a:noFill/>
        </p:spPr>
        <p:txBody>
          <a:bodyPr wrap="none">
            <a:spAutoFit/>
          </a:bodyPr>
          <a:lstStyle/>
          <a:p>
            <a:pPr algn="ctr">
              <a:defRPr sz="1300" b="1">
                <a:solidFill>
                  <a:srgbClr val="FFFFFF"/>
                </a:solidFill>
              </a:defRPr>
            </a:pPr>
            <a:r>
              <a:t>3</a:t>
            </a:r>
          </a:p>
        </p:txBody>
      </p:sp>
      <p:sp>
        <p:nvSpPr>
          <p:cNvPr id="17" name="TextBox 16"/>
          <p:cNvSpPr txBox="1"/>
          <p:nvPr/>
        </p:nvSpPr>
        <p:spPr>
          <a:xfrm>
            <a:off x="1280160" y="2679192"/>
            <a:ext cx="2743200" cy="320040"/>
          </a:xfrm>
          <a:prstGeom prst="rect">
            <a:avLst/>
          </a:prstGeom>
          <a:noFill/>
        </p:spPr>
        <p:txBody>
          <a:bodyPr wrap="none">
            <a:spAutoFit/>
          </a:bodyPr>
          <a:lstStyle/>
          <a:p>
            <a:pPr>
              <a:defRPr sz="1600" b="1">
                <a:solidFill>
                  <a:srgbClr val="183757"/>
                </a:solidFill>
              </a:defRPr>
            </a:pPr>
            <a:r>
              <a:t>Create Public Group</a:t>
            </a:r>
          </a:p>
        </p:txBody>
      </p:sp>
      <p:sp>
        <p:nvSpPr>
          <p:cNvPr id="18" name="TextBox 17"/>
          <p:cNvSpPr txBox="1"/>
          <p:nvPr/>
        </p:nvSpPr>
        <p:spPr>
          <a:xfrm>
            <a:off x="3977639" y="2679192"/>
            <a:ext cx="7223760" cy="502920"/>
          </a:xfrm>
          <a:prstGeom prst="rect">
            <a:avLst/>
          </a:prstGeom>
          <a:noFill/>
        </p:spPr>
        <p:txBody>
          <a:bodyPr wrap="none">
            <a:spAutoFit/>
          </a:bodyPr>
          <a:lstStyle/>
          <a:p>
            <a:pPr>
              <a:defRPr sz="1350">
                <a:solidFill>
                  <a:srgbClr val="23282D"/>
                </a:solidFill>
              </a:defRPr>
            </a:pPr>
            <a:r>
              <a:t>Finance Team contains Finance User.</a:t>
            </a:r>
          </a:p>
        </p:txBody>
      </p:sp>
      <p:sp>
        <p:nvSpPr>
          <p:cNvPr id="19" name="Oval 18"/>
          <p:cNvSpPr/>
          <p:nvPr/>
        </p:nvSpPr>
        <p:spPr>
          <a:xfrm>
            <a:off x="685800" y="3520440"/>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75304"/>
            <a:ext cx="411480" cy="274320"/>
          </a:xfrm>
          <a:prstGeom prst="rect">
            <a:avLst/>
          </a:prstGeom>
          <a:noFill/>
        </p:spPr>
        <p:txBody>
          <a:bodyPr wrap="none">
            <a:spAutoFit/>
          </a:bodyPr>
          <a:lstStyle/>
          <a:p>
            <a:pPr algn="ctr">
              <a:defRPr sz="1300" b="1">
                <a:solidFill>
                  <a:srgbClr val="FFFFFF"/>
                </a:solidFill>
              </a:defRPr>
            </a:pPr>
            <a:r>
              <a:t>4</a:t>
            </a:r>
          </a:p>
        </p:txBody>
      </p:sp>
      <p:sp>
        <p:nvSpPr>
          <p:cNvPr id="21" name="TextBox 20"/>
          <p:cNvSpPr txBox="1"/>
          <p:nvPr/>
        </p:nvSpPr>
        <p:spPr>
          <a:xfrm>
            <a:off x="1280160" y="3502152"/>
            <a:ext cx="2743200" cy="320040"/>
          </a:xfrm>
          <a:prstGeom prst="rect">
            <a:avLst/>
          </a:prstGeom>
          <a:noFill/>
        </p:spPr>
        <p:txBody>
          <a:bodyPr wrap="none">
            <a:spAutoFit/>
          </a:bodyPr>
          <a:lstStyle/>
          <a:p>
            <a:pPr>
              <a:defRPr sz="1600" b="1">
                <a:solidFill>
                  <a:srgbClr val="183757"/>
                </a:solidFill>
              </a:defRPr>
            </a:pPr>
            <a:r>
              <a:t>Create Sharing Rule</a:t>
            </a:r>
          </a:p>
        </p:txBody>
      </p:sp>
      <p:sp>
        <p:nvSpPr>
          <p:cNvPr id="22" name="TextBox 21"/>
          <p:cNvSpPr txBox="1"/>
          <p:nvPr/>
        </p:nvSpPr>
        <p:spPr>
          <a:xfrm>
            <a:off x="3977639" y="3502152"/>
            <a:ext cx="7223760" cy="502920"/>
          </a:xfrm>
          <a:prstGeom prst="rect">
            <a:avLst/>
          </a:prstGeom>
          <a:noFill/>
        </p:spPr>
        <p:txBody>
          <a:bodyPr wrap="none">
            <a:spAutoFit/>
          </a:bodyPr>
          <a:lstStyle/>
          <a:p>
            <a:pPr>
              <a:defRPr sz="1350">
                <a:solidFill>
                  <a:srgbClr val="23282D"/>
                </a:solidFill>
              </a:defRPr>
            </a:pPr>
            <a:r>
              <a:t>Department = Sales → Finance Team → Read Only.</a:t>
            </a:r>
          </a:p>
        </p:txBody>
      </p:sp>
      <p:sp>
        <p:nvSpPr>
          <p:cNvPr id="23" name="Oval 22"/>
          <p:cNvSpPr/>
          <p:nvPr/>
        </p:nvSpPr>
        <p:spPr>
          <a:xfrm>
            <a:off x="685800" y="4343400"/>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398264"/>
            <a:ext cx="411480" cy="274320"/>
          </a:xfrm>
          <a:prstGeom prst="rect">
            <a:avLst/>
          </a:prstGeom>
          <a:noFill/>
        </p:spPr>
        <p:txBody>
          <a:bodyPr wrap="none">
            <a:spAutoFit/>
          </a:bodyPr>
          <a:lstStyle/>
          <a:p>
            <a:pPr algn="ctr">
              <a:defRPr sz="1300" b="1">
                <a:solidFill>
                  <a:srgbClr val="FFFFFF"/>
                </a:solidFill>
              </a:defRPr>
            </a:pPr>
            <a:r>
              <a:t>5</a:t>
            </a:r>
          </a:p>
        </p:txBody>
      </p:sp>
      <p:sp>
        <p:nvSpPr>
          <p:cNvPr id="25" name="TextBox 24"/>
          <p:cNvSpPr txBox="1"/>
          <p:nvPr/>
        </p:nvSpPr>
        <p:spPr>
          <a:xfrm>
            <a:off x="1280160" y="4325112"/>
            <a:ext cx="2743200" cy="320040"/>
          </a:xfrm>
          <a:prstGeom prst="rect">
            <a:avLst/>
          </a:prstGeom>
          <a:noFill/>
        </p:spPr>
        <p:txBody>
          <a:bodyPr wrap="none">
            <a:spAutoFit/>
          </a:bodyPr>
          <a:lstStyle/>
          <a:p>
            <a:pPr>
              <a:defRPr sz="1600" b="1">
                <a:solidFill>
                  <a:srgbClr val="183757"/>
                </a:solidFill>
              </a:defRPr>
            </a:pPr>
            <a:r>
              <a:t>Manual Share</a:t>
            </a:r>
          </a:p>
        </p:txBody>
      </p:sp>
      <p:sp>
        <p:nvSpPr>
          <p:cNvPr id="26" name="TextBox 25"/>
          <p:cNvSpPr txBox="1"/>
          <p:nvPr/>
        </p:nvSpPr>
        <p:spPr>
          <a:xfrm>
            <a:off x="3977639" y="4325112"/>
            <a:ext cx="7223760" cy="502920"/>
          </a:xfrm>
          <a:prstGeom prst="rect">
            <a:avLst/>
          </a:prstGeom>
          <a:noFill/>
        </p:spPr>
        <p:txBody>
          <a:bodyPr wrap="none">
            <a:spAutoFit/>
          </a:bodyPr>
          <a:lstStyle/>
          <a:p>
            <a:pPr>
              <a:defRPr sz="1350">
                <a:solidFill>
                  <a:srgbClr val="23282D"/>
                </a:solidFill>
              </a:defRPr>
            </a:pPr>
            <a:r>
              <a:t>John shares Client A with Finance User → Read/Write.</a:t>
            </a:r>
          </a:p>
        </p:txBody>
      </p:sp>
      <p:sp>
        <p:nvSpPr>
          <p:cNvPr id="27" name="Oval 26"/>
          <p:cNvSpPr/>
          <p:nvPr/>
        </p:nvSpPr>
        <p:spPr>
          <a:xfrm>
            <a:off x="685800" y="5166360"/>
            <a:ext cx="411480" cy="411480"/>
          </a:xfrm>
          <a:prstGeom prst="ellipse">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221224"/>
            <a:ext cx="411480" cy="274320"/>
          </a:xfrm>
          <a:prstGeom prst="rect">
            <a:avLst/>
          </a:prstGeom>
          <a:noFill/>
        </p:spPr>
        <p:txBody>
          <a:bodyPr wrap="none">
            <a:spAutoFit/>
          </a:bodyPr>
          <a:lstStyle/>
          <a:p>
            <a:pPr algn="ctr">
              <a:defRPr sz="1300" b="1">
                <a:solidFill>
                  <a:srgbClr val="FFFFFF"/>
                </a:solidFill>
              </a:defRPr>
            </a:pPr>
            <a:r>
              <a:t>6</a:t>
            </a:r>
          </a:p>
        </p:txBody>
      </p:sp>
      <p:sp>
        <p:nvSpPr>
          <p:cNvPr id="29" name="TextBox 28"/>
          <p:cNvSpPr txBox="1"/>
          <p:nvPr/>
        </p:nvSpPr>
        <p:spPr>
          <a:xfrm>
            <a:off x="1280160" y="5148072"/>
            <a:ext cx="2743200" cy="320040"/>
          </a:xfrm>
          <a:prstGeom prst="rect">
            <a:avLst/>
          </a:prstGeom>
          <a:noFill/>
        </p:spPr>
        <p:txBody>
          <a:bodyPr wrap="none">
            <a:spAutoFit/>
          </a:bodyPr>
          <a:lstStyle/>
          <a:p>
            <a:pPr>
              <a:defRPr sz="1600" b="1">
                <a:solidFill>
                  <a:srgbClr val="183757"/>
                </a:solidFill>
              </a:defRPr>
            </a:pPr>
            <a:r>
              <a:t>Restriction Rule</a:t>
            </a:r>
          </a:p>
        </p:txBody>
      </p:sp>
      <p:sp>
        <p:nvSpPr>
          <p:cNvPr id="30" name="TextBox 29"/>
          <p:cNvSpPr txBox="1"/>
          <p:nvPr/>
        </p:nvSpPr>
        <p:spPr>
          <a:xfrm>
            <a:off x="3977639" y="5148072"/>
            <a:ext cx="7223760" cy="502920"/>
          </a:xfrm>
          <a:prstGeom prst="rect">
            <a:avLst/>
          </a:prstGeom>
          <a:noFill/>
        </p:spPr>
        <p:txBody>
          <a:bodyPr wrap="none">
            <a:spAutoFit/>
          </a:bodyPr>
          <a:lstStyle/>
          <a:p>
            <a:pPr>
              <a:defRPr sz="1350">
                <a:solidFill>
                  <a:srgbClr val="23282D"/>
                </a:solidFill>
              </a:defRPr>
            </a:pPr>
            <a:r>
              <a:t>Finance sees only Region = West records.</a:t>
            </a:r>
          </a:p>
        </p:txBody>
      </p:sp>
      <p:sp>
        <p:nvSpPr>
          <p:cNvPr id="31" name="Rectangle 30"/>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33" name="TextBox 32"/>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32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Troubleshooting: “Why Can’t This User See the Record?”</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10789920" cy="5029200"/>
          </a:xfrm>
          <a:prstGeom prst="rect">
            <a:avLst/>
          </a:prstGeom>
          <a:noFill/>
        </p:spPr>
        <p:txBody>
          <a:bodyPr wrap="square" lIns="45720" tIns="18288" rIns="45720">
            <a:spAutoFit/>
          </a:bodyPr>
          <a:lstStyle/>
          <a:p>
            <a:pPr>
              <a:spcAft>
                <a:spcPts val="800"/>
              </a:spcAft>
              <a:defRPr sz="1700">
                <a:solidFill>
                  <a:srgbClr val="23282D"/>
                </a:solidFill>
              </a:defRPr>
            </a:pPr>
            <a:r>
              <a:t>1. Does the user have object-level Read permission?</a:t>
            </a:r>
          </a:p>
          <a:p>
            <a:pPr>
              <a:spcAft>
                <a:spcPts val="800"/>
              </a:spcAft>
              <a:defRPr sz="1700">
                <a:solidFill>
                  <a:srgbClr val="23282D"/>
                </a:solidFill>
              </a:defRPr>
            </a:pPr>
            <a:r>
              <a:t>2. Is the field hidden by FLS?</a:t>
            </a:r>
          </a:p>
          <a:p>
            <a:pPr>
              <a:spcAft>
                <a:spcPts val="800"/>
              </a:spcAft>
              <a:defRPr sz="1700">
                <a:solidFill>
                  <a:srgbClr val="23282D"/>
                </a:solidFill>
              </a:defRPr>
            </a:pPr>
            <a:r>
              <a:t>3. Who owns the record?</a:t>
            </a:r>
          </a:p>
          <a:p>
            <a:pPr>
              <a:spcAft>
                <a:spcPts val="800"/>
              </a:spcAft>
              <a:defRPr sz="1700">
                <a:solidFill>
                  <a:srgbClr val="23282D"/>
                </a:solidFill>
              </a:defRPr>
            </a:pPr>
            <a:r>
              <a:t>4. What is the OWD for the object?</a:t>
            </a:r>
          </a:p>
          <a:p>
            <a:pPr>
              <a:spcAft>
                <a:spcPts val="800"/>
              </a:spcAft>
              <a:defRPr sz="1700">
                <a:solidFill>
                  <a:srgbClr val="23282D"/>
                </a:solidFill>
              </a:defRPr>
            </a:pPr>
            <a:r>
              <a:t>5. Is the user above the owner in the role hierarchy?</a:t>
            </a:r>
          </a:p>
          <a:p>
            <a:pPr>
              <a:spcAft>
                <a:spcPts val="800"/>
              </a:spcAft>
              <a:defRPr sz="1700">
                <a:solidFill>
                  <a:srgbClr val="23282D"/>
                </a:solidFill>
              </a:defRPr>
            </a:pPr>
            <a:r>
              <a:t>6. Is there a Sharing Rule, Public Group, Queue or other sharing mechanism?</a:t>
            </a:r>
          </a:p>
          <a:p>
            <a:pPr>
              <a:spcAft>
                <a:spcPts val="800"/>
              </a:spcAft>
              <a:defRPr sz="1700">
                <a:solidFill>
                  <a:srgbClr val="23282D"/>
                </a:solidFill>
              </a:defRPr>
            </a:pPr>
            <a:r>
              <a:t>7. Was the record manually shared?</a:t>
            </a:r>
          </a:p>
          <a:p>
            <a:pPr>
              <a:spcAft>
                <a:spcPts val="800"/>
              </a:spcAft>
              <a:defRPr sz="1700">
                <a:solidFill>
                  <a:srgbClr val="23282D"/>
                </a:solidFill>
              </a:defRPr>
            </a:pPr>
            <a:r>
              <a:t>8. Is a Restriction Rule filtering the record?</a:t>
            </a:r>
          </a:p>
          <a:p>
            <a:pPr>
              <a:spcAft>
                <a:spcPts val="800"/>
              </a:spcAft>
              <a:defRPr sz="1700">
                <a:solidFill>
                  <a:srgbClr val="23282D"/>
                </a:solidFill>
              </a:defRPr>
            </a:pPr>
            <a:r>
              <a:t>9. Does the user have powerful permissions such as View All / Modify All that change the expected result?</a:t>
            </a:r>
          </a:p>
        </p:txBody>
      </p:sp>
      <p:sp>
        <p:nvSpPr>
          <p:cNvPr id="7" name="Rectangle 6"/>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9" name="TextBox 8"/>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33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Mini Quiz: Test Their Understanding</a:t>
            </a:r>
          </a:p>
        </p:txBody>
      </p:sp>
      <p:sp>
        <p:nvSpPr>
          <p:cNvPr id="5" name="Rectangle 4"/>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05840"/>
            <a:ext cx="914400" cy="365760"/>
          </a:xfrm>
          <a:prstGeom prst="rect">
            <a:avLst/>
          </a:prstGeom>
          <a:noFill/>
        </p:spPr>
        <p:txBody>
          <a:bodyPr wrap="none">
            <a:spAutoFit/>
          </a:bodyPr>
          <a:lstStyle/>
          <a:p>
            <a:pPr>
              <a:defRPr sz="1500" b="1">
                <a:solidFill>
                  <a:srgbClr val="2079BE"/>
                </a:solidFill>
              </a:defRPr>
            </a:pPr>
            <a:r>
              <a:t>Q1</a:t>
            </a:r>
          </a:p>
        </p:txBody>
      </p:sp>
      <p:sp>
        <p:nvSpPr>
          <p:cNvPr id="7" name="Rounded Rectangle 6"/>
          <p:cNvSpPr/>
          <p:nvPr/>
        </p:nvSpPr>
        <p:spPr>
          <a:xfrm>
            <a:off x="1417320" y="987552"/>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1042416"/>
            <a:ext cx="6766560" cy="457200"/>
          </a:xfrm>
          <a:prstGeom prst="rect">
            <a:avLst/>
          </a:prstGeom>
          <a:noFill/>
        </p:spPr>
        <p:txBody>
          <a:bodyPr wrap="none">
            <a:spAutoFit/>
          </a:bodyPr>
          <a:lstStyle/>
          <a:p>
            <a:pPr>
              <a:defRPr sz="1250">
                <a:solidFill>
                  <a:srgbClr val="23282D"/>
                </a:solidFill>
              </a:defRPr>
            </a:pPr>
            <a:r>
              <a:t>OWD = Private. John owns Opportunity A. Sarah has Opportunity Read permission. Can Sarah automatically see A?</a:t>
            </a:r>
          </a:p>
        </p:txBody>
      </p:sp>
      <p:sp>
        <p:nvSpPr>
          <p:cNvPr id="9" name="TextBox 8"/>
          <p:cNvSpPr txBox="1"/>
          <p:nvPr/>
        </p:nvSpPr>
        <p:spPr>
          <a:xfrm>
            <a:off x="8778240" y="1024128"/>
            <a:ext cx="309880" cy="275590"/>
          </a:xfrm>
          <a:prstGeom prst="rect">
            <a:avLst/>
          </a:prstGeom>
          <a:noFill/>
        </p:spPr>
        <p:txBody>
          <a:bodyPr wrap="none">
            <a:spAutoFit/>
          </a:bodyPr>
          <a:lstStyle/>
          <a:p>
            <a:pPr>
              <a:defRPr sz="1200" b="1">
                <a:solidFill>
                  <a:srgbClr val="26915F"/>
                </a:solidFill>
              </a:defRPr>
            </a:pPr>
          </a:p>
        </p:txBody>
      </p:sp>
      <p:sp>
        <p:nvSpPr>
          <p:cNvPr id="10" name="TextBox 9"/>
          <p:cNvSpPr txBox="1"/>
          <p:nvPr/>
        </p:nvSpPr>
        <p:spPr>
          <a:xfrm>
            <a:off x="640080" y="1856232"/>
            <a:ext cx="914400" cy="365760"/>
          </a:xfrm>
          <a:prstGeom prst="rect">
            <a:avLst/>
          </a:prstGeom>
          <a:noFill/>
        </p:spPr>
        <p:txBody>
          <a:bodyPr wrap="none">
            <a:spAutoFit/>
          </a:bodyPr>
          <a:lstStyle/>
          <a:p>
            <a:pPr>
              <a:defRPr sz="1500" b="1">
                <a:solidFill>
                  <a:srgbClr val="2079BE"/>
                </a:solidFill>
              </a:defRPr>
            </a:pPr>
            <a:r>
              <a:t>Q2</a:t>
            </a:r>
          </a:p>
        </p:txBody>
      </p:sp>
      <p:sp>
        <p:nvSpPr>
          <p:cNvPr id="11" name="Rounded Rectangle 10"/>
          <p:cNvSpPr/>
          <p:nvPr/>
        </p:nvSpPr>
        <p:spPr>
          <a:xfrm>
            <a:off x="1417320" y="1837944"/>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1892808"/>
            <a:ext cx="6766560" cy="457200"/>
          </a:xfrm>
          <a:prstGeom prst="rect">
            <a:avLst/>
          </a:prstGeom>
          <a:noFill/>
        </p:spPr>
        <p:txBody>
          <a:bodyPr wrap="none">
            <a:spAutoFit/>
          </a:bodyPr>
          <a:lstStyle/>
          <a:p>
            <a:pPr>
              <a:defRPr sz="1250">
                <a:solidFill>
                  <a:srgbClr val="23282D"/>
                </a:solidFill>
              </a:defRPr>
            </a:pPr>
            <a:r>
              <a:t>Sarah is above John in the role hierarchy. Can she generally access John's records?</a:t>
            </a:r>
          </a:p>
        </p:txBody>
      </p:sp>
      <p:sp>
        <p:nvSpPr>
          <p:cNvPr id="13" name="TextBox 12"/>
          <p:cNvSpPr txBox="1"/>
          <p:nvPr/>
        </p:nvSpPr>
        <p:spPr>
          <a:xfrm>
            <a:off x="8778240" y="1874520"/>
            <a:ext cx="309880" cy="275590"/>
          </a:xfrm>
          <a:prstGeom prst="rect">
            <a:avLst/>
          </a:prstGeom>
          <a:noFill/>
        </p:spPr>
        <p:txBody>
          <a:bodyPr wrap="none">
            <a:spAutoFit/>
          </a:bodyPr>
          <a:lstStyle/>
          <a:p>
            <a:pPr>
              <a:defRPr sz="1200" b="1">
                <a:solidFill>
                  <a:srgbClr val="26915F"/>
                </a:solidFill>
              </a:defRPr>
            </a:pPr>
          </a:p>
        </p:txBody>
      </p:sp>
      <p:sp>
        <p:nvSpPr>
          <p:cNvPr id="14" name="TextBox 13"/>
          <p:cNvSpPr txBox="1"/>
          <p:nvPr/>
        </p:nvSpPr>
        <p:spPr>
          <a:xfrm>
            <a:off x="640080" y="2706624"/>
            <a:ext cx="914400" cy="365760"/>
          </a:xfrm>
          <a:prstGeom prst="rect">
            <a:avLst/>
          </a:prstGeom>
          <a:noFill/>
        </p:spPr>
        <p:txBody>
          <a:bodyPr wrap="none">
            <a:spAutoFit/>
          </a:bodyPr>
          <a:lstStyle/>
          <a:p>
            <a:pPr>
              <a:defRPr sz="1500" b="1">
                <a:solidFill>
                  <a:srgbClr val="2079BE"/>
                </a:solidFill>
              </a:defRPr>
            </a:pPr>
            <a:r>
              <a:t>Q3</a:t>
            </a:r>
          </a:p>
        </p:txBody>
      </p:sp>
      <p:sp>
        <p:nvSpPr>
          <p:cNvPr id="15" name="Rounded Rectangle 14"/>
          <p:cNvSpPr/>
          <p:nvPr/>
        </p:nvSpPr>
        <p:spPr>
          <a:xfrm>
            <a:off x="1417320" y="2688336"/>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00200" y="2743200"/>
            <a:ext cx="6766560" cy="457200"/>
          </a:xfrm>
          <a:prstGeom prst="rect">
            <a:avLst/>
          </a:prstGeom>
          <a:noFill/>
        </p:spPr>
        <p:txBody>
          <a:bodyPr wrap="none">
            <a:spAutoFit/>
          </a:bodyPr>
          <a:lstStyle/>
          <a:p>
            <a:pPr>
              <a:defRPr sz="1250">
                <a:solidFill>
                  <a:srgbClr val="23282D"/>
                </a:solidFill>
              </a:defRPr>
            </a:pPr>
            <a:r>
              <a:t>Finance needs access to all Sales records. Sharing Rule or Manual Sharing?</a:t>
            </a:r>
          </a:p>
        </p:txBody>
      </p:sp>
      <p:sp>
        <p:nvSpPr>
          <p:cNvPr id="17" name="TextBox 16"/>
          <p:cNvSpPr txBox="1"/>
          <p:nvPr/>
        </p:nvSpPr>
        <p:spPr>
          <a:xfrm>
            <a:off x="8778240" y="2724912"/>
            <a:ext cx="309880" cy="275590"/>
          </a:xfrm>
          <a:prstGeom prst="rect">
            <a:avLst/>
          </a:prstGeom>
          <a:noFill/>
        </p:spPr>
        <p:txBody>
          <a:bodyPr wrap="none">
            <a:spAutoFit/>
          </a:bodyPr>
          <a:lstStyle/>
          <a:p>
            <a:pPr>
              <a:defRPr sz="1200" b="1">
                <a:solidFill>
                  <a:srgbClr val="26915F"/>
                </a:solidFill>
              </a:defRPr>
            </a:pPr>
          </a:p>
        </p:txBody>
      </p:sp>
      <p:sp>
        <p:nvSpPr>
          <p:cNvPr id="18" name="TextBox 17"/>
          <p:cNvSpPr txBox="1"/>
          <p:nvPr/>
        </p:nvSpPr>
        <p:spPr>
          <a:xfrm>
            <a:off x="640080" y="3557016"/>
            <a:ext cx="914400" cy="365760"/>
          </a:xfrm>
          <a:prstGeom prst="rect">
            <a:avLst/>
          </a:prstGeom>
          <a:noFill/>
        </p:spPr>
        <p:txBody>
          <a:bodyPr wrap="none">
            <a:spAutoFit/>
          </a:bodyPr>
          <a:lstStyle/>
          <a:p>
            <a:pPr>
              <a:defRPr sz="1500" b="1">
                <a:solidFill>
                  <a:srgbClr val="2079BE"/>
                </a:solidFill>
              </a:defRPr>
            </a:pPr>
            <a:r>
              <a:t>Q4</a:t>
            </a:r>
          </a:p>
        </p:txBody>
      </p:sp>
      <p:sp>
        <p:nvSpPr>
          <p:cNvPr id="19" name="Rounded Rectangle 18"/>
          <p:cNvSpPr/>
          <p:nvPr/>
        </p:nvSpPr>
        <p:spPr>
          <a:xfrm>
            <a:off x="1417320" y="3538728"/>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593592"/>
            <a:ext cx="6766560" cy="457200"/>
          </a:xfrm>
          <a:prstGeom prst="rect">
            <a:avLst/>
          </a:prstGeom>
          <a:noFill/>
        </p:spPr>
        <p:txBody>
          <a:bodyPr wrap="none">
            <a:spAutoFit/>
          </a:bodyPr>
          <a:lstStyle/>
          <a:p>
            <a:pPr>
              <a:defRPr sz="1250">
                <a:solidFill>
                  <a:srgbClr val="23282D"/>
                </a:solidFill>
              </a:defRPr>
            </a:pPr>
            <a:r>
              <a:t>John wants to share only one Opportunity with Sarah.</a:t>
            </a:r>
          </a:p>
        </p:txBody>
      </p:sp>
      <p:sp>
        <p:nvSpPr>
          <p:cNvPr id="21" name="TextBox 20"/>
          <p:cNvSpPr txBox="1"/>
          <p:nvPr/>
        </p:nvSpPr>
        <p:spPr>
          <a:xfrm>
            <a:off x="8778240" y="3575304"/>
            <a:ext cx="309880" cy="275590"/>
          </a:xfrm>
          <a:prstGeom prst="rect">
            <a:avLst/>
          </a:prstGeom>
          <a:noFill/>
        </p:spPr>
        <p:txBody>
          <a:bodyPr wrap="none">
            <a:spAutoFit/>
          </a:bodyPr>
          <a:lstStyle/>
          <a:p>
            <a:pPr>
              <a:defRPr sz="1200" b="1">
                <a:solidFill>
                  <a:srgbClr val="26915F"/>
                </a:solidFill>
              </a:defRPr>
            </a:pPr>
          </a:p>
        </p:txBody>
      </p:sp>
      <p:sp>
        <p:nvSpPr>
          <p:cNvPr id="22" name="TextBox 21"/>
          <p:cNvSpPr txBox="1"/>
          <p:nvPr/>
        </p:nvSpPr>
        <p:spPr>
          <a:xfrm>
            <a:off x="640080" y="4407408"/>
            <a:ext cx="914400" cy="365760"/>
          </a:xfrm>
          <a:prstGeom prst="rect">
            <a:avLst/>
          </a:prstGeom>
          <a:noFill/>
        </p:spPr>
        <p:txBody>
          <a:bodyPr wrap="none">
            <a:spAutoFit/>
          </a:bodyPr>
          <a:lstStyle/>
          <a:p>
            <a:pPr>
              <a:defRPr sz="1500" b="1">
                <a:solidFill>
                  <a:srgbClr val="2079BE"/>
                </a:solidFill>
              </a:defRPr>
            </a:pPr>
            <a:r>
              <a:t>Q5</a:t>
            </a:r>
          </a:p>
        </p:txBody>
      </p:sp>
      <p:sp>
        <p:nvSpPr>
          <p:cNvPr id="23" name="Rounded Rectangle 22"/>
          <p:cNvSpPr/>
          <p:nvPr/>
        </p:nvSpPr>
        <p:spPr>
          <a:xfrm>
            <a:off x="1417320" y="4389120"/>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443984"/>
            <a:ext cx="6766560" cy="457200"/>
          </a:xfrm>
          <a:prstGeom prst="rect">
            <a:avLst/>
          </a:prstGeom>
          <a:noFill/>
        </p:spPr>
        <p:txBody>
          <a:bodyPr wrap="none">
            <a:spAutoFit/>
          </a:bodyPr>
          <a:lstStyle/>
          <a:p>
            <a:pPr>
              <a:defRPr sz="1250">
                <a:solidFill>
                  <a:srgbClr val="23282D"/>
                </a:solidFill>
              </a:defRPr>
            </a:pPr>
            <a:r>
              <a:t>Finance can access Sales records but only West records should be visible.</a:t>
            </a:r>
          </a:p>
        </p:txBody>
      </p:sp>
      <p:sp>
        <p:nvSpPr>
          <p:cNvPr id="25" name="TextBox 24"/>
          <p:cNvSpPr txBox="1"/>
          <p:nvPr/>
        </p:nvSpPr>
        <p:spPr>
          <a:xfrm>
            <a:off x="8778240" y="4425696"/>
            <a:ext cx="309880" cy="275590"/>
          </a:xfrm>
          <a:prstGeom prst="rect">
            <a:avLst/>
          </a:prstGeom>
          <a:noFill/>
        </p:spPr>
        <p:txBody>
          <a:bodyPr wrap="none">
            <a:spAutoFit/>
          </a:bodyPr>
          <a:lstStyle/>
          <a:p>
            <a:pPr>
              <a:defRPr sz="1200" b="1">
                <a:solidFill>
                  <a:srgbClr val="26915F"/>
                </a:solidFill>
              </a:defRPr>
            </a:pPr>
          </a:p>
        </p:txBody>
      </p:sp>
      <p:sp>
        <p:nvSpPr>
          <p:cNvPr id="26" name="TextBox 25"/>
          <p:cNvSpPr txBox="1"/>
          <p:nvPr/>
        </p:nvSpPr>
        <p:spPr>
          <a:xfrm>
            <a:off x="640080" y="5257800"/>
            <a:ext cx="914400" cy="365760"/>
          </a:xfrm>
          <a:prstGeom prst="rect">
            <a:avLst/>
          </a:prstGeom>
          <a:noFill/>
        </p:spPr>
        <p:txBody>
          <a:bodyPr wrap="none">
            <a:spAutoFit/>
          </a:bodyPr>
          <a:lstStyle/>
          <a:p>
            <a:pPr>
              <a:defRPr sz="1500" b="1">
                <a:solidFill>
                  <a:srgbClr val="2079BE"/>
                </a:solidFill>
              </a:defRPr>
            </a:pPr>
            <a:r>
              <a:t>Q6</a:t>
            </a:r>
          </a:p>
        </p:txBody>
      </p:sp>
      <p:sp>
        <p:nvSpPr>
          <p:cNvPr id="27" name="Rounded Rectangle 26"/>
          <p:cNvSpPr/>
          <p:nvPr/>
        </p:nvSpPr>
        <p:spPr>
          <a:xfrm>
            <a:off x="1417320" y="5239512"/>
            <a:ext cx="7132320" cy="594360"/>
          </a:xfrm>
          <a:prstGeom prst="roundRect">
            <a:avLst/>
          </a:prstGeom>
          <a:solidFill>
            <a:srgbClr val="F4F6F8"/>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00200" y="5294376"/>
            <a:ext cx="6766560" cy="457200"/>
          </a:xfrm>
          <a:prstGeom prst="rect">
            <a:avLst/>
          </a:prstGeom>
          <a:noFill/>
        </p:spPr>
        <p:txBody>
          <a:bodyPr wrap="none">
            <a:spAutoFit/>
          </a:bodyPr>
          <a:lstStyle/>
          <a:p>
            <a:pPr>
              <a:defRPr sz="1250">
                <a:solidFill>
                  <a:srgbClr val="23282D"/>
                </a:solidFill>
              </a:defRPr>
            </a:pPr>
            <a:r>
              <a:t>Page Layout shows Salary__c but FLS hides it.</a:t>
            </a:r>
          </a:p>
        </p:txBody>
      </p:sp>
      <p:sp>
        <p:nvSpPr>
          <p:cNvPr id="29" name="TextBox 28"/>
          <p:cNvSpPr txBox="1"/>
          <p:nvPr/>
        </p:nvSpPr>
        <p:spPr>
          <a:xfrm>
            <a:off x="8778240" y="5276088"/>
            <a:ext cx="309880" cy="275590"/>
          </a:xfrm>
          <a:prstGeom prst="rect">
            <a:avLst/>
          </a:prstGeom>
          <a:noFill/>
        </p:spPr>
        <p:txBody>
          <a:bodyPr wrap="none">
            <a:spAutoFit/>
          </a:bodyPr>
          <a:lstStyle/>
          <a:p>
            <a:pPr>
              <a:defRPr sz="1200" b="1">
                <a:solidFill>
                  <a:srgbClr val="26915F"/>
                </a:solidFill>
              </a:defRPr>
            </a:pPr>
          </a:p>
        </p:txBody>
      </p:sp>
      <p:sp>
        <p:nvSpPr>
          <p:cNvPr id="30" name="Rectangle 29"/>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32" name="TextBox 31"/>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34</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8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966960" cy="438912"/>
          </a:xfrm>
          <a:prstGeom prst="rect">
            <a:avLst/>
          </a:prstGeom>
          <a:noFill/>
        </p:spPr>
        <p:txBody>
          <a:bodyPr wrap="none">
            <a:spAutoFit/>
          </a:bodyPr>
          <a:lstStyle/>
          <a:p>
            <a:pPr>
              <a:defRPr sz="2700" b="1">
                <a:solidFill>
                  <a:srgbClr val="FFFFFF"/>
                </a:solidFill>
              </a:defRPr>
            </a:pPr>
            <a:r>
              <a:t>Final Cheat Sheet</a:t>
            </a:r>
          </a:p>
        </p:txBody>
      </p:sp>
      <p:sp>
        <p:nvSpPr>
          <p:cNvPr id="5" name="TextBox 4"/>
          <p:cNvSpPr txBox="1"/>
          <p:nvPr/>
        </p:nvSpPr>
        <p:spPr>
          <a:xfrm>
            <a:off x="548640" y="768096"/>
            <a:ext cx="10972800" cy="365760"/>
          </a:xfrm>
          <a:prstGeom prst="rect">
            <a:avLst/>
          </a:prstGeom>
          <a:noFill/>
        </p:spPr>
        <p:txBody>
          <a:bodyPr wrap="none">
            <a:spAutoFit/>
          </a:bodyPr>
          <a:lstStyle/>
          <a:p>
            <a:pPr>
              <a:defRPr sz="1300">
                <a:solidFill>
                  <a:srgbClr val="5A646E"/>
                </a:solidFill>
              </a:defRPr>
            </a:pPr>
            <a:r>
              <a:t>If trainees remember only one slide, make it this one.</a:t>
            </a:r>
          </a:p>
        </p:txBody>
      </p:sp>
      <p:sp>
        <p:nvSpPr>
          <p:cNvPr id="6" name="Rectangle 5"/>
          <p:cNvSpPr/>
          <p:nvPr/>
        </p:nvSpPr>
        <p:spPr>
          <a:xfrm>
            <a:off x="11475720" y="109728"/>
            <a:ext cx="228600" cy="457200"/>
          </a:xfrm>
          <a:prstGeom prst="rect">
            <a:avLst/>
          </a:prstGeom>
          <a:solidFill>
            <a:srgbClr val="207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11480" y="960120"/>
          <a:ext cx="11384280" cy="5394960"/>
        </p:xfrm>
        <a:graphic>
          <a:graphicData uri="http://schemas.openxmlformats.org/drawingml/2006/table">
            <a:tbl>
              <a:tblPr firstRow="1" bandRow="1">
                <a:tableStyleId>{5C22544A-7EE6-4342-B048-85BDC9FD1C3A}</a:tableStyleId>
              </a:tblPr>
              <a:tblGrid>
                <a:gridCol w="1920240"/>
                <a:gridCol w="4846320"/>
                <a:gridCol w="4617720"/>
              </a:tblGrid>
              <a:tr h="490450">
                <a:tc>
                  <a:txBody>
                    <a:bodyPr/>
                    <a:lstStyle/>
                    <a:p>
                      <a:pPr>
                        <a:defRPr sz="1150" b="1">
                          <a:solidFill>
                            <a:srgbClr val="FFFFFF"/>
                          </a:solidFill>
                        </a:defRPr>
                      </a:pPr>
                      <a:r>
                        <a:t>Feature</a:t>
                      </a:r>
                    </a:p>
                  </a:txBody>
                  <a:tcPr marL="54864" marR="54864" marT="36576" marB="36576">
                    <a:solidFill>
                      <a:srgbClr val="183757"/>
                    </a:solidFill>
                  </a:tcPr>
                </a:tc>
                <a:tc>
                  <a:txBody>
                    <a:bodyPr/>
                    <a:lstStyle/>
                    <a:p>
                      <a:pPr>
                        <a:defRPr sz="1150" b="1">
                          <a:solidFill>
                            <a:srgbClr val="FFFFFF"/>
                          </a:solidFill>
                        </a:defRPr>
                      </a:pPr>
                      <a:r>
                        <a:t>Question it answers</a:t>
                      </a:r>
                    </a:p>
                  </a:txBody>
                  <a:tcPr marL="54864" marR="54864" marT="36576" marB="36576">
                    <a:solidFill>
                      <a:srgbClr val="183757"/>
                    </a:solidFill>
                  </a:tcPr>
                </a:tc>
                <a:tc>
                  <a:txBody>
                    <a:bodyPr/>
                    <a:lstStyle/>
                    <a:p>
                      <a:pPr>
                        <a:defRPr sz="1150" b="1">
                          <a:solidFill>
                            <a:srgbClr val="FFFFFF"/>
                          </a:solidFill>
                        </a:defRPr>
                      </a:pPr>
                      <a:r>
                        <a:t>Memory line</a:t>
                      </a:r>
                    </a:p>
                  </a:txBody>
                  <a:tcPr marL="54864" marR="54864" marT="36576" marB="36576">
                    <a:solidFill>
                      <a:srgbClr val="183757"/>
                    </a:solidFill>
                  </a:tcPr>
                </a:tc>
              </a:tr>
              <a:tr h="490450">
                <a:tc>
                  <a:txBody>
                    <a:bodyPr/>
                    <a:lstStyle/>
                    <a:p>
                      <a:pPr>
                        <a:defRPr sz="1150" b="0">
                          <a:solidFill>
                            <a:srgbClr val="23282D"/>
                          </a:solidFill>
                        </a:defRPr>
                      </a:pPr>
                      <a:r>
                        <a:t>Profile</a:t>
                      </a:r>
                    </a:p>
                  </a:txBody>
                  <a:tcPr marL="54864" marR="54864" marT="36576" marB="36576">
                    <a:solidFill>
                      <a:srgbClr val="FFFFFF"/>
                    </a:solidFill>
                  </a:tcPr>
                </a:tc>
                <a:tc>
                  <a:txBody>
                    <a:bodyPr/>
                    <a:lstStyle/>
                    <a:p>
                      <a:pPr>
                        <a:defRPr sz="1150" b="0">
                          <a:solidFill>
                            <a:srgbClr val="23282D"/>
                          </a:solidFill>
                        </a:defRPr>
                      </a:pPr>
                      <a:r>
                        <a:t>What is the user's base permission?</a:t>
                      </a:r>
                    </a:p>
                  </a:txBody>
                  <a:tcPr marL="54864" marR="54864" marT="36576" marB="36576">
                    <a:solidFill>
                      <a:srgbClr val="FFFFFF"/>
                    </a:solidFill>
                  </a:tcPr>
                </a:tc>
                <a:tc>
                  <a:txBody>
                    <a:bodyPr/>
                    <a:lstStyle/>
                    <a:p>
                      <a:pPr>
                        <a:defRPr sz="1150" b="0">
                          <a:solidFill>
                            <a:srgbClr val="23282D"/>
                          </a:solidFill>
                        </a:defRPr>
                      </a:pPr>
                      <a:r>
                        <a:t>Base access</a:t>
                      </a:r>
                    </a:p>
                  </a:txBody>
                  <a:tcPr marL="54864" marR="54864" marT="36576" marB="36576">
                    <a:solidFill>
                      <a:srgbClr val="FFFFFF"/>
                    </a:solidFill>
                  </a:tcPr>
                </a:tc>
              </a:tr>
              <a:tr h="490450">
                <a:tc>
                  <a:txBody>
                    <a:bodyPr/>
                    <a:lstStyle/>
                    <a:p>
                      <a:pPr>
                        <a:defRPr sz="1150" b="0">
                          <a:solidFill>
                            <a:srgbClr val="23282D"/>
                          </a:solidFill>
                        </a:defRPr>
                      </a:pPr>
                      <a:r>
                        <a:t>Permission Set</a:t>
                      </a:r>
                    </a:p>
                  </a:txBody>
                  <a:tcPr marL="54864" marR="54864" marT="36576" marB="36576">
                    <a:solidFill>
                      <a:srgbClr val="FFFFFF"/>
                    </a:solidFill>
                  </a:tcPr>
                </a:tc>
                <a:tc>
                  <a:txBody>
                    <a:bodyPr/>
                    <a:lstStyle/>
                    <a:p>
                      <a:pPr>
                        <a:defRPr sz="1150" b="0">
                          <a:solidFill>
                            <a:srgbClr val="23282D"/>
                          </a:solidFill>
                        </a:defRPr>
                      </a:pPr>
                      <a:r>
                        <a:t>What extra permission does this user need?</a:t>
                      </a:r>
                    </a:p>
                  </a:txBody>
                  <a:tcPr marL="54864" marR="54864" marT="36576" marB="36576">
                    <a:solidFill>
                      <a:srgbClr val="FFFFFF"/>
                    </a:solidFill>
                  </a:tcPr>
                </a:tc>
                <a:tc>
                  <a:txBody>
                    <a:bodyPr/>
                    <a:lstStyle/>
                    <a:p>
                      <a:pPr>
                        <a:defRPr sz="1150" b="0">
                          <a:solidFill>
                            <a:srgbClr val="23282D"/>
                          </a:solidFill>
                        </a:defRPr>
                      </a:pPr>
                      <a:r>
                        <a:t>Add access</a:t>
                      </a:r>
                    </a:p>
                  </a:txBody>
                  <a:tcPr marL="54864" marR="54864" marT="36576" marB="36576">
                    <a:solidFill>
                      <a:srgbClr val="FFFFFF"/>
                    </a:solidFill>
                  </a:tcPr>
                </a:tc>
              </a:tr>
              <a:tr h="490450">
                <a:tc>
                  <a:txBody>
                    <a:bodyPr/>
                    <a:lstStyle/>
                    <a:p>
                      <a:pPr>
                        <a:defRPr sz="1150" b="0">
                          <a:solidFill>
                            <a:srgbClr val="23282D"/>
                          </a:solidFill>
                        </a:defRPr>
                      </a:pPr>
                      <a:r>
                        <a:t>Object Permission</a:t>
                      </a:r>
                    </a:p>
                  </a:txBody>
                  <a:tcPr marL="54864" marR="54864" marT="36576" marB="36576">
                    <a:solidFill>
                      <a:srgbClr val="FFFFFF"/>
                    </a:solidFill>
                  </a:tcPr>
                </a:tc>
                <a:tc>
                  <a:txBody>
                    <a:bodyPr/>
                    <a:lstStyle/>
                    <a:p>
                      <a:pPr>
                        <a:defRPr sz="1150" b="0">
                          <a:solidFill>
                            <a:srgbClr val="23282D"/>
                          </a:solidFill>
                        </a:defRPr>
                      </a:pPr>
                      <a:r>
                        <a:t>Can the user access the object?</a:t>
                      </a:r>
                    </a:p>
                  </a:txBody>
                  <a:tcPr marL="54864" marR="54864" marT="36576" marB="36576">
                    <a:solidFill>
                      <a:srgbClr val="FFFFFF"/>
                    </a:solidFill>
                  </a:tcPr>
                </a:tc>
                <a:tc>
                  <a:txBody>
                    <a:bodyPr/>
                    <a:lstStyle/>
                    <a:p>
                      <a:pPr>
                        <a:defRPr sz="1150" b="0">
                          <a:solidFill>
                            <a:srgbClr val="23282D"/>
                          </a:solidFill>
                        </a:defRPr>
                      </a:pPr>
                      <a:r>
                        <a:t>Object gate</a:t>
                      </a:r>
                    </a:p>
                  </a:txBody>
                  <a:tcPr marL="54864" marR="54864" marT="36576" marB="36576">
                    <a:solidFill>
                      <a:srgbClr val="FFFFFF"/>
                    </a:solidFill>
                  </a:tcPr>
                </a:tc>
              </a:tr>
              <a:tr h="490450">
                <a:tc>
                  <a:txBody>
                    <a:bodyPr/>
                    <a:lstStyle/>
                    <a:p>
                      <a:pPr>
                        <a:defRPr sz="1150" b="0">
                          <a:solidFill>
                            <a:srgbClr val="23282D"/>
                          </a:solidFill>
                        </a:defRPr>
                      </a:pPr>
                      <a:r>
                        <a:t>FLS</a:t>
                      </a:r>
                    </a:p>
                  </a:txBody>
                  <a:tcPr marL="54864" marR="54864" marT="36576" marB="36576">
                    <a:solidFill>
                      <a:srgbClr val="FFFFFF"/>
                    </a:solidFill>
                  </a:tcPr>
                </a:tc>
                <a:tc>
                  <a:txBody>
                    <a:bodyPr/>
                    <a:lstStyle/>
                    <a:p>
                      <a:pPr>
                        <a:defRPr sz="1150" b="0">
                          <a:solidFill>
                            <a:srgbClr val="23282D"/>
                          </a:solidFill>
                        </a:defRPr>
                      </a:pPr>
                      <a:r>
                        <a:t>Can the user see/edit this field?</a:t>
                      </a:r>
                    </a:p>
                  </a:txBody>
                  <a:tcPr marL="54864" marR="54864" marT="36576" marB="36576">
                    <a:solidFill>
                      <a:srgbClr val="FFFFFF"/>
                    </a:solidFill>
                  </a:tcPr>
                </a:tc>
                <a:tc>
                  <a:txBody>
                    <a:bodyPr/>
                    <a:lstStyle/>
                    <a:p>
                      <a:pPr>
                        <a:defRPr sz="1150" b="0">
                          <a:solidFill>
                            <a:srgbClr val="23282D"/>
                          </a:solidFill>
                        </a:defRPr>
                      </a:pPr>
                      <a:r>
                        <a:t>Field gate</a:t>
                      </a:r>
                    </a:p>
                  </a:txBody>
                  <a:tcPr marL="54864" marR="54864" marT="36576" marB="36576">
                    <a:solidFill>
                      <a:srgbClr val="FFFFFF"/>
                    </a:solidFill>
                  </a:tcPr>
                </a:tc>
              </a:tr>
              <a:tr h="490450">
                <a:tc>
                  <a:txBody>
                    <a:bodyPr/>
                    <a:lstStyle/>
                    <a:p>
                      <a:pPr>
                        <a:defRPr sz="1150" b="0">
                          <a:solidFill>
                            <a:srgbClr val="23282D"/>
                          </a:solidFill>
                        </a:defRPr>
                      </a:pPr>
                      <a:r>
                        <a:t>Page Layout</a:t>
                      </a:r>
                    </a:p>
                  </a:txBody>
                  <a:tcPr marL="54864" marR="54864" marT="36576" marB="36576">
                    <a:solidFill>
                      <a:srgbClr val="FFFFFF"/>
                    </a:solidFill>
                  </a:tcPr>
                </a:tc>
                <a:tc>
                  <a:txBody>
                    <a:bodyPr/>
                    <a:lstStyle/>
                    <a:p>
                      <a:pPr>
                        <a:defRPr sz="1150" b="0">
                          <a:solidFill>
                            <a:srgbClr val="23282D"/>
                          </a:solidFill>
                        </a:defRPr>
                      </a:pPr>
                      <a:r>
                        <a:t>What does the page look like?</a:t>
                      </a:r>
                    </a:p>
                  </a:txBody>
                  <a:tcPr marL="54864" marR="54864" marT="36576" marB="36576">
                    <a:solidFill>
                      <a:srgbClr val="FFFFFF"/>
                    </a:solidFill>
                  </a:tcPr>
                </a:tc>
                <a:tc>
                  <a:txBody>
                    <a:bodyPr/>
                    <a:lstStyle/>
                    <a:p>
                      <a:pPr>
                        <a:defRPr sz="1150" b="0">
                          <a:solidFill>
                            <a:srgbClr val="23282D"/>
                          </a:solidFill>
                        </a:defRPr>
                      </a:pPr>
                      <a:r>
                        <a:t>Page design</a:t>
                      </a:r>
                    </a:p>
                  </a:txBody>
                  <a:tcPr marL="54864" marR="54864" marT="36576" marB="36576">
                    <a:solidFill>
                      <a:srgbClr val="FFFFFF"/>
                    </a:solidFill>
                  </a:tcPr>
                </a:tc>
              </a:tr>
              <a:tr h="490450">
                <a:tc>
                  <a:txBody>
                    <a:bodyPr/>
                    <a:lstStyle/>
                    <a:p>
                      <a:pPr>
                        <a:defRPr sz="1150" b="0">
                          <a:solidFill>
                            <a:srgbClr val="23282D"/>
                          </a:solidFill>
                        </a:defRPr>
                      </a:pPr>
                      <a:r>
                        <a:t>OWD</a:t>
                      </a:r>
                    </a:p>
                  </a:txBody>
                  <a:tcPr marL="54864" marR="54864" marT="36576" marB="36576">
                    <a:solidFill>
                      <a:srgbClr val="FFFFFF"/>
                    </a:solidFill>
                  </a:tcPr>
                </a:tc>
                <a:tc>
                  <a:txBody>
                    <a:bodyPr/>
                    <a:lstStyle/>
                    <a:p>
                      <a:pPr>
                        <a:defRPr sz="1150" b="0">
                          <a:solidFill>
                            <a:srgbClr val="23282D"/>
                          </a:solidFill>
                        </a:defRPr>
                      </a:pPr>
                      <a:r>
                        <a:t>What is the default record access?</a:t>
                      </a:r>
                    </a:p>
                  </a:txBody>
                  <a:tcPr marL="54864" marR="54864" marT="36576" marB="36576">
                    <a:solidFill>
                      <a:srgbClr val="FFFFFF"/>
                    </a:solidFill>
                  </a:tcPr>
                </a:tc>
                <a:tc>
                  <a:txBody>
                    <a:bodyPr/>
                    <a:lstStyle/>
                    <a:p>
                      <a:pPr>
                        <a:defRPr sz="1150" b="0">
                          <a:solidFill>
                            <a:srgbClr val="23282D"/>
                          </a:solidFill>
                        </a:defRPr>
                      </a:pPr>
                      <a:r>
                        <a:t>Baseline</a:t>
                      </a:r>
                    </a:p>
                  </a:txBody>
                  <a:tcPr marL="54864" marR="54864" marT="36576" marB="36576">
                    <a:solidFill>
                      <a:srgbClr val="FFFFFF"/>
                    </a:solidFill>
                  </a:tcPr>
                </a:tc>
              </a:tr>
              <a:tr h="490450">
                <a:tc>
                  <a:txBody>
                    <a:bodyPr/>
                    <a:lstStyle/>
                    <a:p>
                      <a:pPr>
                        <a:defRPr sz="1150" b="0">
                          <a:solidFill>
                            <a:srgbClr val="23282D"/>
                          </a:solidFill>
                        </a:defRPr>
                      </a:pPr>
                      <a:r>
                        <a:t>Role Hierarchy</a:t>
                      </a:r>
                    </a:p>
                  </a:txBody>
                  <a:tcPr marL="54864" marR="54864" marT="36576" marB="36576">
                    <a:solidFill>
                      <a:srgbClr val="FFFFFF"/>
                    </a:solidFill>
                  </a:tcPr>
                </a:tc>
                <a:tc>
                  <a:txBody>
                    <a:bodyPr/>
                    <a:lstStyle/>
                    <a:p>
                      <a:pPr>
                        <a:defRPr sz="1150" b="0">
                          <a:solidFill>
                            <a:srgbClr val="23282D"/>
                          </a:solidFill>
                        </a:defRPr>
                      </a:pPr>
                      <a:r>
                        <a:t>Who gets access higher in the hierarchy?</a:t>
                      </a:r>
                    </a:p>
                  </a:txBody>
                  <a:tcPr marL="54864" marR="54864" marT="36576" marB="36576">
                    <a:solidFill>
                      <a:srgbClr val="FFFFFF"/>
                    </a:solidFill>
                  </a:tcPr>
                </a:tc>
                <a:tc>
                  <a:txBody>
                    <a:bodyPr/>
                    <a:lstStyle/>
                    <a:p>
                      <a:pPr>
                        <a:defRPr sz="1150" b="0">
                          <a:solidFill>
                            <a:srgbClr val="23282D"/>
                          </a:solidFill>
                        </a:defRPr>
                      </a:pPr>
                      <a:r>
                        <a:t>Open upward</a:t>
                      </a:r>
                    </a:p>
                  </a:txBody>
                  <a:tcPr marL="54864" marR="54864" marT="36576" marB="36576">
                    <a:solidFill>
                      <a:srgbClr val="FFFFFF"/>
                    </a:solidFill>
                  </a:tcPr>
                </a:tc>
              </a:tr>
              <a:tr h="490450">
                <a:tc>
                  <a:txBody>
                    <a:bodyPr/>
                    <a:lstStyle/>
                    <a:p>
                      <a:pPr>
                        <a:defRPr sz="1150" b="0">
                          <a:solidFill>
                            <a:srgbClr val="23282D"/>
                          </a:solidFill>
                        </a:defRPr>
                      </a:pPr>
                      <a:r>
                        <a:t>Sharing Rule</a:t>
                      </a:r>
                    </a:p>
                  </a:txBody>
                  <a:tcPr marL="54864" marR="54864" marT="36576" marB="36576">
                    <a:solidFill>
                      <a:srgbClr val="FFFFFF"/>
                    </a:solidFill>
                  </a:tcPr>
                </a:tc>
                <a:tc>
                  <a:txBody>
                    <a:bodyPr/>
                    <a:lstStyle/>
                    <a:p>
                      <a:pPr>
                        <a:defRPr sz="1150" b="0">
                          <a:solidFill>
                            <a:srgbClr val="23282D"/>
                          </a:solidFill>
                        </a:defRPr>
                      </a:pPr>
                      <a:r>
                        <a:t>Who should automatically get more records?</a:t>
                      </a:r>
                    </a:p>
                  </a:txBody>
                  <a:tcPr marL="54864" marR="54864" marT="36576" marB="36576">
                    <a:solidFill>
                      <a:srgbClr val="FFFFFF"/>
                    </a:solidFill>
                  </a:tcPr>
                </a:tc>
                <a:tc>
                  <a:txBody>
                    <a:bodyPr/>
                    <a:lstStyle/>
                    <a:p>
                      <a:pPr>
                        <a:defRPr sz="1150" b="0">
                          <a:solidFill>
                            <a:srgbClr val="23282D"/>
                          </a:solidFill>
                        </a:defRPr>
                      </a:pPr>
                      <a:r>
                        <a:t>Open automatically</a:t>
                      </a:r>
                    </a:p>
                  </a:txBody>
                  <a:tcPr marL="54864" marR="54864" marT="36576" marB="36576">
                    <a:solidFill>
                      <a:srgbClr val="FFFFFF"/>
                    </a:solidFill>
                  </a:tcPr>
                </a:tc>
              </a:tr>
              <a:tr h="490450">
                <a:tc>
                  <a:txBody>
                    <a:bodyPr/>
                    <a:lstStyle/>
                    <a:p>
                      <a:pPr>
                        <a:defRPr sz="1150" b="0">
                          <a:solidFill>
                            <a:srgbClr val="23282D"/>
                          </a:solidFill>
                        </a:defRPr>
                      </a:pPr>
                      <a:r>
                        <a:t>Manual Sharing</a:t>
                      </a:r>
                    </a:p>
                  </a:txBody>
                  <a:tcPr marL="54864" marR="54864" marT="36576" marB="36576">
                    <a:solidFill>
                      <a:srgbClr val="FFFFFF"/>
                    </a:solidFill>
                  </a:tcPr>
                </a:tc>
                <a:tc>
                  <a:txBody>
                    <a:bodyPr/>
                    <a:lstStyle/>
                    <a:p>
                      <a:pPr>
                        <a:defRPr sz="1150" b="0">
                          <a:solidFill>
                            <a:srgbClr val="23282D"/>
                          </a:solidFill>
                        </a:defRPr>
                      </a:pPr>
                      <a:r>
                        <a:t>Who should get this one record?</a:t>
                      </a:r>
                    </a:p>
                  </a:txBody>
                  <a:tcPr marL="54864" marR="54864" marT="36576" marB="36576">
                    <a:solidFill>
                      <a:srgbClr val="FFFFFF"/>
                    </a:solidFill>
                  </a:tcPr>
                </a:tc>
                <a:tc>
                  <a:txBody>
                    <a:bodyPr/>
                    <a:lstStyle/>
                    <a:p>
                      <a:pPr>
                        <a:defRPr sz="1150" b="0">
                          <a:solidFill>
                            <a:srgbClr val="23282D"/>
                          </a:solidFill>
                        </a:defRPr>
                      </a:pPr>
                      <a:r>
                        <a:t>One-off share</a:t>
                      </a:r>
                    </a:p>
                  </a:txBody>
                  <a:tcPr marL="54864" marR="54864" marT="36576" marB="36576">
                    <a:solidFill>
                      <a:srgbClr val="FFFFFF"/>
                    </a:solidFill>
                  </a:tcPr>
                </a:tc>
              </a:tr>
              <a:tr h="490460">
                <a:tc>
                  <a:txBody>
                    <a:bodyPr/>
                    <a:lstStyle/>
                    <a:p>
                      <a:pPr>
                        <a:defRPr sz="1150" b="0">
                          <a:solidFill>
                            <a:srgbClr val="23282D"/>
                          </a:solidFill>
                        </a:defRPr>
                      </a:pPr>
                      <a:r>
                        <a:t>Restriction Rule</a:t>
                      </a:r>
                    </a:p>
                  </a:txBody>
                  <a:tcPr marL="54864" marR="54864" marT="36576" marB="36576">
                    <a:solidFill>
                      <a:srgbClr val="FFFFFF"/>
                    </a:solidFill>
                  </a:tcPr>
                </a:tc>
                <a:tc>
                  <a:txBody>
                    <a:bodyPr/>
                    <a:lstStyle/>
                    <a:p>
                      <a:pPr>
                        <a:defRPr sz="1150" b="0">
                          <a:solidFill>
                            <a:srgbClr val="23282D"/>
                          </a:solidFill>
                        </a:defRPr>
                      </a:pPr>
                      <a:r>
                        <a:t>Which records should be filtered?</a:t>
                      </a:r>
                    </a:p>
                  </a:txBody>
                  <a:tcPr marL="54864" marR="54864" marT="36576" marB="36576">
                    <a:solidFill>
                      <a:srgbClr val="FFFFFF"/>
                    </a:solidFill>
                  </a:tcPr>
                </a:tc>
                <a:tc>
                  <a:txBody>
                    <a:bodyPr/>
                    <a:lstStyle/>
                    <a:p>
                      <a:pPr>
                        <a:defRPr sz="1150" b="0">
                          <a:solidFill>
                            <a:srgbClr val="23282D"/>
                          </a:solidFill>
                        </a:defRPr>
                      </a:pPr>
                      <a:r>
                        <a:t>Filter visibility</a:t>
                      </a:r>
                    </a:p>
                  </a:txBody>
                  <a:tcPr marL="54864" marR="54864" marT="36576" marB="36576">
                    <a:solidFill>
                      <a:srgbClr val="FFFFFF"/>
                    </a:solidFill>
                  </a:tcPr>
                </a:tc>
              </a:tr>
            </a:tbl>
          </a:graphicData>
        </a:graphic>
      </p:graphicFrame>
      <p:sp>
        <p:nvSpPr>
          <p:cNvPr id="8" name="Rectangle 7"/>
          <p:cNvSpPr/>
          <p:nvPr/>
        </p:nvSpPr>
        <p:spPr>
          <a:xfrm>
            <a:off x="457200" y="6510528"/>
            <a:ext cx="11247120" cy="18288"/>
          </a:xfrm>
          <a:prstGeom prst="rect">
            <a:avLst/>
          </a:prstGeom>
          <a:solidFill>
            <a:srgbClr val="DC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56248"/>
            <a:ext cx="7772400" cy="182880"/>
          </a:xfrm>
          <a:prstGeom prst="rect">
            <a:avLst/>
          </a:prstGeom>
          <a:noFill/>
        </p:spPr>
        <p:txBody>
          <a:bodyPr wrap="none">
            <a:spAutoFit/>
          </a:bodyPr>
          <a:lstStyle/>
          <a:p>
            <a:pPr>
              <a:defRPr sz="900">
                <a:solidFill>
                  <a:srgbClr val="5A646E"/>
                </a:solidFill>
              </a:defRPr>
            </a:pPr>
            <a:r>
              <a:t>Salesforce Security Model • Trainer Edition</a:t>
            </a:r>
          </a:p>
        </p:txBody>
      </p:sp>
      <p:sp>
        <p:nvSpPr>
          <p:cNvPr id="10" name="TextBox 9"/>
          <p:cNvSpPr txBox="1"/>
          <p:nvPr/>
        </p:nvSpPr>
        <p:spPr>
          <a:xfrm>
            <a:off x="10789920" y="6537960"/>
            <a:ext cx="640080" cy="201168"/>
          </a:xfrm>
          <a:prstGeom prst="rect">
            <a:avLst/>
          </a:prstGeom>
          <a:noFill/>
        </p:spPr>
        <p:txBody>
          <a:bodyPr wrap="none">
            <a:spAutoFit/>
          </a:bodyPr>
          <a:lstStyle/>
          <a:p>
            <a:pPr algn="r">
              <a:defRPr sz="900">
                <a:solidFill>
                  <a:srgbClr val="5A646E"/>
                </a:solidFill>
              </a:defRPr>
            </a:pPr>
            <a:r>
              <a:t>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21280</Words>
  <Application>WPS Presentation</Application>
  <PresentationFormat>On-screen Show (4:3)</PresentationFormat>
  <Paragraphs>922</Paragraphs>
  <Slides>51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51</vt:i4>
      </vt:variant>
    </vt:vector>
  </HeadingPairs>
  <TitlesOfParts>
    <vt:vector size="60" baseType="lpstr">
      <vt:lpstr>Arial</vt:lpstr>
      <vt:lpstr>SimSun</vt:lpstr>
      <vt:lpstr>Wingdings</vt:lpstr>
      <vt:lpstr>Arial</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AnantJain</cp:lastModifiedBy>
  <cp:revision>34</cp:revision>
  <dcterms:created xsi:type="dcterms:W3CDTF">2013-01-27T09:14:00Z</dcterms:created>
  <dcterms:modified xsi:type="dcterms:W3CDTF">2026-08-19T01:38:21Z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AFB61433E48146DE94BEF7058F22B068_12</vt:lpwstr>
  </property>
</Properties>
</file>