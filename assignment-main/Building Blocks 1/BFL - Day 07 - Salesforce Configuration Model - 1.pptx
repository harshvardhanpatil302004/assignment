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1" r:id="rId3"/>
  </p:sldMasterIdLst>
  <p:notesMasterIdLst>
    <p:notesMasterId r:id="rId5"/>
  </p:notesMasterIdLst>
  <p:sldIdLst>
    <p:sldId id="256" r:id="rId4"/>
    <p:sldId id="277" r:id="rId6"/>
    <p:sldId id="309" r:id="rId7"/>
    <p:sldId id="316" r:id="rId8"/>
    <p:sldId id="317" r:id="rId9"/>
    <p:sldId id="318" r:id="rId10"/>
    <p:sldId id="319" r:id="rId11"/>
    <p:sldId id="310" r:id="rId12"/>
    <p:sldId id="326" r:id="rId13"/>
    <p:sldId id="327" r:id="rId14"/>
    <p:sldId id="299" r:id="rId15"/>
    <p:sldId id="325" r:id="rId16"/>
    <p:sldId id="320" r:id="rId17"/>
    <p:sldId id="298" r:id="rId18"/>
    <p:sldId id="321" r:id="rId19"/>
    <p:sldId id="322" r:id="rId20"/>
    <p:sldId id="328" r:id="rId21"/>
    <p:sldId id="330" r:id="rId22"/>
    <p:sldId id="258" r:id="rId23"/>
    <p:sldId id="312" r:id="rId24"/>
    <p:sldId id="329" r:id="rId25"/>
    <p:sldId id="323" r:id="rId26"/>
    <p:sldId id="324" r:id="rId27"/>
    <p:sldId id="332" r:id="rId28"/>
    <p:sldId id="276" r:id="rId29"/>
  </p:sldIdLst>
  <p:sldSz cx="12192000" cy="6858000"/>
  <p:notesSz cx="6858000" cy="9144000"/>
  <p:embeddedFontLst>
    <p:embeddedFont>
      <p:font typeface="Calibri" panose="020F0502020204030204"/>
      <p:regular r:id="rId33"/>
      <p:bold r:id="rId34"/>
      <p:italic r:id="rId35"/>
      <p:boldItalic r:id="rId36"/>
    </p:embeddedFont>
    <p:embeddedFont>
      <p:font typeface="Roboto" panose="02000000000000000000"/>
      <p:regular r:id="rId37"/>
      <p:bold r:id="rId38"/>
      <p:italic r:id="rId39"/>
      <p:boldItalic r:id="rId40"/>
    </p:embeddedFont>
    <p:embeddedFont>
      <p:font typeface="Segoe UI" panose="020B0502040204020203"/>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424"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 d="2"/>
          <a:sy n="1" d="2"/>
        </p:scale>
        <p:origin x="0" y="0"/>
      </p:cViewPr>
      <p:guideLst>
        <p:guide orient="horz" pos="2424"/>
        <p:guide pos="3816"/>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7" Type="http://schemas.openxmlformats.org/officeDocument/2006/relationships/customXml" Target="../customXml/item3.xml"/><Relationship Id="rId46" Type="http://schemas.openxmlformats.org/officeDocument/2006/relationships/customXml" Target="../customXml/item2.xml"/><Relationship Id="rId45" Type="http://schemas.openxmlformats.org/officeDocument/2006/relationships/customXml" Target="../customXml/item1.xml"/><Relationship Id="rId44" Type="http://schemas.openxmlformats.org/officeDocument/2006/relationships/font" Target="fonts/font12.fntdata"/><Relationship Id="rId43" Type="http://schemas.openxmlformats.org/officeDocument/2006/relationships/font" Target="fonts/font11.fntdata"/><Relationship Id="rId42" Type="http://schemas.openxmlformats.org/officeDocument/2006/relationships/font" Target="fonts/font10.fntdata"/><Relationship Id="rId41" Type="http://schemas.openxmlformats.org/officeDocument/2006/relationships/font" Target="fonts/font9.fntdata"/><Relationship Id="rId40" Type="http://schemas.openxmlformats.org/officeDocument/2006/relationships/font" Target="fonts/font8.fntdata"/><Relationship Id="rId4" Type="http://schemas.openxmlformats.org/officeDocument/2006/relationships/slide" Target="slides/slide1.xml"/><Relationship Id="rId39" Type="http://schemas.openxmlformats.org/officeDocument/2006/relationships/font" Target="fonts/font7.fntdata"/><Relationship Id="rId38" Type="http://schemas.openxmlformats.org/officeDocument/2006/relationships/font" Target="fonts/font6.fntdata"/><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4"/>
        <p:cNvGrpSpPr/>
        <p:nvPr/>
      </p:nvGrpSpPr>
      <p:grpSpPr>
        <a:xfrm>
          <a:off x="0" y="0"/>
          <a:ext cx="0" cy="0"/>
          <a:chOff x="0" y="0"/>
          <a:chExt cx="0" cy="0"/>
        </a:xfrm>
      </p:grpSpPr>
      <p:sp>
        <p:nvSpPr>
          <p:cNvPr id="255" name="Google Shape;25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6" name="Google Shape;25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4"/>
        <p:cNvGrpSpPr/>
        <p:nvPr/>
      </p:nvGrpSpPr>
      <p:grpSpPr>
        <a:xfrm>
          <a:off x="0" y="0"/>
          <a:ext cx="0" cy="0"/>
          <a:chOff x="0" y="0"/>
          <a:chExt cx="0" cy="0"/>
        </a:xfrm>
      </p:grpSpPr>
      <p:sp>
        <p:nvSpPr>
          <p:cNvPr id="255" name="Google Shape;25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6" name="Google Shape;25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73d82300a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73d82300a4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7"/>
        <p:cNvGrpSpPr/>
        <p:nvPr/>
      </p:nvGrpSpPr>
      <p:grpSpPr>
        <a:xfrm>
          <a:off x="0" y="0"/>
          <a:ext cx="0" cy="0"/>
          <a:chOff x="0" y="0"/>
          <a:chExt cx="0" cy="0"/>
        </a:xfrm>
      </p:grpSpPr>
      <p:sp>
        <p:nvSpPr>
          <p:cNvPr id="308" name="Google Shape;30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9" name="Google Shape;30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d slide layout">
  <p:cSld name="End slide layout">
    <p:spTree>
      <p:nvGrpSpPr>
        <p:cNvPr id="1" name="Shape 6"/>
        <p:cNvGrpSpPr/>
        <p:nvPr/>
      </p:nvGrpSpPr>
      <p:grpSpPr>
        <a:xfrm>
          <a:off x="0" y="0"/>
          <a:ext cx="0" cy="0"/>
          <a:chOff x="0" y="0"/>
          <a:chExt cx="0" cy="0"/>
        </a:xfrm>
      </p:grpSpPr>
      <p:sp>
        <p:nvSpPr>
          <p:cNvPr id="7" name="Google Shape;7;p2"/>
          <p:cNvSpPr txBox="1">
            <a:spLocks noGrp="1"/>
          </p:cNvSpPr>
          <p:nvPr>
            <p:ph type="body" idx="1"/>
          </p:nvPr>
        </p:nvSpPr>
        <p:spPr>
          <a:xfrm>
            <a:off x="365760" y="2749145"/>
            <a:ext cx="6194935" cy="6602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3F3F3F"/>
              </a:buClr>
              <a:buSzPts val="4400"/>
              <a:buFont typeface="Arial" panose="020B0604020202020204"/>
              <a:buNone/>
              <a:defRPr sz="4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rgbClr val="3F3F3F"/>
              </a:buClr>
              <a:buSzPts val="2400"/>
              <a:buFont typeface="Arial" panose="020B0604020202020204"/>
              <a:buChar char="•"/>
              <a:defRPr sz="2400" b="0" i="0" u="none" strike="noStrike" cap="none">
                <a:solidFill>
                  <a:srgbClr val="3F3F3F"/>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rgbClr val="3F3F3F"/>
              </a:buClr>
              <a:buSzPts val="2000"/>
              <a:buFont typeface="Arial" panose="020B0604020202020204"/>
              <a:buChar char="•"/>
              <a:defRPr sz="2000" b="0" i="0" u="none" strike="noStrike" cap="none">
                <a:solidFill>
                  <a:srgbClr val="3F3F3F"/>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rgbClr val="3F3F3F"/>
              </a:buClr>
              <a:buSzPts val="1800"/>
              <a:buFont typeface="Arial" panose="020B0604020202020204"/>
              <a:buChar char="•"/>
              <a:defRPr sz="1800" b="0" i="0" u="none" strike="noStrike" cap="none">
                <a:solidFill>
                  <a:srgbClr val="3F3F3F"/>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rgbClr val="3F3F3F"/>
              </a:buClr>
              <a:buSzPts val="1800"/>
              <a:buFont typeface="Arial" panose="020B0604020202020204"/>
              <a:buChar char="•"/>
              <a:defRPr sz="1800" b="0" i="0" u="none" strike="noStrike" cap="none">
                <a:solidFill>
                  <a:srgbClr val="3F3F3F"/>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grpSp>
        <p:nvGrpSpPr>
          <p:cNvPr id="8" name="Google Shape;8;p2"/>
          <p:cNvGrpSpPr/>
          <p:nvPr/>
        </p:nvGrpSpPr>
        <p:grpSpPr>
          <a:xfrm>
            <a:off x="365760" y="3429000"/>
            <a:ext cx="6194935" cy="201821"/>
            <a:chOff x="4379494" y="697832"/>
            <a:chExt cx="2586787" cy="168442"/>
          </a:xfrm>
        </p:grpSpPr>
        <p:sp>
          <p:nvSpPr>
            <p:cNvPr id="9" name="Google Shape;9;p2"/>
            <p:cNvSpPr/>
            <p:nvPr/>
          </p:nvSpPr>
          <p:spPr>
            <a:xfrm>
              <a:off x="4379494" y="697832"/>
              <a:ext cx="517358" cy="16844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0" name="Google Shape;10;p2"/>
            <p:cNvSpPr/>
            <p:nvPr/>
          </p:nvSpPr>
          <p:spPr>
            <a:xfrm>
              <a:off x="4896851"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1" name="Google Shape;11;p2"/>
            <p:cNvSpPr/>
            <p:nvPr/>
          </p:nvSpPr>
          <p:spPr>
            <a:xfrm>
              <a:off x="5414208"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2" name="Google Shape;12;p2"/>
            <p:cNvSpPr/>
            <p:nvPr/>
          </p:nvSpPr>
          <p:spPr>
            <a:xfrm>
              <a:off x="5931565"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3" name="Google Shape;13;p2"/>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14" name="Google Shape;14;p2"/>
          <p:cNvPicPr preferRelativeResize="0"/>
          <p:nvPr/>
        </p:nvPicPr>
        <p:blipFill rotWithShape="1">
          <a:blip r:embed="rId2"/>
          <a:srcRect l="43393" t="1161"/>
          <a:stretch>
            <a:fillRect/>
          </a:stretch>
        </p:blipFill>
        <p:spPr>
          <a:xfrm>
            <a:off x="6560695" y="1332412"/>
            <a:ext cx="5631305" cy="5551714"/>
          </a:xfrm>
          <a:prstGeom prst="rect">
            <a:avLst/>
          </a:prstGeom>
          <a:noFill/>
          <a:ln>
            <a:noFill/>
          </a:ln>
        </p:spPr>
      </p:pic>
      <p:sp>
        <p:nvSpPr>
          <p:cNvPr id="15" name="Google Shape;15;p2"/>
          <p:cNvSpPr/>
          <p:nvPr/>
        </p:nvSpPr>
        <p:spPr>
          <a:xfrm>
            <a:off x="7929155" y="3630821"/>
            <a:ext cx="4023360" cy="115018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6" name="Google Shape;16;p2"/>
          <p:cNvPicPr preferRelativeResize="0"/>
          <p:nvPr/>
        </p:nvPicPr>
        <p:blipFill rotWithShape="1">
          <a:blip r:embed="rId3"/>
          <a:srcRect/>
          <a:stretch>
            <a:fillRect/>
          </a:stretch>
        </p:blipFill>
        <p:spPr>
          <a:xfrm>
            <a:off x="8168640" y="4016039"/>
            <a:ext cx="4023360" cy="764967"/>
          </a:xfrm>
          <a:prstGeom prst="rect">
            <a:avLst/>
          </a:prstGeom>
          <a:noFill/>
          <a:ln>
            <a:noFill/>
          </a:ln>
        </p:spPr>
      </p:pic>
      <p:pic>
        <p:nvPicPr>
          <p:cNvPr id="17" name="Google Shape;17;p2" descr="A picture containing drawing&#10;&#10;Description automatically generated"/>
          <p:cNvPicPr preferRelativeResize="0"/>
          <p:nvPr/>
        </p:nvPicPr>
        <p:blipFill rotWithShape="1">
          <a:blip r:embed="rId4"/>
          <a:srcRect/>
          <a:stretch>
            <a:fillRect/>
          </a:stretch>
        </p:blipFill>
        <p:spPr>
          <a:xfrm>
            <a:off x="9808836" y="2865853"/>
            <a:ext cx="742967" cy="115018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8"/>
        <p:cNvGrpSpPr/>
        <p:nvPr/>
      </p:nvGrpSpPr>
      <p:grpSpPr>
        <a:xfrm>
          <a:off x="0" y="0"/>
          <a:ext cx="0" cy="0"/>
          <a:chOff x="0" y="0"/>
          <a:chExt cx="0" cy="0"/>
        </a:xfrm>
      </p:grpSpPr>
      <p:pic>
        <p:nvPicPr>
          <p:cNvPr id="19" name="Google Shape;19;p3"/>
          <p:cNvPicPr preferRelativeResize="0"/>
          <p:nvPr/>
        </p:nvPicPr>
        <p:blipFill rotWithShape="1">
          <a:blip r:embed="rId2"/>
          <a:srcRect t="549" r="567"/>
          <a:stretch>
            <a:fillRect/>
          </a:stretch>
        </p:blipFill>
        <p:spPr>
          <a:xfrm>
            <a:off x="0" y="-10141"/>
            <a:ext cx="12192000" cy="6877402"/>
          </a:xfrm>
          <a:prstGeom prst="rect">
            <a:avLst/>
          </a:prstGeom>
          <a:noFill/>
          <a:ln>
            <a:noFill/>
          </a:ln>
        </p:spPr>
      </p:pic>
      <p:pic>
        <p:nvPicPr>
          <p:cNvPr id="20" name="Google Shape;20;p3"/>
          <p:cNvPicPr preferRelativeResize="0"/>
          <p:nvPr/>
        </p:nvPicPr>
        <p:blipFill rotWithShape="1">
          <a:blip r:embed="rId2"/>
          <a:srcRect t="31406" r="51735" b="50000"/>
          <a:stretch>
            <a:fillRect/>
          </a:stretch>
        </p:blipFill>
        <p:spPr>
          <a:xfrm>
            <a:off x="803637" y="1003145"/>
            <a:ext cx="4238625" cy="920932"/>
          </a:xfrm>
          <a:prstGeom prst="rect">
            <a:avLst/>
          </a:prstGeom>
          <a:noFill/>
          <a:ln>
            <a:noFill/>
          </a:ln>
        </p:spPr>
      </p:pic>
      <p:sp>
        <p:nvSpPr>
          <p:cNvPr id="21" name="Google Shape;21;p3"/>
          <p:cNvSpPr txBox="1">
            <a:spLocks noGrp="1"/>
          </p:cNvSpPr>
          <p:nvPr>
            <p:ph type="body" idx="1"/>
          </p:nvPr>
        </p:nvSpPr>
        <p:spPr>
          <a:xfrm>
            <a:off x="803275" y="1175107"/>
            <a:ext cx="4852942" cy="76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F3F3F"/>
              </a:buClr>
              <a:buSzPts val="7200"/>
              <a:buFont typeface="Arial" panose="020B0604020202020204"/>
              <a:buNone/>
              <a:defRPr sz="72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pic>
        <p:nvPicPr>
          <p:cNvPr id="22" name="Google Shape;22;p3" descr="A close up of a sign&#10;&#10;Description automatically generated"/>
          <p:cNvPicPr preferRelativeResize="0"/>
          <p:nvPr/>
        </p:nvPicPr>
        <p:blipFill rotWithShape="1">
          <a:blip r:embed="rId3"/>
          <a:srcRect/>
          <a:stretch>
            <a:fillRect/>
          </a:stretch>
        </p:blipFill>
        <p:spPr>
          <a:xfrm>
            <a:off x="894715" y="3448591"/>
            <a:ext cx="3746622" cy="109728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Contents slide layout">
  <p:cSld name="3_Contents slide layout">
    <p:spTree>
      <p:nvGrpSpPr>
        <p:cNvPr id="1" name="Shape 79"/>
        <p:cNvGrpSpPr/>
        <p:nvPr/>
      </p:nvGrpSpPr>
      <p:grpSpPr>
        <a:xfrm>
          <a:off x="0" y="0"/>
          <a:ext cx="0" cy="0"/>
          <a:chOff x="0" y="0"/>
          <a:chExt cx="0" cy="0"/>
        </a:xfrm>
      </p:grpSpPr>
      <p:sp>
        <p:nvSpPr>
          <p:cNvPr id="80" name="Google Shape;80;p9"/>
          <p:cNvSpPr/>
          <p:nvPr/>
        </p:nvSpPr>
        <p:spPr>
          <a:xfrm rot="5400000">
            <a:off x="6644503" y="987606"/>
            <a:ext cx="6561221" cy="4533772"/>
          </a:xfrm>
          <a:prstGeom prst="rect">
            <a:avLst/>
          </a:prstGeom>
          <a:gradFill>
            <a:gsLst>
              <a:gs pos="0">
                <a:schemeClr val="accent1"/>
              </a:gs>
              <a:gs pos="33000">
                <a:schemeClr val="accent2"/>
              </a:gs>
              <a:gs pos="66000">
                <a:schemeClr val="accent3"/>
              </a:gs>
              <a:gs pos="96000">
                <a:schemeClr val="accent4"/>
              </a:gs>
              <a:gs pos="100000">
                <a:schemeClr val="accent4"/>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1" name="Google Shape;81;p9"/>
          <p:cNvSpPr txBox="1">
            <a:spLocks noGrp="1"/>
          </p:cNvSpPr>
          <p:nvPr>
            <p:ph type="body" idx="1"/>
          </p:nvPr>
        </p:nvSpPr>
        <p:spPr>
          <a:xfrm>
            <a:off x="7824650" y="470489"/>
            <a:ext cx="4193179" cy="5799681"/>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panose="020B0604020202020204"/>
              <a:buChar char="•"/>
              <a:defRPr sz="2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lt1"/>
              </a:buClr>
              <a:buSzPts val="2400"/>
              <a:buFont typeface="Arial" panose="020B0604020202020204"/>
              <a:buChar char="•"/>
              <a:defRPr sz="24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lt1"/>
              </a:buClr>
              <a:buSzPts val="2000"/>
              <a:buFont typeface="Arial" panose="020B0604020202020204"/>
              <a:buChar char="•"/>
              <a:defRPr sz="20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2" name="Google Shape;82;p9"/>
          <p:cNvSpPr txBox="1">
            <a:spLocks noGrp="1"/>
          </p:cNvSpPr>
          <p:nvPr>
            <p:ph type="body" idx="2"/>
          </p:nvPr>
        </p:nvSpPr>
        <p:spPr>
          <a:xfrm>
            <a:off x="377859" y="1463039"/>
            <a:ext cx="7067969" cy="4807131"/>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rgbClr val="3F3F3F"/>
              </a:buClr>
              <a:buSzPts val="3200"/>
              <a:buFont typeface="Arial" panose="020B0604020202020204"/>
              <a:buChar char="•"/>
              <a:defRPr sz="32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1pPr>
            <a:lvl2pPr marL="914400" marR="0" lvl="1" indent="-431800" algn="l" rtl="0">
              <a:lnSpc>
                <a:spcPct val="90000"/>
              </a:lnSpc>
              <a:spcBef>
                <a:spcPts val="500"/>
              </a:spcBef>
              <a:spcAft>
                <a:spcPts val="0"/>
              </a:spcAft>
              <a:buClr>
                <a:srgbClr val="3F3F3F"/>
              </a:buClr>
              <a:buSzPts val="3200"/>
              <a:buFont typeface="Arial" panose="020B0604020202020204"/>
              <a:buChar char="•"/>
              <a:defRPr sz="32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2pPr>
            <a:lvl3pPr marL="1371600" marR="0" lvl="2" indent="-431800" algn="l" rtl="0">
              <a:lnSpc>
                <a:spcPct val="90000"/>
              </a:lnSpc>
              <a:spcBef>
                <a:spcPts val="500"/>
              </a:spcBef>
              <a:spcAft>
                <a:spcPts val="0"/>
              </a:spcAft>
              <a:buClr>
                <a:srgbClr val="3F3F3F"/>
              </a:buClr>
              <a:buSzPts val="3200"/>
              <a:buFont typeface="Arial" panose="020B0604020202020204"/>
              <a:buChar char="•"/>
              <a:defRPr sz="32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3pPr>
            <a:lvl4pPr marL="1828800" marR="0" lvl="3" indent="-431800" algn="l" rtl="0">
              <a:lnSpc>
                <a:spcPct val="90000"/>
              </a:lnSpc>
              <a:spcBef>
                <a:spcPts val="500"/>
              </a:spcBef>
              <a:spcAft>
                <a:spcPts val="0"/>
              </a:spcAft>
              <a:buClr>
                <a:srgbClr val="3F3F3F"/>
              </a:buClr>
              <a:buSzPts val="3200"/>
              <a:buFont typeface="Arial" panose="020B0604020202020204"/>
              <a:buChar char="•"/>
              <a:defRPr sz="32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4pPr>
            <a:lvl5pPr marL="2286000" marR="0" lvl="4" indent="-431800" algn="l" rtl="0">
              <a:lnSpc>
                <a:spcPct val="90000"/>
              </a:lnSpc>
              <a:spcBef>
                <a:spcPts val="500"/>
              </a:spcBef>
              <a:spcAft>
                <a:spcPts val="0"/>
              </a:spcAft>
              <a:buClr>
                <a:srgbClr val="3F3F3F"/>
              </a:buClr>
              <a:buSzPts val="3200"/>
              <a:buFont typeface="Arial" panose="020B0604020202020204"/>
              <a:buChar char="•"/>
              <a:defRPr sz="32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3" name="Google Shape;83;p9"/>
          <p:cNvSpPr txBox="1">
            <a:spLocks noGrp="1"/>
          </p:cNvSpPr>
          <p:nvPr>
            <p:ph type="body" idx="3"/>
          </p:nvPr>
        </p:nvSpPr>
        <p:spPr>
          <a:xfrm>
            <a:off x="377825" y="221887"/>
            <a:ext cx="7067550" cy="10191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2"/>
              </a:buClr>
              <a:buSzPts val="4000"/>
              <a:buFont typeface="Arial" panose="020B0604020202020204"/>
              <a:buNone/>
              <a:defRPr sz="4000" b="0" i="0" u="none" strike="noStrike" cap="none">
                <a:solidFill>
                  <a:schemeClr val="accent2"/>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grpSp>
        <p:nvGrpSpPr>
          <p:cNvPr id="84" name="Google Shape;84;p9"/>
          <p:cNvGrpSpPr/>
          <p:nvPr/>
        </p:nvGrpSpPr>
        <p:grpSpPr>
          <a:xfrm>
            <a:off x="-4946" y="6547470"/>
            <a:ext cx="12027129" cy="383311"/>
            <a:chOff x="-4946" y="6547470"/>
            <a:chExt cx="12027129" cy="383311"/>
          </a:xfrm>
        </p:grpSpPr>
        <p:grpSp>
          <p:nvGrpSpPr>
            <p:cNvPr id="85" name="Google Shape;85;p9"/>
            <p:cNvGrpSpPr/>
            <p:nvPr/>
          </p:nvGrpSpPr>
          <p:grpSpPr>
            <a:xfrm>
              <a:off x="-4946" y="6548165"/>
              <a:ext cx="9753598" cy="335375"/>
              <a:chOff x="4896852" y="697832"/>
              <a:chExt cx="2069429" cy="168442"/>
            </a:xfrm>
          </p:grpSpPr>
          <p:sp>
            <p:nvSpPr>
              <p:cNvPr id="86" name="Google Shape;86;p9"/>
              <p:cNvSpPr/>
              <p:nvPr/>
            </p:nvSpPr>
            <p:spPr>
              <a:xfrm>
                <a:off x="4896852"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7" name="Google Shape;87;p9"/>
              <p:cNvSpPr/>
              <p:nvPr/>
            </p:nvSpPr>
            <p:spPr>
              <a:xfrm>
                <a:off x="5414209"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8" name="Google Shape;88;p9"/>
              <p:cNvSpPr/>
              <p:nvPr/>
            </p:nvSpPr>
            <p:spPr>
              <a:xfrm>
                <a:off x="5931566"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9" name="Google Shape;89;p9"/>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pic>
          <p:nvPicPr>
            <p:cNvPr id="90" name="Google Shape;90;p9"/>
            <p:cNvPicPr preferRelativeResize="0"/>
            <p:nvPr/>
          </p:nvPicPr>
          <p:blipFill rotWithShape="1">
            <a:blip r:embed="rId2"/>
            <a:srcRect/>
            <a:stretch>
              <a:fillRect/>
            </a:stretch>
          </p:blipFill>
          <p:spPr>
            <a:xfrm>
              <a:off x="10006149" y="6547470"/>
              <a:ext cx="2016034" cy="383311"/>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4"/>
        <p:cNvGrpSpPr/>
        <p:nvPr/>
      </p:nvGrpSpPr>
      <p:grpSpPr>
        <a:xfrm>
          <a:off x="0" y="0"/>
          <a:ext cx="0" cy="0"/>
          <a:chOff x="0" y="0"/>
          <a:chExt cx="0" cy="0"/>
        </a:xfrm>
      </p:grpSpPr>
      <p:grpSp>
        <p:nvGrpSpPr>
          <p:cNvPr id="25" name="Google Shape;25;p5"/>
          <p:cNvGrpSpPr/>
          <p:nvPr/>
        </p:nvGrpSpPr>
        <p:grpSpPr>
          <a:xfrm>
            <a:off x="3907972" y="1063755"/>
            <a:ext cx="4376057" cy="77068"/>
            <a:chOff x="4379494" y="697832"/>
            <a:chExt cx="2586787" cy="168442"/>
          </a:xfrm>
        </p:grpSpPr>
        <p:sp>
          <p:nvSpPr>
            <p:cNvPr id="26" name="Google Shape;26;p5"/>
            <p:cNvSpPr/>
            <p:nvPr/>
          </p:nvSpPr>
          <p:spPr>
            <a:xfrm>
              <a:off x="4379494" y="697832"/>
              <a:ext cx="517358" cy="16844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7" name="Google Shape;27;p5"/>
            <p:cNvSpPr/>
            <p:nvPr/>
          </p:nvSpPr>
          <p:spPr>
            <a:xfrm>
              <a:off x="4896851"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8" name="Google Shape;28;p5"/>
            <p:cNvSpPr/>
            <p:nvPr/>
          </p:nvSpPr>
          <p:spPr>
            <a:xfrm>
              <a:off x="5414208"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9" name="Google Shape;29;p5"/>
            <p:cNvSpPr/>
            <p:nvPr/>
          </p:nvSpPr>
          <p:spPr>
            <a:xfrm>
              <a:off x="5931565"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0" name="Google Shape;30;p5"/>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sp>
        <p:nvSpPr>
          <p:cNvPr id="31" name="Google Shape;31;p5"/>
          <p:cNvSpPr txBox="1">
            <a:spLocks noGrp="1"/>
          </p:cNvSpPr>
          <p:nvPr>
            <p:ph type="body" idx="1"/>
          </p:nvPr>
        </p:nvSpPr>
        <p:spPr>
          <a:xfrm>
            <a:off x="373969" y="310530"/>
            <a:ext cx="11444061" cy="62719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2"/>
              </a:buClr>
              <a:buSzPts val="4000"/>
              <a:buFont typeface="Arial" panose="020B0604020202020204"/>
              <a:buNone/>
              <a:defRPr sz="4000" b="0" i="0" u="none" strike="noStrike" cap="none">
                <a:solidFill>
                  <a:schemeClr val="accent2"/>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32" name="Google Shape;32;p5"/>
          <p:cNvSpPr txBox="1">
            <a:spLocks noGrp="1"/>
          </p:cNvSpPr>
          <p:nvPr>
            <p:ph type="body" idx="2"/>
          </p:nvPr>
        </p:nvSpPr>
        <p:spPr>
          <a:xfrm>
            <a:off x="373969" y="1383937"/>
            <a:ext cx="11522754" cy="483552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3F3F3F"/>
              </a:buClr>
              <a:buSzPts val="2800"/>
              <a:buFont typeface="Arial" panose="020B0604020202020204"/>
              <a:buChar char="•"/>
              <a:defRPr sz="2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rgbClr val="3F3F3F"/>
              </a:buClr>
              <a:buSzPts val="2400"/>
              <a:buFont typeface="Arial" panose="020B0604020202020204"/>
              <a:buChar char="•"/>
              <a:defRPr sz="2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rgbClr val="3F3F3F"/>
              </a:buClr>
              <a:buSzPts val="2000"/>
              <a:buFont typeface="Arial" panose="020B0604020202020204"/>
              <a:buChar char="•"/>
              <a:defRPr sz="20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rgbClr val="3F3F3F"/>
              </a:buClr>
              <a:buSzPts val="1800"/>
              <a:buFont typeface="Arial" panose="020B0604020202020204"/>
              <a:buChar char="•"/>
              <a:defRPr sz="1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rgbClr val="3F3F3F"/>
              </a:buClr>
              <a:buSzPts val="1800"/>
              <a:buFont typeface="Arial" panose="020B0604020202020204"/>
              <a:buChar char="•"/>
              <a:defRPr sz="1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grpSp>
        <p:nvGrpSpPr>
          <p:cNvPr id="33" name="Google Shape;33;p5"/>
          <p:cNvGrpSpPr/>
          <p:nvPr/>
        </p:nvGrpSpPr>
        <p:grpSpPr>
          <a:xfrm>
            <a:off x="-4946" y="6547470"/>
            <a:ext cx="12027129" cy="383311"/>
            <a:chOff x="-4946" y="6547470"/>
            <a:chExt cx="12027129" cy="383311"/>
          </a:xfrm>
        </p:grpSpPr>
        <p:grpSp>
          <p:nvGrpSpPr>
            <p:cNvPr id="34" name="Google Shape;34;p5"/>
            <p:cNvGrpSpPr/>
            <p:nvPr/>
          </p:nvGrpSpPr>
          <p:grpSpPr>
            <a:xfrm>
              <a:off x="-4946" y="6548165"/>
              <a:ext cx="9753598" cy="335375"/>
              <a:chOff x="4896852" y="697832"/>
              <a:chExt cx="2069429" cy="168442"/>
            </a:xfrm>
          </p:grpSpPr>
          <p:sp>
            <p:nvSpPr>
              <p:cNvPr id="35" name="Google Shape;35;p5"/>
              <p:cNvSpPr/>
              <p:nvPr/>
            </p:nvSpPr>
            <p:spPr>
              <a:xfrm>
                <a:off x="4896852"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6" name="Google Shape;36;p5"/>
              <p:cNvSpPr/>
              <p:nvPr/>
            </p:nvSpPr>
            <p:spPr>
              <a:xfrm>
                <a:off x="5414209"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7" name="Google Shape;37;p5"/>
              <p:cNvSpPr/>
              <p:nvPr/>
            </p:nvSpPr>
            <p:spPr>
              <a:xfrm>
                <a:off x="5931566"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38" name="Google Shape;38;p5"/>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pic>
          <p:nvPicPr>
            <p:cNvPr id="39" name="Google Shape;39;p5"/>
            <p:cNvPicPr preferRelativeResize="0"/>
            <p:nvPr/>
          </p:nvPicPr>
          <p:blipFill rotWithShape="1">
            <a:blip r:embed="rId2"/>
            <a:srcRect/>
            <a:stretch>
              <a:fillRect/>
            </a:stretch>
          </p:blipFill>
          <p:spPr>
            <a:xfrm>
              <a:off x="10006149" y="6547470"/>
              <a:ext cx="2016034" cy="383311"/>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Contents slide layout">
  <p:cSld name="1_Contents slide layout">
    <p:spTree>
      <p:nvGrpSpPr>
        <p:cNvPr id="1" name="Shape 40"/>
        <p:cNvGrpSpPr/>
        <p:nvPr/>
      </p:nvGrpSpPr>
      <p:grpSpPr>
        <a:xfrm>
          <a:off x="0" y="0"/>
          <a:ext cx="0" cy="0"/>
          <a:chOff x="0" y="0"/>
          <a:chExt cx="0" cy="0"/>
        </a:xfrm>
      </p:grpSpPr>
      <p:sp>
        <p:nvSpPr>
          <p:cNvPr id="41" name="Google Shape;41;p6"/>
          <p:cNvSpPr txBox="1">
            <a:spLocks noGrp="1"/>
          </p:cNvSpPr>
          <p:nvPr>
            <p:ph type="body" idx="1"/>
          </p:nvPr>
        </p:nvSpPr>
        <p:spPr>
          <a:xfrm>
            <a:off x="373969" y="1383937"/>
            <a:ext cx="11522754" cy="483552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3F3F3F"/>
              </a:buClr>
              <a:buSzPts val="2800"/>
              <a:buFont typeface="Arial" panose="020B0604020202020204"/>
              <a:buChar char="•"/>
              <a:defRPr sz="2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rgbClr val="3F3F3F"/>
              </a:buClr>
              <a:buSzPts val="2400"/>
              <a:buFont typeface="Arial" panose="020B0604020202020204"/>
              <a:buChar char="•"/>
              <a:defRPr sz="24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rgbClr val="3F3F3F"/>
              </a:buClr>
              <a:buSzPts val="2000"/>
              <a:buFont typeface="Arial" panose="020B0604020202020204"/>
              <a:buChar char="•"/>
              <a:defRPr sz="20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rgbClr val="3F3F3F"/>
              </a:buClr>
              <a:buSzPts val="1800"/>
              <a:buFont typeface="Arial" panose="020B0604020202020204"/>
              <a:buChar char="•"/>
              <a:defRPr sz="1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rgbClr val="3F3F3F"/>
              </a:buClr>
              <a:buSzPts val="1800"/>
              <a:buFont typeface="Arial" panose="020B0604020202020204"/>
              <a:buChar char="•"/>
              <a:defRPr sz="1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2" name="Google Shape;42;p6"/>
          <p:cNvSpPr txBox="1">
            <a:spLocks noGrp="1"/>
          </p:cNvSpPr>
          <p:nvPr>
            <p:ph type="body" idx="2"/>
          </p:nvPr>
        </p:nvSpPr>
        <p:spPr>
          <a:xfrm>
            <a:off x="373969" y="310530"/>
            <a:ext cx="11444061" cy="62719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2"/>
              </a:buClr>
              <a:buSzPts val="4000"/>
              <a:buFont typeface="Arial" panose="020B0604020202020204"/>
              <a:buNone/>
              <a:defRPr sz="4000" b="0" i="0" u="none" strike="noStrike" cap="none">
                <a:solidFill>
                  <a:schemeClr val="accent2"/>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grpSp>
        <p:nvGrpSpPr>
          <p:cNvPr id="43" name="Google Shape;43;p6"/>
          <p:cNvGrpSpPr/>
          <p:nvPr/>
        </p:nvGrpSpPr>
        <p:grpSpPr>
          <a:xfrm>
            <a:off x="-4946" y="6547470"/>
            <a:ext cx="12027129" cy="383311"/>
            <a:chOff x="-4946" y="6547470"/>
            <a:chExt cx="12027129" cy="383311"/>
          </a:xfrm>
        </p:grpSpPr>
        <p:grpSp>
          <p:nvGrpSpPr>
            <p:cNvPr id="44" name="Google Shape;44;p6"/>
            <p:cNvGrpSpPr/>
            <p:nvPr/>
          </p:nvGrpSpPr>
          <p:grpSpPr>
            <a:xfrm>
              <a:off x="-4946" y="6548165"/>
              <a:ext cx="9753598" cy="335375"/>
              <a:chOff x="4896852" y="697832"/>
              <a:chExt cx="2069429" cy="168442"/>
            </a:xfrm>
          </p:grpSpPr>
          <p:sp>
            <p:nvSpPr>
              <p:cNvPr id="45" name="Google Shape;45;p6"/>
              <p:cNvSpPr/>
              <p:nvPr/>
            </p:nvSpPr>
            <p:spPr>
              <a:xfrm>
                <a:off x="4896852" y="697832"/>
                <a:ext cx="517358" cy="16844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6" name="Google Shape;46;p6"/>
              <p:cNvSpPr/>
              <p:nvPr/>
            </p:nvSpPr>
            <p:spPr>
              <a:xfrm>
                <a:off x="5414209" y="697832"/>
                <a:ext cx="517358" cy="16844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7" name="Google Shape;47;p6"/>
              <p:cNvSpPr/>
              <p:nvPr/>
            </p:nvSpPr>
            <p:spPr>
              <a:xfrm>
                <a:off x="5931566" y="697832"/>
                <a:ext cx="517358" cy="16844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48" name="Google Shape;48;p6"/>
              <p:cNvSpPr/>
              <p:nvPr/>
            </p:nvSpPr>
            <p:spPr>
              <a:xfrm>
                <a:off x="6448923" y="697832"/>
                <a:ext cx="517358" cy="1684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grpSp>
        <p:pic>
          <p:nvPicPr>
            <p:cNvPr id="49" name="Google Shape;49;p6"/>
            <p:cNvPicPr preferRelativeResize="0"/>
            <p:nvPr/>
          </p:nvPicPr>
          <p:blipFill rotWithShape="1">
            <a:blip r:embed="rId2"/>
            <a:srcRect/>
            <a:stretch>
              <a:fillRect/>
            </a:stretch>
          </p:blipFill>
          <p:spPr>
            <a:xfrm>
              <a:off x="10006149" y="6547470"/>
              <a:ext cx="2016034" cy="383311"/>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4.xml"/><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4.xml"/><Relationship Id="rId2" Type="http://schemas.openxmlformats.org/officeDocument/2006/relationships/image" Target="../media/image18.png"/><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19.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9"/>
          <p:cNvSpPr txBox="1">
            <a:spLocks noGrp="1"/>
          </p:cNvSpPr>
          <p:nvPr>
            <p:ph type="body" idx="1"/>
          </p:nvPr>
        </p:nvSpPr>
        <p:spPr>
          <a:xfrm>
            <a:off x="398800" y="2220351"/>
            <a:ext cx="6195000" cy="1002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3F3F3F"/>
              </a:buClr>
              <a:buSzPts val="4400"/>
              <a:buNone/>
            </a:pPr>
            <a:r>
              <a:rPr lang="en-US"/>
              <a:t>Salesforce Configuration Model – 1</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2"/>
          </p:nvPr>
        </p:nvSpPr>
        <p:spPr>
          <a:xfrm>
            <a:off x="373969" y="182880"/>
            <a:ext cx="11444061" cy="975360"/>
          </a:xfrm>
        </p:spPr>
        <p:style>
          <a:lnRef idx="1">
            <a:schemeClr val="accent5"/>
          </a:lnRef>
          <a:fillRef idx="3">
            <a:schemeClr val="accent5"/>
          </a:fillRef>
          <a:effectRef idx="2">
            <a:schemeClr val="accent5"/>
          </a:effectRef>
          <a:fontRef idx="minor">
            <a:schemeClr val="lt1"/>
          </a:fontRef>
        </p:style>
        <p:txBody>
          <a:bodyPr/>
          <a:lstStyle/>
          <a:p>
            <a:r>
              <a:rPr lang="en-US" sz="5400" b="1">
                <a:ln w="22225">
                  <a:solidFill>
                    <a:schemeClr val="accent2"/>
                  </a:solidFill>
                  <a:prstDash val="solid"/>
                </a:ln>
                <a:solidFill>
                  <a:schemeClr val="tx2"/>
                </a:solidFill>
              </a:rPr>
              <a:t>AGENDA</a:t>
            </a:r>
            <a:endParaRPr lang="en-IN" sz="5400" b="1">
              <a:ln w="22225">
                <a:solidFill>
                  <a:schemeClr val="accent2"/>
                </a:solidFill>
                <a:prstDash val="solid"/>
              </a:ln>
              <a:solidFill>
                <a:schemeClr val="tx2"/>
              </a:solidFill>
            </a:endParaRPr>
          </a:p>
        </p:txBody>
      </p:sp>
      <p:sp>
        <p:nvSpPr>
          <p:cNvPr id="2" name="TextBox 1"/>
          <p:cNvSpPr txBox="1"/>
          <p:nvPr/>
        </p:nvSpPr>
        <p:spPr>
          <a:xfrm>
            <a:off x="885211" y="1711127"/>
            <a:ext cx="10691446" cy="4615815"/>
          </a:xfrm>
          <a:prstGeom prst="rect">
            <a:avLst/>
          </a:prstGeom>
          <a:noFill/>
        </p:spPr>
        <p:txBody>
          <a:bodyPr wrap="square" lIns="91440" tIns="45720" rIns="91440" bIns="45720" rtlCol="0" anchor="t">
            <a:spAutoFit/>
          </a:bodyPr>
          <a:lstStyle/>
          <a:p>
            <a:pPr marL="6350" lvl="0">
              <a:buSzPts val="3500"/>
            </a:pPr>
            <a:r>
              <a:rPr lang="en-US" sz="2800">
                <a:solidFill>
                  <a:srgbClr val="3C4043"/>
                </a:solidFill>
                <a:highlight>
                  <a:srgbClr val="FFFFFF"/>
                </a:highlight>
                <a:latin typeface="Roboto" panose="02000000000000000000"/>
                <a:ea typeface="Roboto" panose="02000000000000000000"/>
                <a:cs typeface="Calibri" panose="020F0502020204030204"/>
                <a:sym typeface="Nixie One"/>
              </a:rPr>
              <a:t>1. Page layouts</a:t>
            </a:r>
            <a:endParaRPr lang="en-US" sz="2800">
              <a:solidFill>
                <a:srgbClr val="3C4043"/>
              </a:solidFill>
              <a:highlight>
                <a:srgbClr val="FFFFFF"/>
              </a:highlight>
              <a:latin typeface="Roboto" panose="02000000000000000000"/>
              <a:ea typeface="Roboto" panose="02000000000000000000"/>
              <a:cs typeface="Calibri" panose="020F0502020204030204"/>
              <a:sym typeface="Nixie One"/>
            </a:endParaRPr>
          </a:p>
          <a:p>
            <a:pPr marL="6350" lvl="0">
              <a:buSzPts val="3500"/>
            </a:pPr>
            <a:r>
              <a:rPr lang="en-US" sz="2800">
                <a:solidFill>
                  <a:srgbClr val="3C4043"/>
                </a:solidFill>
                <a:highlight>
                  <a:srgbClr val="FFFFFF"/>
                </a:highlight>
                <a:latin typeface="Roboto" panose="02000000000000000000"/>
                <a:ea typeface="Roboto" panose="02000000000000000000"/>
                <a:cs typeface="Calibri" panose="020F0502020204030204"/>
                <a:sym typeface="Nixie One"/>
              </a:rPr>
              <a:t>2. List Views</a:t>
            </a:r>
            <a:endParaRPr lang="en-US" sz="2800">
              <a:solidFill>
                <a:srgbClr val="3C4043"/>
              </a:solidFill>
              <a:highlight>
                <a:srgbClr val="FFFFFF"/>
              </a:highlight>
              <a:latin typeface="Roboto" panose="02000000000000000000"/>
              <a:ea typeface="Roboto" panose="02000000000000000000"/>
              <a:cs typeface="Calibri" panose="020F0502020204030204"/>
              <a:sym typeface="Nixie One"/>
            </a:endParaRPr>
          </a:p>
          <a:p>
            <a:pPr marL="6350" lvl="0">
              <a:buSzPts val="3500"/>
            </a:pPr>
            <a:r>
              <a:rPr lang="en-US" sz="2800">
                <a:solidFill>
                  <a:srgbClr val="3C4043"/>
                </a:solidFill>
                <a:highlight>
                  <a:srgbClr val="FFFFFF"/>
                </a:highlight>
                <a:latin typeface="Roboto" panose="02000000000000000000"/>
                <a:ea typeface="Roboto" panose="02000000000000000000"/>
                <a:cs typeface="Calibri" panose="020F0502020204030204"/>
                <a:sym typeface="Nixie One"/>
              </a:rPr>
              <a:t>3. Record Types</a:t>
            </a:r>
            <a:endParaRPr lang="en-US" sz="2800">
              <a:solidFill>
                <a:srgbClr val="3C4043"/>
              </a:solidFill>
              <a:highlight>
                <a:srgbClr val="FFFFFF"/>
              </a:highlight>
              <a:latin typeface="Roboto" panose="02000000000000000000"/>
              <a:ea typeface="Roboto" panose="02000000000000000000"/>
              <a:cs typeface="Calibri" panose="020F0502020204030204"/>
              <a:sym typeface="Nixie One"/>
            </a:endParaRPr>
          </a:p>
          <a:p>
            <a:pPr marL="6350" lvl="0">
              <a:buSzPts val="3500"/>
            </a:pPr>
            <a:r>
              <a:rPr lang="en-US" sz="2800">
                <a:solidFill>
                  <a:srgbClr val="3C4043"/>
                </a:solidFill>
                <a:highlight>
                  <a:srgbClr val="FFFFFF"/>
                </a:highlight>
                <a:latin typeface="Roboto" panose="02000000000000000000"/>
                <a:ea typeface="Roboto" panose="02000000000000000000"/>
                <a:cs typeface="Calibri" panose="020F0502020204030204"/>
                <a:sym typeface="Nixie One"/>
              </a:rPr>
              <a:t>4. Business Process</a:t>
            </a:r>
            <a:endParaRPr lang="en-US" sz="2800">
              <a:solidFill>
                <a:srgbClr val="3C4043"/>
              </a:solidFill>
              <a:highlight>
                <a:srgbClr val="FFFFFF"/>
              </a:highlight>
              <a:latin typeface="Roboto" panose="02000000000000000000"/>
              <a:ea typeface="Roboto" panose="02000000000000000000"/>
              <a:cs typeface="Calibri" panose="020F0502020204030204"/>
              <a:sym typeface="Nixie One"/>
            </a:endParaRPr>
          </a:p>
          <a:p>
            <a:pPr marL="6350" lvl="0">
              <a:buSzPts val="3500"/>
            </a:pPr>
            <a:r>
              <a:rPr lang="en-US" sz="2800">
                <a:solidFill>
                  <a:srgbClr val="3C4043"/>
                </a:solidFill>
                <a:highlight>
                  <a:srgbClr val="FFFFFF"/>
                </a:highlight>
                <a:latin typeface="Roboto" panose="02000000000000000000"/>
                <a:ea typeface="Roboto" panose="02000000000000000000"/>
                <a:cs typeface="Calibri" panose="020F0502020204030204"/>
                <a:sym typeface="Nixie One"/>
              </a:rPr>
              <a:t>5. Queues</a:t>
            </a:r>
            <a:endParaRPr lang="en-US" sz="2800">
              <a:solidFill>
                <a:srgbClr val="3C4043"/>
              </a:solidFill>
              <a:highlight>
                <a:srgbClr val="FFFFFF"/>
              </a:highlight>
              <a:latin typeface="Roboto" panose="02000000000000000000"/>
              <a:ea typeface="Roboto" panose="02000000000000000000"/>
              <a:cs typeface="Calibri" panose="020F0502020204030204"/>
              <a:sym typeface="Nixie One"/>
            </a:endParaRPr>
          </a:p>
          <a:p>
            <a:pPr marL="6350" lvl="0">
              <a:buSzPts val="3500"/>
            </a:pPr>
            <a:r>
              <a:rPr lang="en-US" sz="2800">
                <a:solidFill>
                  <a:srgbClr val="3C4043"/>
                </a:solidFill>
                <a:highlight>
                  <a:srgbClr val="FFFFFF"/>
                </a:highlight>
                <a:latin typeface="Roboto" panose="02000000000000000000"/>
                <a:ea typeface="Roboto" panose="02000000000000000000"/>
                <a:cs typeface="Calibri" panose="020F0502020204030204"/>
                <a:sym typeface="Nixie One"/>
              </a:rPr>
              <a:t>6. Global Actions</a:t>
            </a:r>
            <a:endParaRPr lang="en-US" sz="2800">
              <a:solidFill>
                <a:srgbClr val="3C4043"/>
              </a:solidFill>
              <a:highlight>
                <a:srgbClr val="FFFFFF"/>
              </a:highlight>
              <a:latin typeface="Roboto" panose="02000000000000000000"/>
              <a:ea typeface="Roboto" panose="02000000000000000000"/>
              <a:cs typeface="Calibri" panose="020F0502020204030204"/>
              <a:sym typeface="Nixie One"/>
            </a:endParaRPr>
          </a:p>
          <a:p>
            <a:pPr marL="6350">
              <a:buSzPts val="3500"/>
            </a:pPr>
            <a:r>
              <a:rPr lang="en-US" sz="2800">
                <a:solidFill>
                  <a:srgbClr val="3C4043"/>
                </a:solidFill>
                <a:highlight>
                  <a:srgbClr val="FFFFFF"/>
                </a:highlight>
                <a:latin typeface="Roboto" panose="02000000000000000000"/>
                <a:ea typeface="Roboto" panose="02000000000000000000"/>
                <a:cs typeface="Calibri" panose="020F0502020204030204"/>
              </a:rPr>
              <a:t>7. Email Templates</a:t>
            </a:r>
            <a:endParaRPr lang="en-US" sz="2800">
              <a:solidFill>
                <a:srgbClr val="3C4043"/>
              </a:solidFill>
              <a:highlight>
                <a:srgbClr val="FFFFFF"/>
              </a:highlight>
              <a:latin typeface="Roboto" panose="02000000000000000000"/>
              <a:ea typeface="Roboto" panose="02000000000000000000"/>
              <a:cs typeface="Calibri" panose="020F0502020204030204"/>
              <a:sym typeface="Nixie One"/>
            </a:endParaRPr>
          </a:p>
          <a:p>
            <a:pPr marL="6350" lvl="0">
              <a:buSzPts val="3500"/>
            </a:pPr>
            <a:r>
              <a:rPr lang="en-US" sz="2800">
                <a:solidFill>
                  <a:srgbClr val="3C4043"/>
                </a:solidFill>
                <a:highlight>
                  <a:srgbClr val="FFFFFF"/>
                </a:highlight>
                <a:latin typeface="Roboto" panose="02000000000000000000"/>
                <a:ea typeface="Roboto" panose="02000000000000000000"/>
                <a:cs typeface="Calibri" panose="020F0502020204030204"/>
                <a:sym typeface="Nixie One"/>
              </a:rPr>
              <a:t>8. Assignment Rules</a:t>
            </a:r>
            <a:endParaRPr lang="en-US" sz="2800">
              <a:solidFill>
                <a:srgbClr val="3C4043"/>
              </a:solidFill>
              <a:highlight>
                <a:srgbClr val="FFFFFF"/>
              </a:highlight>
              <a:latin typeface="Roboto" panose="02000000000000000000"/>
              <a:ea typeface="Roboto" panose="02000000000000000000"/>
              <a:cs typeface="Calibri" panose="020F0502020204030204"/>
            </a:endParaRPr>
          </a:p>
          <a:p>
            <a:pPr marL="6350" lvl="0">
              <a:buSzPts val="3500"/>
            </a:pPr>
            <a:r>
              <a:rPr lang="en-US" sz="2800">
                <a:solidFill>
                  <a:srgbClr val="3C4043"/>
                </a:solidFill>
                <a:highlight>
                  <a:srgbClr val="FFFFFF"/>
                </a:highlight>
                <a:latin typeface="Roboto" panose="02000000000000000000"/>
                <a:ea typeface="Roboto" panose="02000000000000000000"/>
                <a:cs typeface="Calibri" panose="020F0502020204030204"/>
                <a:sym typeface="Nixie One"/>
              </a:rPr>
              <a:t>9. Validation Rules</a:t>
            </a:r>
            <a:br>
              <a:rPr lang="en-US" sz="2800">
                <a:solidFill>
                  <a:srgbClr val="3C4043"/>
                </a:solidFill>
                <a:highlight>
                  <a:srgbClr val="FFFFFF"/>
                </a:highlight>
                <a:latin typeface="Roboto" panose="02000000000000000000"/>
                <a:ea typeface="Roboto" panose="02000000000000000000"/>
                <a:cs typeface="Calibri" panose="020F0502020204030204"/>
                <a:sym typeface="Nixie One"/>
              </a:rPr>
            </a:br>
            <a:r>
              <a:rPr lang="en-IN" altLang="en-US" sz="2800">
                <a:solidFill>
                  <a:srgbClr val="3C4043"/>
                </a:solidFill>
                <a:highlight>
                  <a:srgbClr val="FFFFFF"/>
                </a:highlight>
                <a:latin typeface="Roboto" panose="02000000000000000000"/>
                <a:ea typeface="Roboto" panose="02000000000000000000"/>
                <a:cs typeface="Calibri" panose="020F0502020204030204"/>
                <a:sym typeface="Nixie One"/>
              </a:rPr>
              <a:t>10. </a:t>
            </a:r>
            <a:r>
              <a:rPr lang="en-US" sz="2800">
                <a:solidFill>
                  <a:srgbClr val="3C4043"/>
                </a:solidFill>
                <a:highlight>
                  <a:srgbClr val="FFFFFF"/>
                </a:highlight>
                <a:latin typeface="Roboto" panose="02000000000000000000"/>
                <a:ea typeface="Roboto" panose="02000000000000000000"/>
                <a:cs typeface="Calibri" panose="020F0502020204030204"/>
                <a:sym typeface="+mn-ea"/>
              </a:rPr>
              <a:t>Audit Trail</a:t>
            </a:r>
            <a:endParaRPr lang="en-US" sz="2800">
              <a:solidFill>
                <a:srgbClr val="3C4043"/>
              </a:solidFill>
              <a:highlight>
                <a:srgbClr val="FFFFFF"/>
              </a:highlight>
              <a:latin typeface="Roboto" panose="02000000000000000000"/>
              <a:ea typeface="Roboto" panose="02000000000000000000"/>
              <a:cs typeface="Calibri" panose="020F0502020204030204"/>
            </a:endParaRPr>
          </a:p>
          <a:p>
            <a:pPr marL="6350" lvl="0">
              <a:buSzPts val="3500"/>
            </a:pP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What is Page Layout</a:t>
            </a: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85750" lvl="0" indent="-285750">
              <a:lnSpc>
                <a:spcPct val="150000"/>
              </a:lnSpc>
              <a:spcBef>
                <a:spcPts val="0"/>
              </a:spcBef>
            </a:pPr>
            <a:r>
              <a:rPr lang="en-IN" sz="1800">
                <a:solidFill>
                  <a:srgbClr val="3C4043"/>
                </a:solidFill>
                <a:highlight>
                  <a:srgbClr val="FFFFFF"/>
                </a:highlight>
                <a:latin typeface="Roboto" panose="02000000000000000000"/>
                <a:ea typeface="Roboto" panose="02000000000000000000"/>
                <a:sym typeface="Muli"/>
              </a:rPr>
              <a:t>Page layouts control the layout and organization of buttons, fields, s-controls, Visualforce, custom links, and related lists on object record pages. </a:t>
            </a:r>
            <a:endParaRPr lang="en-IN" sz="1800">
              <a:solidFill>
                <a:srgbClr val="3C4043"/>
              </a:solidFill>
              <a:highlight>
                <a:srgbClr val="FFFFFF"/>
              </a:highlight>
              <a:latin typeface="Roboto" panose="02000000000000000000"/>
              <a:ea typeface="Roboto" panose="02000000000000000000"/>
              <a:sym typeface="Muli"/>
            </a:endParaRPr>
          </a:p>
          <a:p>
            <a:pPr marL="285750" lvl="0" indent="-285750">
              <a:lnSpc>
                <a:spcPct val="150000"/>
              </a:lnSpc>
              <a:spcBef>
                <a:spcPts val="0"/>
              </a:spcBef>
            </a:pPr>
            <a:r>
              <a:rPr lang="en-IN" sz="1800">
                <a:solidFill>
                  <a:srgbClr val="3C4043"/>
                </a:solidFill>
                <a:highlight>
                  <a:srgbClr val="FFFFFF"/>
                </a:highlight>
                <a:latin typeface="Roboto" panose="02000000000000000000"/>
                <a:ea typeface="Roboto" panose="02000000000000000000"/>
                <a:sym typeface="Muli"/>
              </a:rPr>
              <a:t>They also help determine which fields are visible, read only, and required. Use page layouts to customize the content of record pages for your users.</a:t>
            </a:r>
            <a:endParaRPr lang="en-IN" sz="1800">
              <a:solidFill>
                <a:srgbClr val="3C4043"/>
              </a:solidFill>
              <a:highlight>
                <a:srgbClr val="FFFFFF"/>
              </a:highlight>
              <a:latin typeface="Roboto" panose="02000000000000000000"/>
              <a:ea typeface="Roboto" panose="02000000000000000000"/>
              <a:sym typeface="Muli"/>
            </a:endParaRPr>
          </a:p>
          <a:p>
            <a:pPr marL="285750" lvl="0" indent="-285750">
              <a:lnSpc>
                <a:spcPct val="150000"/>
              </a:lnSpc>
              <a:spcBef>
                <a:spcPts val="0"/>
              </a:spcBef>
            </a:pPr>
            <a:r>
              <a:rPr lang="en-IN" sz="1800">
                <a:solidFill>
                  <a:srgbClr val="3C4043"/>
                </a:solidFill>
                <a:highlight>
                  <a:srgbClr val="FFFFFF"/>
                </a:highlight>
                <a:latin typeface="Roboto" panose="02000000000000000000"/>
                <a:ea typeface="Roboto" panose="02000000000000000000"/>
                <a:sym typeface="Muli"/>
              </a:rPr>
              <a:t>We can create different page layouts for use by different profiles and record types and set field-level security settings to further restrict users’ access to specific fields.</a:t>
            </a:r>
            <a:endParaRPr lang="en-IN" sz="1800">
              <a:solidFill>
                <a:srgbClr val="3C4043"/>
              </a:solidFill>
              <a:highlight>
                <a:srgbClr val="FFFFFF"/>
              </a:highlight>
              <a:latin typeface="Roboto" panose="02000000000000000000"/>
              <a:ea typeface="Roboto" panose="02000000000000000000"/>
              <a:sym typeface="Muli"/>
            </a:endParaRPr>
          </a:p>
          <a:p>
            <a:pPr marL="0" lvl="0" indent="0">
              <a:lnSpc>
                <a:spcPct val="150000"/>
              </a:lnSpc>
              <a:spcBef>
                <a:spcPts val="0"/>
              </a:spcBef>
              <a:buNone/>
            </a:pPr>
            <a:endParaRPr lang="en-IN" sz="1800">
              <a:solidFill>
                <a:srgbClr val="3C4043"/>
              </a:solidFill>
              <a:highlight>
                <a:srgbClr val="FFFFFF"/>
              </a:highlight>
              <a:latin typeface="Roboto" panose="02000000000000000000"/>
              <a:ea typeface="Roboto" panose="02000000000000000000"/>
              <a:sym typeface="Muli"/>
            </a:endParaRPr>
          </a:p>
          <a:p>
            <a:pPr marL="285750" lvl="0" indent="-285750">
              <a:lnSpc>
                <a:spcPct val="150000"/>
              </a:lnSpc>
              <a:spcBef>
                <a:spcPts val="0"/>
              </a:spcBef>
            </a:pPr>
            <a:r>
              <a:rPr lang="en-US" sz="1800" b="1">
                <a:solidFill>
                  <a:srgbClr val="3C4043"/>
                </a:solidFill>
                <a:highlight>
                  <a:srgbClr val="FFFFFF"/>
                </a:highlight>
                <a:latin typeface="Roboto" panose="02000000000000000000"/>
                <a:ea typeface="Roboto" panose="02000000000000000000"/>
                <a:sym typeface="Muli"/>
              </a:rPr>
              <a:t>Steps to open Page Layout:</a:t>
            </a:r>
            <a:endParaRPr lang="en-US" sz="1800" b="1">
              <a:solidFill>
                <a:srgbClr val="3C4043"/>
              </a:solidFill>
              <a:highlight>
                <a:srgbClr val="FFFFFF"/>
              </a:highlight>
              <a:latin typeface="Roboto" panose="02000000000000000000"/>
              <a:ea typeface="Roboto" panose="02000000000000000000"/>
              <a:sym typeface="Muli"/>
            </a:endParaRPr>
          </a:p>
          <a:p>
            <a:pPr marL="0" indent="0">
              <a:lnSpc>
                <a:spcPct val="150000"/>
              </a:lnSpc>
              <a:spcBef>
                <a:spcPts val="0"/>
              </a:spcBef>
              <a:buNone/>
            </a:pPr>
            <a:r>
              <a:rPr lang="en-US" sz="1800">
                <a:solidFill>
                  <a:srgbClr val="3C4043"/>
                </a:solidFill>
                <a:highlight>
                  <a:srgbClr val="FFFFFF"/>
                </a:highlight>
                <a:latin typeface="Roboto" panose="02000000000000000000"/>
                <a:ea typeface="Roboto" panose="02000000000000000000"/>
              </a:rPr>
              <a:t>1. From Setup -&gt;  click Object Manager.</a:t>
            </a:r>
            <a:endParaRPr lang="en-US" sz="1800">
              <a:solidFill>
                <a:srgbClr val="3C4043"/>
              </a:solidFill>
              <a:highlight>
                <a:srgbClr val="FFFFFF"/>
              </a:highlight>
              <a:latin typeface="Roboto" panose="02000000000000000000"/>
              <a:ea typeface="Roboto" panose="02000000000000000000"/>
            </a:endParaRPr>
          </a:p>
          <a:p>
            <a:pPr marL="0" indent="0">
              <a:lnSpc>
                <a:spcPct val="150000"/>
              </a:lnSpc>
              <a:spcBef>
                <a:spcPts val="0"/>
              </a:spcBef>
              <a:buNone/>
            </a:pPr>
            <a:r>
              <a:rPr lang="en-US" sz="1800">
                <a:solidFill>
                  <a:srgbClr val="3C4043"/>
                </a:solidFill>
                <a:highlight>
                  <a:srgbClr val="FFFFFF"/>
                </a:highlight>
                <a:latin typeface="Roboto" panose="02000000000000000000"/>
                <a:ea typeface="Roboto" panose="02000000000000000000"/>
              </a:rPr>
              <a:t>2. Click </a:t>
            </a:r>
            <a:r>
              <a:rPr lang="en-US" sz="1800" err="1">
                <a:solidFill>
                  <a:srgbClr val="3C4043"/>
                </a:solidFill>
                <a:highlight>
                  <a:srgbClr val="FFFFFF"/>
                </a:highlight>
                <a:latin typeface="Roboto" panose="02000000000000000000"/>
                <a:ea typeface="Roboto" panose="02000000000000000000"/>
              </a:rPr>
              <a:t>ObjectName</a:t>
            </a:r>
            <a:r>
              <a:rPr lang="en-US" sz="1800">
                <a:solidFill>
                  <a:srgbClr val="3C4043"/>
                </a:solidFill>
                <a:highlight>
                  <a:srgbClr val="FFFFFF"/>
                </a:highlight>
                <a:latin typeface="Roboto" panose="02000000000000000000"/>
                <a:ea typeface="Roboto" panose="02000000000000000000"/>
              </a:rPr>
              <a:t> -&gt; then Page Layouts.</a:t>
            </a:r>
            <a:endParaRPr lang="en-US" sz="1800">
              <a:solidFill>
                <a:srgbClr val="3C4043"/>
              </a:solidFill>
              <a:highlight>
                <a:srgbClr val="FFFFFF"/>
              </a:highlight>
              <a:latin typeface="Roboto" panose="02000000000000000000"/>
              <a:ea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Page Layout</a:t>
            </a: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pic>
        <p:nvPicPr>
          <p:cNvPr id="4" name="Picture 2" descr="Modifying a Page Layou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33322" y="1285463"/>
            <a:ext cx="10325356" cy="50062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accent2"/>
              </a:buClr>
              <a:buSzPts val="4000"/>
              <a:buNone/>
            </a:pPr>
            <a:r>
              <a:rPr lang="en-US"/>
              <a:t>What is Mini Page Layout</a:t>
            </a: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85750" indent="-285750">
              <a:lnSpc>
                <a:spcPct val="150000"/>
              </a:lnSpc>
              <a:spcBef>
                <a:spcPts val="0"/>
              </a:spcBef>
            </a:pPr>
            <a:r>
              <a:rPr lang="en-IN" sz="1800">
                <a:solidFill>
                  <a:srgbClr val="3C4043"/>
                </a:solidFill>
                <a:highlight>
                  <a:srgbClr val="FFFFFF"/>
                </a:highlight>
                <a:latin typeface="Roboto" panose="02000000000000000000"/>
                <a:ea typeface="Roboto" panose="02000000000000000000"/>
                <a:sym typeface="Muli"/>
              </a:rPr>
              <a:t>The mini page layout defines the hover details that display when you mouse over a field on an object’s detail page. From within a page layout, you can access a mini page layout</a:t>
            </a:r>
            <a:endParaRPr lang="en-IN" sz="1800">
              <a:solidFill>
                <a:srgbClr val="3C4043"/>
              </a:solidFill>
              <a:highlight>
                <a:srgbClr val="FFFFFF"/>
              </a:highlight>
              <a:latin typeface="Roboto" panose="02000000000000000000"/>
              <a:ea typeface="Roboto" panose="02000000000000000000"/>
              <a:sym typeface="Muli"/>
            </a:endParaRPr>
          </a:p>
          <a:p>
            <a:pPr marL="0" indent="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pic>
        <p:nvPicPr>
          <p:cNvPr id="4" name="Picture 3"/>
          <p:cNvPicPr>
            <a:picLocks noChangeAspect="1"/>
          </p:cNvPicPr>
          <p:nvPr/>
        </p:nvPicPr>
        <p:blipFill>
          <a:blip r:embed="rId1"/>
          <a:stretch>
            <a:fillRect/>
          </a:stretch>
        </p:blipFill>
        <p:spPr>
          <a:xfrm>
            <a:off x="5906392" y="2734707"/>
            <a:ext cx="5785029" cy="3386156"/>
          </a:xfrm>
          <a:prstGeom prst="rect">
            <a:avLst/>
          </a:prstGeom>
        </p:spPr>
      </p:pic>
      <p:pic>
        <p:nvPicPr>
          <p:cNvPr id="3" name="Picture 2"/>
          <p:cNvPicPr>
            <a:picLocks noChangeAspect="1"/>
          </p:cNvPicPr>
          <p:nvPr/>
        </p:nvPicPr>
        <p:blipFill>
          <a:blip r:embed="rId2"/>
          <a:stretch>
            <a:fillRect/>
          </a:stretch>
        </p:blipFill>
        <p:spPr>
          <a:xfrm>
            <a:off x="1027023" y="2433195"/>
            <a:ext cx="4352925" cy="41142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indent="0">
              <a:spcBef>
                <a:spcPts val="0"/>
              </a:spcBef>
            </a:pPr>
            <a:r>
              <a:rPr lang="en-US"/>
              <a:t>Assign Page Layout to Profiles</a:t>
            </a: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None/>
            </a:pPr>
            <a:r>
              <a:rPr lang="en-US" sz="1800">
                <a:solidFill>
                  <a:srgbClr val="3C4043"/>
                </a:solidFill>
                <a:highlight>
                  <a:srgbClr val="FFFFFF"/>
                </a:highlight>
                <a:latin typeface="Roboto" panose="02000000000000000000"/>
                <a:ea typeface="Roboto" panose="02000000000000000000"/>
                <a:sym typeface="Muli"/>
              </a:rPr>
              <a:t>In order to view a particular page layout, it must be first assigned to profiles</a:t>
            </a:r>
            <a:endParaRPr lang="en-US" sz="1800">
              <a:solidFill>
                <a:srgbClr val="3C4043"/>
              </a:solidFill>
              <a:highlight>
                <a:srgbClr val="FFFFFF"/>
              </a:highlight>
              <a:latin typeface="Roboto" panose="02000000000000000000"/>
              <a:ea typeface="Roboto" panose="02000000000000000000"/>
              <a:sym typeface="Muli"/>
            </a:endParaRPr>
          </a:p>
          <a:p>
            <a:pPr marL="0" marR="0" lvl="0" indent="0" algn="l" rtl="0">
              <a:lnSpc>
                <a:spcPct val="100000"/>
              </a:lnSpc>
              <a:spcBef>
                <a:spcPts val="0"/>
              </a:spcBef>
              <a:spcAft>
                <a:spcPts val="0"/>
              </a:spcAft>
              <a:buClr>
                <a:srgbClr val="000000"/>
              </a:buClr>
              <a:buSzPts val="1200"/>
              <a:buNone/>
            </a:pPr>
            <a:endParaRPr lang="en-US" sz="1800">
              <a:solidFill>
                <a:srgbClr val="3C4043"/>
              </a:solidFill>
              <a:highlight>
                <a:srgbClr val="FFFFFF"/>
              </a:highlight>
              <a:latin typeface="Roboto" panose="02000000000000000000"/>
              <a:ea typeface="Roboto" panose="02000000000000000000"/>
              <a:sym typeface="Muli"/>
            </a:endParaRPr>
          </a:p>
          <a:p>
            <a:pPr marL="0" marR="0" lvl="0" indent="0" algn="l" rtl="0">
              <a:lnSpc>
                <a:spcPct val="100000"/>
              </a:lnSpc>
              <a:spcBef>
                <a:spcPts val="0"/>
              </a:spcBef>
              <a:spcAft>
                <a:spcPts val="0"/>
              </a:spcAft>
              <a:buClr>
                <a:srgbClr val="000000"/>
              </a:buClr>
              <a:buSzPts val="1200"/>
              <a:buNone/>
            </a:pPr>
            <a:r>
              <a:rPr lang="en-US" sz="1800" b="1">
                <a:solidFill>
                  <a:srgbClr val="3C4043"/>
                </a:solidFill>
                <a:highlight>
                  <a:srgbClr val="FFFFFF"/>
                </a:highlight>
                <a:latin typeface="Roboto" panose="02000000000000000000"/>
                <a:ea typeface="Roboto" panose="02000000000000000000"/>
                <a:sym typeface="Muli"/>
              </a:rPr>
              <a:t>Steps to assign a Page Layout:</a:t>
            </a:r>
            <a:endParaRPr lang="en-US" sz="1800" b="1">
              <a:solidFill>
                <a:srgbClr val="3C4043"/>
              </a:solidFill>
              <a:highlight>
                <a:srgbClr val="FFFFFF"/>
              </a:highlight>
              <a:latin typeface="Roboto" panose="02000000000000000000"/>
              <a:ea typeface="Roboto" panose="02000000000000000000"/>
              <a:sym typeface="Muli"/>
            </a:endParaRPr>
          </a:p>
          <a:p>
            <a:pPr marL="285750" indent="-285750"/>
            <a:r>
              <a:rPr lang="en-US" sz="1800">
                <a:solidFill>
                  <a:srgbClr val="3C4043"/>
                </a:solidFill>
                <a:highlight>
                  <a:srgbClr val="FFFFFF"/>
                </a:highlight>
                <a:latin typeface="Roboto" panose="02000000000000000000"/>
                <a:ea typeface="Roboto" panose="02000000000000000000"/>
              </a:rPr>
              <a:t>From Setup, click Object Manager | Object Name.</a:t>
            </a:r>
            <a:endParaRPr lang="en-US" sz="1800">
              <a:solidFill>
                <a:srgbClr val="3C4043"/>
              </a:solidFill>
              <a:highlight>
                <a:srgbClr val="FFFFFF"/>
              </a:highlight>
              <a:latin typeface="Roboto" panose="02000000000000000000"/>
              <a:ea typeface="Roboto" panose="02000000000000000000"/>
            </a:endParaRPr>
          </a:p>
          <a:p>
            <a:pPr marL="285750" indent="-285750"/>
            <a:r>
              <a:rPr lang="en-US" sz="1800">
                <a:solidFill>
                  <a:srgbClr val="3C4043"/>
                </a:solidFill>
                <a:highlight>
                  <a:srgbClr val="FFFFFF"/>
                </a:highlight>
                <a:latin typeface="Roboto" panose="02000000000000000000"/>
                <a:ea typeface="Roboto" panose="02000000000000000000"/>
              </a:rPr>
              <a:t>Click Page Layouts, then Page Layout Assignment</a:t>
            </a:r>
            <a:endParaRPr lang="en-US" sz="1800">
              <a:solidFill>
                <a:srgbClr val="3C4043"/>
              </a:solidFill>
              <a:highlight>
                <a:srgbClr val="FFFFFF"/>
              </a:highlight>
              <a:latin typeface="Roboto" panose="02000000000000000000"/>
              <a:ea typeface="Roboto" panose="02000000000000000000"/>
            </a:endParaRPr>
          </a:p>
          <a:p>
            <a:pPr marL="285750" indent="-285750">
              <a:lnSpc>
                <a:spcPct val="150000"/>
              </a:lnSpc>
              <a:spcBef>
                <a:spcPts val="0"/>
              </a:spcBef>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pic>
        <p:nvPicPr>
          <p:cNvPr id="6" name="Picture 5"/>
          <p:cNvPicPr>
            <a:picLocks noChangeAspect="1"/>
          </p:cNvPicPr>
          <p:nvPr/>
        </p:nvPicPr>
        <p:blipFill>
          <a:blip r:embed="rId1"/>
          <a:stretch>
            <a:fillRect/>
          </a:stretch>
        </p:blipFill>
        <p:spPr>
          <a:xfrm>
            <a:off x="2168394" y="3271317"/>
            <a:ext cx="8187070" cy="203923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indent="0">
              <a:spcBef>
                <a:spcPts val="0"/>
              </a:spcBef>
            </a:pPr>
            <a:r>
              <a:rPr lang="en-US"/>
              <a:t>Assign Page Layout to Profiles</a:t>
            </a: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0" indent="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pic>
        <p:nvPicPr>
          <p:cNvPr id="5" name="Picture 4"/>
          <p:cNvPicPr>
            <a:picLocks noChangeAspect="1"/>
          </p:cNvPicPr>
          <p:nvPr/>
        </p:nvPicPr>
        <p:blipFill>
          <a:blip r:embed="rId1"/>
          <a:stretch>
            <a:fillRect/>
          </a:stretch>
        </p:blipFill>
        <p:spPr>
          <a:xfrm>
            <a:off x="1272744" y="1399784"/>
            <a:ext cx="9646511" cy="405843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000000"/>
              </a:buClr>
              <a:buSzPts val="4000"/>
              <a:buFont typeface="Arial" panose="020B0604020202020204"/>
              <a:buNone/>
            </a:pPr>
            <a:r>
              <a:rPr lang="en-IN">
                <a:sym typeface="Nixie One"/>
              </a:rPr>
              <a:t>List View</a:t>
            </a:r>
            <a:endParaRPr lang="en-IN">
              <a:sym typeface="Arial" panose="020B0604020202020204"/>
            </a:endParaRPr>
          </a:p>
          <a:p>
            <a:pPr marL="0" lvl="0" indent="0" algn="ctr" rtl="0">
              <a:lnSpc>
                <a:spcPct val="90000"/>
              </a:lnSpc>
              <a:spcBef>
                <a:spcPts val="0"/>
              </a:spcBef>
              <a:spcAft>
                <a:spcPts val="0"/>
              </a:spcAft>
              <a:buClr>
                <a:schemeClr val="accent2"/>
              </a:buClr>
              <a:buSzPts val="4000"/>
              <a:buNone/>
            </a:pP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85750" indent="-285750"/>
            <a:r>
              <a:rPr lang="en-US" sz="1800">
                <a:solidFill>
                  <a:srgbClr val="3C4043"/>
                </a:solidFill>
                <a:highlight>
                  <a:srgbClr val="FFFFFF"/>
                </a:highlight>
                <a:latin typeface="Roboto" panose="02000000000000000000"/>
                <a:ea typeface="Roboto" panose="02000000000000000000"/>
              </a:rPr>
              <a:t>List views are ways of displaying small size of data that are instantly accessible for different Objects</a:t>
            </a:r>
            <a:endParaRPr lang="en-US" sz="1800">
              <a:solidFill>
                <a:srgbClr val="3C4043"/>
              </a:solidFill>
              <a:highlight>
                <a:srgbClr val="FFFFFF"/>
              </a:highlight>
              <a:latin typeface="Roboto" panose="02000000000000000000"/>
              <a:ea typeface="Roboto" panose="02000000000000000000"/>
            </a:endParaRPr>
          </a:p>
          <a:p>
            <a:pPr marL="285750" indent="-285750"/>
            <a:r>
              <a:rPr lang="en-US" sz="1800">
                <a:solidFill>
                  <a:srgbClr val="3C4043"/>
                </a:solidFill>
                <a:highlight>
                  <a:srgbClr val="FFFFFF"/>
                </a:highlight>
                <a:latin typeface="Roboto" panose="02000000000000000000"/>
                <a:ea typeface="Roboto" panose="02000000000000000000"/>
              </a:rPr>
              <a:t>List views are used to quickly segment lists of records, they allow us to action multiple records at the same time.</a:t>
            </a:r>
            <a:endParaRPr lang="en-US" sz="1800">
              <a:solidFill>
                <a:srgbClr val="3C4043"/>
              </a:solidFill>
              <a:highlight>
                <a:srgbClr val="FFFFFF"/>
              </a:highlight>
              <a:latin typeface="Roboto" panose="02000000000000000000"/>
              <a:ea typeface="Roboto" panose="02000000000000000000"/>
            </a:endParaRPr>
          </a:p>
          <a:p>
            <a:pPr marL="285750" indent="-285750"/>
            <a:r>
              <a:rPr lang="en-US" sz="1800">
                <a:solidFill>
                  <a:srgbClr val="3C4043"/>
                </a:solidFill>
                <a:highlight>
                  <a:srgbClr val="FFFFFF"/>
                </a:highlight>
                <a:latin typeface="Roboto" panose="02000000000000000000"/>
                <a:ea typeface="Roboto" panose="02000000000000000000"/>
              </a:rPr>
              <a:t>We can create list views to filter out records based on any field that we have access to. Like You want to see a list of accounts where Billing state/Province =” Ontario” or as per your business requirement.</a:t>
            </a:r>
            <a:endParaRPr lang="en-US" sz="1800">
              <a:solidFill>
                <a:srgbClr val="3C4043"/>
              </a:solidFill>
              <a:highlight>
                <a:srgbClr val="FFFFFF"/>
              </a:highlight>
              <a:latin typeface="Roboto" panose="02000000000000000000"/>
              <a:ea typeface="Roboto" panose="02000000000000000000"/>
            </a:endParaRPr>
          </a:p>
          <a:p>
            <a:pPr marL="463550" lvl="0" indent="-285750">
              <a:lnSpc>
                <a:spcPct val="150000"/>
              </a:lnSpc>
              <a:spcBef>
                <a:spcPts val="0"/>
              </a:spcBef>
            </a:pPr>
            <a:endParaRPr sz="1800">
              <a:solidFill>
                <a:srgbClr val="3C4043"/>
              </a:solidFill>
              <a:highlight>
                <a:srgbClr val="FFFFFF"/>
              </a:highlight>
              <a:latin typeface="Roboto" panose="02000000000000000000"/>
              <a:ea typeface="Roboto" panose="02000000000000000000"/>
              <a:sym typeface="Roboto" panose="02000000000000000000"/>
            </a:endParaRPr>
          </a:p>
          <a:p>
            <a:pPr marL="463550" lvl="0" indent="-285750">
              <a:lnSpc>
                <a:spcPct val="150000"/>
              </a:lnSpc>
              <a:spcBef>
                <a:spcPts val="0"/>
              </a:spcBef>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pic>
        <p:nvPicPr>
          <p:cNvPr id="8" name="Picture 7"/>
          <p:cNvPicPr>
            <a:picLocks noChangeAspect="1"/>
          </p:cNvPicPr>
          <p:nvPr/>
        </p:nvPicPr>
        <p:blipFill>
          <a:blip r:embed="rId1"/>
          <a:stretch>
            <a:fillRect/>
          </a:stretch>
        </p:blipFill>
        <p:spPr>
          <a:xfrm>
            <a:off x="800268" y="3029811"/>
            <a:ext cx="10591464" cy="34386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000000"/>
              </a:buClr>
              <a:buSzPts val="4000"/>
              <a:buFont typeface="Arial" panose="020B0604020202020204"/>
              <a:buNone/>
            </a:pPr>
            <a:r>
              <a:rPr lang="en-IN">
                <a:sym typeface="Nixie One"/>
              </a:rPr>
              <a:t>List View</a:t>
            </a:r>
            <a:endParaRPr lang="en-IN">
              <a:sym typeface="Arial" panose="020B0604020202020204"/>
            </a:endParaRPr>
          </a:p>
          <a:p>
            <a:pPr marL="0" lvl="0" indent="0" algn="ctr" rtl="0">
              <a:lnSpc>
                <a:spcPct val="90000"/>
              </a:lnSpc>
              <a:spcBef>
                <a:spcPts val="0"/>
              </a:spcBef>
              <a:spcAft>
                <a:spcPts val="0"/>
              </a:spcAft>
              <a:buClr>
                <a:schemeClr val="accent2"/>
              </a:buClr>
              <a:buSzPts val="4000"/>
              <a:buNone/>
            </a:pP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463550" lvl="0" indent="-285750">
              <a:lnSpc>
                <a:spcPct val="150000"/>
              </a:lnSpc>
              <a:spcBef>
                <a:spcPts val="0"/>
              </a:spcBef>
            </a:pPr>
            <a:r>
              <a:rPr lang="en-US" sz="1800">
                <a:solidFill>
                  <a:srgbClr val="3C4043"/>
                </a:solidFill>
                <a:highlight>
                  <a:srgbClr val="FFFFFF"/>
                </a:highlight>
                <a:latin typeface="Roboto" panose="02000000000000000000"/>
                <a:ea typeface="Roboto" panose="02000000000000000000"/>
                <a:sym typeface="Roboto" panose="02000000000000000000"/>
              </a:rPr>
              <a:t>Salesforce provides us with some standard list view but we can also create custom list view based on our requirement. </a:t>
            </a:r>
            <a:endParaRPr lang="en-US" sz="1800">
              <a:solidFill>
                <a:srgbClr val="3C4043"/>
              </a:solidFill>
              <a:highlight>
                <a:srgbClr val="FFFFFF"/>
              </a:highlight>
              <a:latin typeface="Roboto" panose="02000000000000000000"/>
              <a:ea typeface="Roboto" panose="02000000000000000000"/>
              <a:sym typeface="Roboto" panose="02000000000000000000"/>
            </a:endParaRPr>
          </a:p>
          <a:p>
            <a:pPr marL="463550" lvl="0" indent="-285750">
              <a:lnSpc>
                <a:spcPct val="150000"/>
              </a:lnSpc>
              <a:spcBef>
                <a:spcPts val="0"/>
              </a:spcBef>
            </a:pPr>
            <a:endParaRPr lang="en-US" sz="1800">
              <a:solidFill>
                <a:srgbClr val="3C4043"/>
              </a:solidFill>
              <a:highlight>
                <a:srgbClr val="FFFFFF"/>
              </a:highlight>
              <a:latin typeface="Roboto" panose="02000000000000000000"/>
              <a:ea typeface="Roboto" panose="02000000000000000000"/>
              <a:sym typeface="Roboto" panose="02000000000000000000"/>
            </a:endParaRPr>
          </a:p>
          <a:p>
            <a:pPr marL="177800" lvl="0" indent="0">
              <a:lnSpc>
                <a:spcPct val="150000"/>
              </a:lnSpc>
              <a:spcBef>
                <a:spcPts val="0"/>
              </a:spcBef>
              <a:buNone/>
            </a:pPr>
            <a:r>
              <a:rPr lang="en-US" sz="1800" b="1">
                <a:solidFill>
                  <a:srgbClr val="3C4043"/>
                </a:solidFill>
                <a:highlight>
                  <a:srgbClr val="FFFFFF"/>
                </a:highlight>
                <a:latin typeface="Roboto" panose="02000000000000000000"/>
                <a:ea typeface="Roboto" panose="02000000000000000000"/>
                <a:sym typeface="Roboto" panose="02000000000000000000"/>
              </a:rPr>
              <a:t>Steps to create a </a:t>
            </a:r>
            <a:r>
              <a:rPr lang="en-US" sz="1800" b="1" err="1">
                <a:solidFill>
                  <a:srgbClr val="3C4043"/>
                </a:solidFill>
                <a:highlight>
                  <a:srgbClr val="FFFFFF"/>
                </a:highlight>
                <a:latin typeface="Roboto" panose="02000000000000000000"/>
                <a:ea typeface="Roboto" panose="02000000000000000000"/>
                <a:sym typeface="Roboto" panose="02000000000000000000"/>
              </a:rPr>
              <a:t>a</a:t>
            </a:r>
            <a:r>
              <a:rPr lang="en-US" sz="1800" b="1">
                <a:solidFill>
                  <a:srgbClr val="3C4043"/>
                </a:solidFill>
                <a:highlight>
                  <a:srgbClr val="FFFFFF"/>
                </a:highlight>
                <a:latin typeface="Roboto" panose="02000000000000000000"/>
                <a:ea typeface="Roboto" panose="02000000000000000000"/>
                <a:sym typeface="Roboto" panose="02000000000000000000"/>
              </a:rPr>
              <a:t> new List View</a:t>
            </a:r>
            <a:endParaRPr lang="en-US" sz="1800" b="1">
              <a:solidFill>
                <a:srgbClr val="3C4043"/>
              </a:solidFill>
              <a:highlight>
                <a:srgbClr val="FFFFFF"/>
              </a:highlight>
              <a:latin typeface="Roboto" panose="02000000000000000000"/>
              <a:ea typeface="Roboto" panose="02000000000000000000"/>
              <a:sym typeface="Roboto" panose="02000000000000000000"/>
            </a:endParaRPr>
          </a:p>
          <a:p>
            <a:pPr marL="463550" lvl="0" indent="-285750">
              <a:lnSpc>
                <a:spcPct val="150000"/>
              </a:lnSpc>
              <a:spcBef>
                <a:spcPts val="0"/>
              </a:spcBef>
            </a:pPr>
            <a:r>
              <a:rPr lang="en-US" sz="1800">
                <a:solidFill>
                  <a:srgbClr val="3C4043"/>
                </a:solidFill>
                <a:highlight>
                  <a:srgbClr val="FFFFFF"/>
                </a:highlight>
                <a:latin typeface="Roboto" panose="02000000000000000000"/>
                <a:ea typeface="Roboto" panose="02000000000000000000"/>
                <a:sym typeface="Roboto" panose="02000000000000000000"/>
              </a:rPr>
              <a:t>Click on the gear icon on top -&gt; New</a:t>
            </a:r>
            <a:endParaRPr lang="en-US" sz="1800">
              <a:solidFill>
                <a:srgbClr val="3C4043"/>
              </a:solidFill>
              <a:highlight>
                <a:srgbClr val="FFFFFF"/>
              </a:highlight>
              <a:latin typeface="Roboto" panose="02000000000000000000"/>
              <a:ea typeface="Roboto" panose="02000000000000000000"/>
              <a:sym typeface="Roboto" panose="02000000000000000000"/>
            </a:endParaRPr>
          </a:p>
          <a:p>
            <a:pPr marL="463550" lvl="0" indent="-285750">
              <a:lnSpc>
                <a:spcPct val="150000"/>
              </a:lnSpc>
              <a:spcBef>
                <a:spcPts val="0"/>
              </a:spcBef>
            </a:pPr>
            <a:endParaRPr sz="1800">
              <a:solidFill>
                <a:srgbClr val="3C4043"/>
              </a:solidFill>
              <a:highlight>
                <a:srgbClr val="FFFFFF"/>
              </a:highlight>
              <a:latin typeface="Roboto" panose="02000000000000000000"/>
              <a:ea typeface="Roboto" panose="02000000000000000000"/>
              <a:sym typeface="Roboto" panose="02000000000000000000"/>
            </a:endParaRPr>
          </a:p>
          <a:p>
            <a:pPr marL="463550" lvl="0" indent="-285750">
              <a:lnSpc>
                <a:spcPct val="150000"/>
              </a:lnSpc>
              <a:spcBef>
                <a:spcPts val="0"/>
              </a:spcBef>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pic>
        <p:nvPicPr>
          <p:cNvPr id="3" name="Picture 2"/>
          <p:cNvPicPr>
            <a:picLocks noChangeAspect="1"/>
          </p:cNvPicPr>
          <p:nvPr/>
        </p:nvPicPr>
        <p:blipFill>
          <a:blip r:embed="rId1"/>
          <a:stretch>
            <a:fillRect/>
          </a:stretch>
        </p:blipFill>
        <p:spPr>
          <a:xfrm>
            <a:off x="937130" y="3846800"/>
            <a:ext cx="10649598" cy="22740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000000"/>
              </a:buClr>
              <a:buSzPts val="4000"/>
              <a:buFont typeface="Arial" panose="020B0604020202020204"/>
              <a:buNone/>
            </a:pPr>
            <a:r>
              <a:rPr lang="en-IN">
                <a:sym typeface="Nixie One"/>
              </a:rPr>
              <a:t>List View</a:t>
            </a:r>
            <a:endParaRPr lang="en-IN">
              <a:sym typeface="Arial" panose="020B0604020202020204"/>
            </a:endParaRPr>
          </a:p>
          <a:p>
            <a:pPr marL="0" lvl="0" indent="0" algn="ctr" rtl="0">
              <a:lnSpc>
                <a:spcPct val="90000"/>
              </a:lnSpc>
              <a:spcBef>
                <a:spcPts val="0"/>
              </a:spcBef>
              <a:spcAft>
                <a:spcPts val="0"/>
              </a:spcAft>
              <a:buClr>
                <a:schemeClr val="accent2"/>
              </a:buClr>
              <a:buSzPts val="4000"/>
              <a:buNone/>
            </a:pP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177800" lvl="0" indent="0">
              <a:lnSpc>
                <a:spcPct val="150000"/>
              </a:lnSpc>
              <a:spcBef>
                <a:spcPts val="0"/>
              </a:spcBef>
              <a:buNone/>
            </a:pPr>
            <a:r>
              <a:rPr lang="en-US" sz="1800" b="1">
                <a:solidFill>
                  <a:srgbClr val="3C4043"/>
                </a:solidFill>
                <a:highlight>
                  <a:srgbClr val="FFFFFF"/>
                </a:highlight>
                <a:latin typeface="Roboto" panose="02000000000000000000"/>
                <a:ea typeface="Roboto" panose="02000000000000000000"/>
                <a:sym typeface="Roboto" panose="02000000000000000000"/>
              </a:rPr>
              <a:t>Steps to edit a List View Filters</a:t>
            </a:r>
            <a:endParaRPr lang="en-US" sz="1800" b="1">
              <a:solidFill>
                <a:srgbClr val="3C4043"/>
              </a:solidFill>
              <a:highlight>
                <a:srgbClr val="FFFFFF"/>
              </a:highlight>
              <a:latin typeface="Roboto" panose="02000000000000000000"/>
              <a:ea typeface="Roboto" panose="02000000000000000000"/>
              <a:sym typeface="Roboto" panose="02000000000000000000"/>
            </a:endParaRPr>
          </a:p>
          <a:p>
            <a:pPr marL="463550" lvl="0" indent="-285750">
              <a:lnSpc>
                <a:spcPct val="150000"/>
              </a:lnSpc>
              <a:spcBef>
                <a:spcPts val="0"/>
              </a:spcBef>
            </a:pPr>
            <a:r>
              <a:rPr lang="en-US" sz="1800">
                <a:solidFill>
                  <a:srgbClr val="3C4043"/>
                </a:solidFill>
                <a:highlight>
                  <a:srgbClr val="FFFFFF"/>
                </a:highlight>
                <a:latin typeface="Roboto" panose="02000000000000000000"/>
                <a:ea typeface="Roboto" panose="02000000000000000000"/>
                <a:sym typeface="Roboto" panose="02000000000000000000"/>
              </a:rPr>
              <a:t>Click on the gear icon on top -&gt; Edit List Filters</a:t>
            </a:r>
            <a:endParaRPr lang="en-US" sz="1800">
              <a:solidFill>
                <a:srgbClr val="3C4043"/>
              </a:solidFill>
              <a:highlight>
                <a:srgbClr val="FFFFFF"/>
              </a:highlight>
              <a:latin typeface="Roboto" panose="02000000000000000000"/>
              <a:ea typeface="Roboto" panose="02000000000000000000"/>
              <a:sym typeface="Roboto" panose="02000000000000000000"/>
            </a:endParaRPr>
          </a:p>
          <a:p>
            <a:pPr marL="463550" lvl="0" indent="-285750">
              <a:lnSpc>
                <a:spcPct val="150000"/>
              </a:lnSpc>
              <a:spcBef>
                <a:spcPts val="0"/>
              </a:spcBef>
            </a:pPr>
            <a:endParaRPr lang="en-US" sz="1800">
              <a:solidFill>
                <a:srgbClr val="3C4043"/>
              </a:solidFill>
              <a:highlight>
                <a:srgbClr val="FFFFFF"/>
              </a:highlight>
              <a:latin typeface="Roboto" panose="02000000000000000000"/>
              <a:ea typeface="Roboto" panose="02000000000000000000"/>
              <a:sym typeface="Roboto" panose="02000000000000000000"/>
            </a:endParaRPr>
          </a:p>
          <a:p>
            <a:pPr marL="463550" lvl="0" indent="-285750">
              <a:lnSpc>
                <a:spcPct val="150000"/>
              </a:lnSpc>
              <a:spcBef>
                <a:spcPts val="0"/>
              </a:spcBef>
            </a:pPr>
            <a:endParaRPr lang="en-US" sz="1800">
              <a:solidFill>
                <a:srgbClr val="3C4043"/>
              </a:solidFill>
              <a:highlight>
                <a:srgbClr val="FFFFFF"/>
              </a:highlight>
              <a:latin typeface="Roboto" panose="02000000000000000000"/>
              <a:ea typeface="Roboto" panose="02000000000000000000"/>
              <a:sym typeface="Roboto" panose="02000000000000000000"/>
            </a:endParaRPr>
          </a:p>
          <a:p>
            <a:pPr marL="463550" lvl="0" indent="-285750">
              <a:lnSpc>
                <a:spcPct val="150000"/>
              </a:lnSpc>
              <a:spcBef>
                <a:spcPts val="0"/>
              </a:spcBef>
            </a:pPr>
            <a:endParaRPr sz="1800">
              <a:solidFill>
                <a:srgbClr val="3C4043"/>
              </a:solidFill>
              <a:highlight>
                <a:srgbClr val="FFFFFF"/>
              </a:highlight>
              <a:latin typeface="Roboto" panose="02000000000000000000"/>
              <a:ea typeface="Roboto" panose="02000000000000000000"/>
              <a:sym typeface="Roboto" panose="02000000000000000000"/>
            </a:endParaRPr>
          </a:p>
          <a:p>
            <a:pPr marL="463550" lvl="0" indent="-285750">
              <a:lnSpc>
                <a:spcPct val="150000"/>
              </a:lnSpc>
              <a:spcBef>
                <a:spcPts val="0"/>
              </a:spcBef>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pic>
        <p:nvPicPr>
          <p:cNvPr id="4" name="Picture 3"/>
          <p:cNvPicPr>
            <a:picLocks noChangeAspect="1"/>
          </p:cNvPicPr>
          <p:nvPr/>
        </p:nvPicPr>
        <p:blipFill>
          <a:blip r:embed="rId1"/>
          <a:stretch>
            <a:fillRect/>
          </a:stretch>
        </p:blipFill>
        <p:spPr>
          <a:xfrm>
            <a:off x="1777219" y="2446972"/>
            <a:ext cx="7845083" cy="34051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268326"/>
            <a:ext cx="11444100" cy="627300"/>
          </a:xfrm>
          <a:prstGeom prst="rect">
            <a:avLst/>
          </a:prstGeom>
          <a:noFill/>
          <a:ln>
            <a:noFill/>
          </a:ln>
        </p:spPr>
        <p:txBody>
          <a:bodyPr spcFirstLastPara="1" wrap="square" lIns="91425" tIns="45700" rIns="91425" bIns="45700" anchor="t" anchorCtr="0">
            <a:noAutofit/>
          </a:bodyPr>
          <a:lstStyle/>
          <a:p>
            <a:pPr marL="0" indent="0">
              <a:spcBef>
                <a:spcPts val="0"/>
              </a:spcBef>
            </a:pPr>
            <a:r>
              <a:rPr lang="en-IN">
                <a:sym typeface="Nixie One"/>
              </a:rPr>
              <a:t>Business Processes</a:t>
            </a:r>
            <a:endParaRPr lang="en-IN">
              <a:sym typeface="Arial" panose="020B0604020202020204"/>
            </a:endParaRPr>
          </a:p>
          <a:p>
            <a:pPr marL="0" lvl="0" indent="0" algn="ctr" rtl="0">
              <a:lnSpc>
                <a:spcPct val="90000"/>
              </a:lnSpc>
              <a:spcBef>
                <a:spcPts val="0"/>
              </a:spcBef>
              <a:spcAft>
                <a:spcPts val="0"/>
              </a:spcAft>
              <a:buClr>
                <a:schemeClr val="accent2"/>
              </a:buClr>
              <a:buSzPts val="4000"/>
              <a:buNone/>
            </a:pP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28600" lvl="0" indent="-50800">
              <a:lnSpc>
                <a:spcPct val="150000"/>
              </a:lnSpc>
              <a:spcBef>
                <a:spcPts val="0"/>
              </a:spcBef>
              <a:buNone/>
            </a:pPr>
            <a:endParaRPr lang="en-US" sz="1800">
              <a:solidFill>
                <a:srgbClr val="3C4043"/>
              </a:solidFill>
              <a:highlight>
                <a:srgbClr val="FFFFFF"/>
              </a:highlight>
              <a:latin typeface="Roboto" panose="02000000000000000000"/>
              <a:ea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sp>
        <p:nvSpPr>
          <p:cNvPr id="2" name="TextBox 1"/>
          <p:cNvSpPr txBox="1"/>
          <p:nvPr/>
        </p:nvSpPr>
        <p:spPr>
          <a:xfrm>
            <a:off x="500579" y="1050845"/>
            <a:ext cx="10902844" cy="5863144"/>
          </a:xfrm>
          <a:prstGeom prst="rect">
            <a:avLst/>
          </a:prstGeom>
          <a:noFill/>
        </p:spPr>
        <p:txBody>
          <a:bodyPr wrap="square" rtlCol="0">
            <a:spAutoFit/>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800">
                <a:solidFill>
                  <a:srgbClr val="3C4043"/>
                </a:solidFill>
                <a:highlight>
                  <a:srgbClr val="FFFFFF"/>
                </a:highlight>
                <a:latin typeface="Roboto" panose="02000000000000000000"/>
                <a:ea typeface="Roboto" panose="02000000000000000000"/>
                <a:cs typeface="Calibri" panose="020F0502020204030204"/>
                <a:sym typeface="Muli"/>
              </a:rPr>
              <a:t>Business Processes allows you to track separate sales, support, and lead lifecycles across different divisions, groups, or markets. Use multiple business processes to display different picklist values for users based on their profile. </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0" marR="0" lvl="0" indent="0" algn="l" rtl="0">
              <a:lnSpc>
                <a:spcPct val="100000"/>
              </a:lnSpc>
              <a:spcBef>
                <a:spcPts val="0"/>
              </a:spcBef>
              <a:spcAft>
                <a:spcPts val="0"/>
              </a:spcAft>
              <a:buClr>
                <a:srgbClr val="000000"/>
              </a:buClr>
              <a:buSzPts val="1200"/>
              <a:buFont typeface="Arial" panose="020B0604020202020204"/>
              <a:buNone/>
            </a:pP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marR="0" lvl="0" indent="-285750" algn="l" rtl="0">
              <a:lnSpc>
                <a:spcPct val="100000"/>
              </a:lnSpc>
              <a:spcBef>
                <a:spcPts val="0"/>
              </a:spcBef>
              <a:spcAft>
                <a:spcPts val="0"/>
              </a:spcAft>
              <a:buClr>
                <a:srgbClr val="000000"/>
              </a:buClr>
              <a:buSzPts val="1200"/>
              <a:buFont typeface="Arial" panose="020B0604020202020204" pitchFamily="34" charset="0"/>
              <a:buChar char="•"/>
            </a:pPr>
            <a:r>
              <a:rPr lang="en-US" sz="1800" b="1">
                <a:solidFill>
                  <a:srgbClr val="3C4043"/>
                </a:solidFill>
                <a:highlight>
                  <a:srgbClr val="FFFFFF"/>
                </a:highlight>
                <a:latin typeface="Roboto" panose="02000000000000000000"/>
                <a:ea typeface="Roboto" panose="02000000000000000000"/>
                <a:cs typeface="Calibri" panose="020F0502020204030204"/>
                <a:sym typeface="Muli"/>
              </a:rPr>
              <a:t>Sales Processes : </a:t>
            </a:r>
            <a:br>
              <a:rPr lang="en-US" sz="1800">
                <a:solidFill>
                  <a:srgbClr val="3C4043"/>
                </a:solidFill>
                <a:highlight>
                  <a:srgbClr val="FFFFFF"/>
                </a:highlight>
                <a:latin typeface="Roboto" panose="02000000000000000000"/>
                <a:ea typeface="Roboto" panose="02000000000000000000"/>
                <a:cs typeface="Calibri" panose="020F0502020204030204"/>
                <a:sym typeface="Muli"/>
              </a:rPr>
            </a:br>
            <a:r>
              <a:rPr lang="en-US" sz="1800">
                <a:solidFill>
                  <a:srgbClr val="3C4043"/>
                </a:solidFill>
                <a:highlight>
                  <a:srgbClr val="FFFFFF"/>
                </a:highlight>
                <a:latin typeface="Roboto" panose="02000000000000000000"/>
                <a:ea typeface="Roboto" panose="02000000000000000000"/>
                <a:cs typeface="Calibri" panose="020F0502020204030204"/>
                <a:sym typeface="Muli"/>
              </a:rPr>
              <a:t>Create different sales processes that include some or all of the picklist values available for the opportunity Stage field.</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marR="0" lvl="0" indent="-285750" algn="l" rtl="0">
              <a:lnSpc>
                <a:spcPct val="100000"/>
              </a:lnSpc>
              <a:spcBef>
                <a:spcPts val="0"/>
              </a:spcBef>
              <a:spcAft>
                <a:spcPts val="0"/>
              </a:spcAft>
              <a:buClr>
                <a:srgbClr val="000000"/>
              </a:buClr>
              <a:buSzPts val="1200"/>
              <a:buFont typeface="Arial" panose="020B0604020202020204" pitchFamily="34" charset="0"/>
              <a:buChar char="•"/>
            </a:pPr>
            <a:br>
              <a:rPr lang="en-US" sz="1800">
                <a:solidFill>
                  <a:srgbClr val="3C4043"/>
                </a:solidFill>
                <a:highlight>
                  <a:srgbClr val="FFFFFF"/>
                </a:highlight>
                <a:latin typeface="Roboto" panose="02000000000000000000"/>
                <a:ea typeface="Roboto" panose="02000000000000000000"/>
                <a:cs typeface="Calibri" panose="020F0502020204030204"/>
                <a:sym typeface="Muli"/>
              </a:rPr>
            </a:br>
            <a:r>
              <a:rPr lang="en-US" sz="1800" b="1">
                <a:solidFill>
                  <a:srgbClr val="3C4043"/>
                </a:solidFill>
                <a:highlight>
                  <a:srgbClr val="FFFFFF"/>
                </a:highlight>
                <a:latin typeface="Roboto" panose="02000000000000000000"/>
                <a:ea typeface="Roboto" panose="02000000000000000000"/>
                <a:cs typeface="Calibri" panose="020F0502020204030204"/>
                <a:sym typeface="Muli"/>
              </a:rPr>
              <a:t>Lead Processes :</a:t>
            </a:r>
            <a:br>
              <a:rPr lang="en-US" sz="1800">
                <a:solidFill>
                  <a:srgbClr val="3C4043"/>
                </a:solidFill>
                <a:highlight>
                  <a:srgbClr val="FFFFFF"/>
                </a:highlight>
                <a:latin typeface="Roboto" panose="02000000000000000000"/>
                <a:ea typeface="Roboto" panose="02000000000000000000"/>
                <a:cs typeface="Calibri" panose="020F0502020204030204"/>
                <a:sym typeface="Muli"/>
              </a:rPr>
            </a:br>
            <a:r>
              <a:rPr lang="en-US" sz="1800">
                <a:solidFill>
                  <a:srgbClr val="3C4043"/>
                </a:solidFill>
                <a:highlight>
                  <a:srgbClr val="FFFFFF"/>
                </a:highlight>
                <a:latin typeface="Roboto" panose="02000000000000000000"/>
                <a:ea typeface="Roboto" panose="02000000000000000000"/>
                <a:cs typeface="Calibri" panose="020F0502020204030204"/>
                <a:sym typeface="Muli"/>
              </a:rPr>
              <a:t>Create different lead processes that include some or all of the picklist values available for the Lead Status field.</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marR="0" lvl="0" indent="-285750" algn="l" rtl="0">
              <a:lnSpc>
                <a:spcPct val="100000"/>
              </a:lnSpc>
              <a:spcBef>
                <a:spcPts val="0"/>
              </a:spcBef>
              <a:spcAft>
                <a:spcPts val="0"/>
              </a:spcAft>
              <a:buClr>
                <a:srgbClr val="000000"/>
              </a:buClr>
              <a:buSzPts val="1200"/>
              <a:buFont typeface="Arial" panose="020B0604020202020204" pitchFamily="34" charset="0"/>
              <a:buChar char="•"/>
            </a:pPr>
            <a:br>
              <a:rPr lang="en-US" sz="1800">
                <a:solidFill>
                  <a:srgbClr val="3C4043"/>
                </a:solidFill>
                <a:highlight>
                  <a:srgbClr val="FFFFFF"/>
                </a:highlight>
                <a:latin typeface="Roboto" panose="02000000000000000000"/>
                <a:ea typeface="Roboto" panose="02000000000000000000"/>
                <a:cs typeface="Calibri" panose="020F0502020204030204"/>
                <a:sym typeface="Muli"/>
              </a:rPr>
            </a:br>
            <a:r>
              <a:rPr lang="en-US" sz="1800" b="1">
                <a:solidFill>
                  <a:srgbClr val="3C4043"/>
                </a:solidFill>
                <a:highlight>
                  <a:srgbClr val="FFFFFF"/>
                </a:highlight>
                <a:latin typeface="Roboto" panose="02000000000000000000"/>
                <a:ea typeface="Roboto" panose="02000000000000000000"/>
                <a:cs typeface="Calibri" panose="020F0502020204030204"/>
                <a:sym typeface="Muli"/>
              </a:rPr>
              <a:t>Support Processes :</a:t>
            </a:r>
            <a:br>
              <a:rPr lang="en-US" sz="1800">
                <a:solidFill>
                  <a:srgbClr val="3C4043"/>
                </a:solidFill>
                <a:highlight>
                  <a:srgbClr val="FFFFFF"/>
                </a:highlight>
                <a:latin typeface="Roboto" panose="02000000000000000000"/>
                <a:ea typeface="Roboto" panose="02000000000000000000"/>
                <a:cs typeface="Calibri" panose="020F0502020204030204"/>
                <a:sym typeface="Muli"/>
              </a:rPr>
            </a:br>
            <a:r>
              <a:rPr lang="en-US" sz="1800">
                <a:solidFill>
                  <a:srgbClr val="3C4043"/>
                </a:solidFill>
                <a:highlight>
                  <a:srgbClr val="FFFFFF"/>
                </a:highlight>
                <a:latin typeface="Roboto" panose="02000000000000000000"/>
                <a:ea typeface="Roboto" panose="02000000000000000000"/>
                <a:cs typeface="Calibri" panose="020F0502020204030204"/>
                <a:sym typeface="Muli"/>
              </a:rPr>
              <a:t>Create different support processes that include some or all of the picklist values available for the case Status field.</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0" marR="0" lvl="0" indent="0" algn="l" rtl="0">
              <a:lnSpc>
                <a:spcPct val="100000"/>
              </a:lnSpc>
              <a:spcBef>
                <a:spcPts val="0"/>
              </a:spcBef>
              <a:spcAft>
                <a:spcPts val="0"/>
              </a:spcAft>
              <a:buClr>
                <a:srgbClr val="000000"/>
              </a:buClr>
              <a:buSzPts val="1200"/>
              <a:buFont typeface="Arial" panose="020B0604020202020204"/>
              <a:buNone/>
            </a:pPr>
            <a:br>
              <a:rPr lang="en-US" sz="1800">
                <a:solidFill>
                  <a:srgbClr val="3C4043"/>
                </a:solidFill>
                <a:highlight>
                  <a:srgbClr val="FFFFFF"/>
                </a:highlight>
                <a:latin typeface="Roboto" panose="02000000000000000000"/>
                <a:ea typeface="Roboto" panose="02000000000000000000"/>
                <a:cs typeface="Calibri" panose="020F0502020204030204"/>
                <a:sym typeface="Muli"/>
              </a:rPr>
            </a:br>
            <a:r>
              <a:rPr lang="en-US" sz="1800">
                <a:solidFill>
                  <a:srgbClr val="3C4043"/>
                </a:solidFill>
                <a:highlight>
                  <a:srgbClr val="FFFFFF"/>
                </a:highlight>
                <a:latin typeface="Roboto" panose="02000000000000000000"/>
                <a:ea typeface="Roboto" panose="02000000000000000000"/>
                <a:cs typeface="Calibri" panose="020F0502020204030204"/>
                <a:sym typeface="Muli"/>
              </a:rPr>
              <a:t>After creating a sales, support, or lead assign the process to a record type. The record type determines the user profiles that are associated with the business process.</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177800" fontAlgn="base">
              <a:lnSpc>
                <a:spcPct val="150000"/>
              </a:lnSpc>
              <a:buClr>
                <a:srgbClr val="3F3F3F"/>
              </a:buClr>
              <a:buSzPts val="2800"/>
            </a:pPr>
            <a:endParaRPr lang="en-US" sz="1800">
              <a:solidFill>
                <a:srgbClr val="3C4043"/>
              </a:solidFill>
              <a:highlight>
                <a:srgbClr val="FFFFFF"/>
              </a:highlight>
              <a:latin typeface="Roboto" panose="02000000000000000000"/>
              <a:ea typeface="Roboto" panose="02000000000000000000"/>
              <a:cs typeface="Calibri" panose="020F0502020204030204"/>
              <a:sym typeface="Calibri" panose="020F0502020204030204"/>
            </a:endParaRPr>
          </a:p>
          <a:p>
            <a:pPr marL="463550" indent="-285750">
              <a:lnSpc>
                <a:spcPct val="150000"/>
              </a:lnSpc>
              <a:buClr>
                <a:srgbClr val="3F3F3F"/>
              </a:buClr>
              <a:buSzPts val="2800"/>
              <a:buFont typeface="Arial" panose="020B0604020202020204"/>
              <a:buChar char="•"/>
            </a:pPr>
            <a:endParaRPr lang="en-IN" sz="1800">
              <a:solidFill>
                <a:srgbClr val="3C4043"/>
              </a:solidFill>
              <a:highlight>
                <a:srgbClr val="FFFFFF"/>
              </a:highlight>
              <a:latin typeface="Roboto" panose="02000000000000000000"/>
              <a:ea typeface="Roboto" panose="02000000000000000000"/>
              <a:cs typeface="Calibri" panose="020F0502020204030204"/>
              <a:sym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rgbClr val="000000"/>
              </a:buClr>
              <a:buSzPts val="4000"/>
              <a:buFont typeface="Arial" panose="020B0604020202020204"/>
              <a:buNone/>
            </a:pPr>
            <a:r>
              <a:rPr lang="en-IN">
                <a:sym typeface="Nixie One"/>
              </a:rPr>
              <a:t>Record Types</a:t>
            </a:r>
            <a:endParaRPr lang="en-IN">
              <a:sym typeface="Arial" panose="020B0604020202020204"/>
            </a:endParaRPr>
          </a:p>
          <a:p>
            <a:pPr marL="0" lvl="0" indent="0" algn="ctr" rtl="0">
              <a:lnSpc>
                <a:spcPct val="90000"/>
              </a:lnSpc>
              <a:spcBef>
                <a:spcPts val="0"/>
              </a:spcBef>
              <a:spcAft>
                <a:spcPts val="0"/>
              </a:spcAft>
              <a:buClr>
                <a:schemeClr val="accent2"/>
              </a:buClr>
              <a:buSzPts val="4000"/>
              <a:buNone/>
            </a:pP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85750" lvl="0" indent="-285750"/>
            <a:r>
              <a:rPr lang="en-US" sz="1800">
                <a:solidFill>
                  <a:srgbClr val="3C4043"/>
                </a:solidFill>
                <a:highlight>
                  <a:srgbClr val="FFFFFF"/>
                </a:highlight>
                <a:latin typeface="Roboto" panose="02000000000000000000"/>
                <a:ea typeface="Roboto" panose="02000000000000000000"/>
                <a:sym typeface="Muli"/>
              </a:rPr>
              <a:t>Record types let you offer different business processes, picklist values, and page layouts to different users. </a:t>
            </a:r>
            <a:endParaRPr lang="en-US" sz="1800">
              <a:solidFill>
                <a:srgbClr val="3C4043"/>
              </a:solidFill>
              <a:highlight>
                <a:srgbClr val="FFFFFF"/>
              </a:highlight>
              <a:latin typeface="Roboto" panose="02000000000000000000"/>
              <a:ea typeface="Roboto" panose="02000000000000000000"/>
              <a:sym typeface="Muli"/>
            </a:endParaRPr>
          </a:p>
          <a:p>
            <a:pPr marL="285750" lvl="0" indent="-285750"/>
            <a:r>
              <a:rPr lang="en-US" sz="1800">
                <a:solidFill>
                  <a:srgbClr val="3C4043"/>
                </a:solidFill>
                <a:highlight>
                  <a:srgbClr val="FFFFFF"/>
                </a:highlight>
                <a:latin typeface="Roboto" panose="02000000000000000000"/>
                <a:ea typeface="Roboto" panose="02000000000000000000"/>
                <a:sym typeface="Muli"/>
              </a:rPr>
              <a:t>You might create record types to differentiate your regular sales deals from your professional services engagements, offering different picklist values for each. Or you might display different page layouts for your customer support cases versus your billing cases.</a:t>
            </a:r>
            <a:endParaRPr lang="en-US" sz="1800">
              <a:solidFill>
                <a:srgbClr val="3C4043"/>
              </a:solidFill>
              <a:highlight>
                <a:srgbClr val="FFFFFF"/>
              </a:highlight>
              <a:latin typeface="Roboto" panose="02000000000000000000"/>
              <a:ea typeface="Roboto" panose="02000000000000000000"/>
              <a:sym typeface="Muli"/>
            </a:endParaRPr>
          </a:p>
          <a:p>
            <a:pPr marL="285750" lvl="0" indent="-285750"/>
            <a:r>
              <a:rPr lang="en-US" sz="1800">
                <a:solidFill>
                  <a:srgbClr val="3C4043"/>
                </a:solidFill>
                <a:highlight>
                  <a:srgbClr val="FFFFFF"/>
                </a:highlight>
                <a:latin typeface="Roboto" panose="02000000000000000000"/>
                <a:ea typeface="Roboto" panose="02000000000000000000"/>
                <a:sym typeface="Muli"/>
              </a:rPr>
              <a:t>It is type of field available for all objects in the page layout. Record type will contain all the picklist fields which are created for the object.</a:t>
            </a:r>
            <a:endParaRPr lang="en-US" sz="1800">
              <a:solidFill>
                <a:srgbClr val="3C4043"/>
              </a:solidFill>
              <a:highlight>
                <a:srgbClr val="FFFFFF"/>
              </a:highlight>
              <a:latin typeface="Roboto" panose="02000000000000000000"/>
              <a:ea typeface="Roboto" panose="02000000000000000000"/>
              <a:sym typeface="Muli"/>
            </a:endParaRPr>
          </a:p>
          <a:p>
            <a:pPr marL="177800" lvl="0" indent="0">
              <a:lnSpc>
                <a:spcPct val="150000"/>
              </a:lnSpc>
              <a:spcBef>
                <a:spcPts val="0"/>
              </a:spcBef>
              <a:buNone/>
            </a:pPr>
            <a:endParaRPr lang="en-US" sz="1800">
              <a:solidFill>
                <a:srgbClr val="3C4043"/>
              </a:solidFill>
              <a:highlight>
                <a:srgbClr val="FFFFFF"/>
              </a:highlight>
              <a:latin typeface="Roboto" panose="02000000000000000000"/>
              <a:ea typeface="Roboto" panose="02000000000000000000"/>
            </a:endParaRPr>
          </a:p>
          <a:p>
            <a:pPr marL="463550" lvl="0" indent="-285750">
              <a:lnSpc>
                <a:spcPct val="150000"/>
              </a:lnSpc>
              <a:spcBef>
                <a:spcPts val="0"/>
              </a:spcBef>
            </a:pPr>
            <a:endParaRPr sz="1800">
              <a:solidFill>
                <a:srgbClr val="3C4043"/>
              </a:solidFill>
              <a:highlight>
                <a:srgbClr val="FFFFFF"/>
              </a:highlight>
              <a:latin typeface="Roboto" panose="02000000000000000000"/>
              <a:ea typeface="Roboto" panose="02000000000000000000"/>
              <a:sym typeface="Roboto" panose="02000000000000000000"/>
            </a:endParaRPr>
          </a:p>
          <a:p>
            <a:pPr marL="463550" lvl="0" indent="-285750">
              <a:lnSpc>
                <a:spcPct val="150000"/>
              </a:lnSpc>
              <a:spcBef>
                <a:spcPts val="0"/>
              </a:spcBef>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pic>
        <p:nvPicPr>
          <p:cNvPr id="5" name="Picture 4"/>
          <p:cNvPicPr>
            <a:picLocks noChangeAspect="1"/>
          </p:cNvPicPr>
          <p:nvPr/>
        </p:nvPicPr>
        <p:blipFill>
          <a:blip r:embed="rId1"/>
          <a:stretch>
            <a:fillRect/>
          </a:stretch>
        </p:blipFill>
        <p:spPr>
          <a:xfrm>
            <a:off x="373968" y="3263705"/>
            <a:ext cx="6322253" cy="3086883"/>
          </a:xfrm>
          <a:prstGeom prst="rect">
            <a:avLst/>
          </a:prstGeom>
        </p:spPr>
      </p:pic>
      <p:pic>
        <p:nvPicPr>
          <p:cNvPr id="6" name="Picture 5"/>
          <p:cNvPicPr>
            <a:picLocks noChangeAspect="1"/>
          </p:cNvPicPr>
          <p:nvPr/>
        </p:nvPicPr>
        <p:blipFill>
          <a:blip r:embed="rId2"/>
          <a:stretch>
            <a:fillRect/>
          </a:stretch>
        </p:blipFill>
        <p:spPr>
          <a:xfrm>
            <a:off x="6944059" y="3263705"/>
            <a:ext cx="4831382" cy="32837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268326"/>
            <a:ext cx="11444100" cy="627300"/>
          </a:xfrm>
          <a:prstGeom prst="rect">
            <a:avLst/>
          </a:prstGeom>
          <a:noFill/>
          <a:ln>
            <a:noFill/>
          </a:ln>
        </p:spPr>
        <p:txBody>
          <a:bodyPr spcFirstLastPara="1" wrap="square" lIns="91425" tIns="45700" rIns="91425" bIns="45700" anchor="t" anchorCtr="0">
            <a:noAutofit/>
          </a:bodyPr>
          <a:lstStyle/>
          <a:p>
            <a:pPr marL="0" indent="0">
              <a:spcBef>
                <a:spcPts val="0"/>
              </a:spcBef>
            </a:pPr>
            <a:r>
              <a:rPr lang="en-IN">
                <a:sym typeface="Nixie One"/>
              </a:rPr>
              <a:t>Queues</a:t>
            </a:r>
            <a:endParaRPr lang="en-IN">
              <a:sym typeface="Arial" panose="020B0604020202020204"/>
            </a:endParaRPr>
          </a:p>
          <a:p>
            <a:pPr marL="0" indent="0">
              <a:spcBef>
                <a:spcPts val="0"/>
              </a:spcBef>
            </a:pPr>
            <a:endParaRPr lang="en-IN">
              <a:sym typeface="Arial" panose="020B0604020202020204"/>
            </a:endParaRPr>
          </a:p>
          <a:p>
            <a:pPr marL="0" lvl="0" indent="0" algn="ctr" rtl="0">
              <a:lnSpc>
                <a:spcPct val="90000"/>
              </a:lnSpc>
              <a:spcBef>
                <a:spcPts val="0"/>
              </a:spcBef>
              <a:spcAft>
                <a:spcPts val="0"/>
              </a:spcAft>
              <a:buClr>
                <a:schemeClr val="accent2"/>
              </a:buClr>
              <a:buSzPts val="4000"/>
              <a:buNone/>
            </a:pP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28600" lvl="0" indent="-50800">
              <a:lnSpc>
                <a:spcPct val="150000"/>
              </a:lnSpc>
              <a:spcBef>
                <a:spcPts val="0"/>
              </a:spcBef>
              <a:buNone/>
            </a:pPr>
            <a:endParaRPr lang="en-US" sz="1800">
              <a:solidFill>
                <a:srgbClr val="3C4043"/>
              </a:solidFill>
              <a:highlight>
                <a:srgbClr val="FFFFFF"/>
              </a:highlight>
              <a:latin typeface="Roboto" panose="02000000000000000000"/>
              <a:ea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sp>
        <p:nvSpPr>
          <p:cNvPr id="2" name="TextBox 1"/>
          <p:cNvSpPr txBox="1"/>
          <p:nvPr/>
        </p:nvSpPr>
        <p:spPr>
          <a:xfrm>
            <a:off x="500579" y="1050845"/>
            <a:ext cx="10902844" cy="4478149"/>
          </a:xfrm>
          <a:prstGeom prst="rect">
            <a:avLst/>
          </a:prstGeom>
          <a:noFill/>
        </p:spPr>
        <p:txBody>
          <a:bodyPr wrap="square" rtlCol="0">
            <a:spAutoFit/>
          </a:bodyPr>
          <a:lstStyle/>
          <a:p>
            <a:pPr marL="285750" indent="-285750">
              <a:buSzPts val="1200"/>
              <a:buFont typeface="Arial" panose="020B0604020202020204" pitchFamily="34" charset="0"/>
              <a:buChar char="•"/>
            </a:pPr>
            <a:r>
              <a:rPr lang="en-US" sz="1800">
                <a:solidFill>
                  <a:srgbClr val="3C4043"/>
                </a:solidFill>
                <a:highlight>
                  <a:srgbClr val="FFFFFF"/>
                </a:highlight>
                <a:latin typeface="Roboto" panose="02000000000000000000"/>
                <a:ea typeface="Roboto" panose="02000000000000000000"/>
                <a:cs typeface="Calibri" panose="020F0502020204030204"/>
                <a:sym typeface="Muli"/>
              </a:rPr>
              <a:t>Queues helps us to Prioritize, distribute, and assign records to teams who share workloads. Access queues from list views. </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indent="-285750">
              <a:buSzPts val="1200"/>
              <a:buFont typeface="Arial" panose="020B0604020202020204" pitchFamily="34" charset="0"/>
              <a:buChar char="•"/>
            </a:pP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indent="-285750">
              <a:buSzPts val="1200"/>
              <a:buFont typeface="Arial" panose="020B0604020202020204" pitchFamily="34" charset="0"/>
              <a:buChar char="•"/>
            </a:pPr>
            <a:r>
              <a:rPr lang="en-US" sz="1800">
                <a:solidFill>
                  <a:srgbClr val="3C4043"/>
                </a:solidFill>
                <a:highlight>
                  <a:srgbClr val="FFFFFF"/>
                </a:highlight>
                <a:latin typeface="Roboto" panose="02000000000000000000"/>
                <a:ea typeface="Roboto" panose="02000000000000000000"/>
                <a:cs typeface="Calibri" panose="020F0502020204030204"/>
                <a:sym typeface="Muli"/>
              </a:rPr>
              <a:t>Queue members can jump in to take ownership of any record in a queue. They’re available for cases, leads, orders, custom objects, service contracts, and knowledge article versions.</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a:buSzPts val="1200"/>
            </a:pP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indent="-285750">
              <a:buSzPts val="1200"/>
              <a:buFont typeface="Arial" panose="020B0604020202020204" pitchFamily="34" charset="0"/>
              <a:buChar char="•"/>
            </a:pPr>
            <a:r>
              <a:rPr lang="en-US" sz="1800">
                <a:solidFill>
                  <a:srgbClr val="3C4043"/>
                </a:solidFill>
                <a:highlight>
                  <a:srgbClr val="FFFFFF"/>
                </a:highlight>
                <a:latin typeface="Roboto" panose="02000000000000000000"/>
                <a:ea typeface="Roboto" panose="02000000000000000000"/>
                <a:cs typeface="Calibri" panose="020F0502020204030204"/>
                <a:sym typeface="Muli"/>
              </a:rPr>
              <a:t>You can manually add a record to a queue by changing the record’s owner to the queue. Or, an assignment rule can add cases or leads to a queue based on specific record criteria.</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indent="-285750">
              <a:buSzPts val="1200"/>
              <a:buFont typeface="Arial" panose="020B0604020202020204" pitchFamily="34" charset="0"/>
              <a:buChar char="•"/>
            </a:pP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indent="-285750">
              <a:buSzPts val="1200"/>
              <a:buFont typeface="Arial" panose="020B0604020202020204" pitchFamily="34" charset="0"/>
              <a:buChar char="•"/>
            </a:pPr>
            <a:r>
              <a:rPr lang="en-US" sz="1800">
                <a:solidFill>
                  <a:srgbClr val="3C4043"/>
                </a:solidFill>
                <a:highlight>
                  <a:srgbClr val="FFFFFF"/>
                </a:highlight>
                <a:latin typeface="Roboto" panose="02000000000000000000"/>
                <a:ea typeface="Roboto" panose="02000000000000000000"/>
                <a:cs typeface="Calibri" panose="020F0502020204030204"/>
                <a:sym typeface="Muli"/>
              </a:rPr>
              <a:t>Records remain in a queue until they’re assigned an owner. Any queue members or users higher in a role hierarchy can take ownership of records in a queue.</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indent="-285750">
              <a:buSzPts val="1200"/>
              <a:buFont typeface="Arial" panose="020B0604020202020204" pitchFamily="34" charset="0"/>
              <a:buChar char="•"/>
            </a:pP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indent="-285750">
              <a:buSzPts val="1200"/>
              <a:buFont typeface="Arial" panose="020B0604020202020204" pitchFamily="34" charset="0"/>
              <a:buChar char="•"/>
            </a:pPr>
            <a:r>
              <a:rPr lang="en-US" sz="1800" b="1">
                <a:solidFill>
                  <a:srgbClr val="3C4043"/>
                </a:solidFill>
                <a:highlight>
                  <a:srgbClr val="FFFFFF"/>
                </a:highlight>
                <a:latin typeface="Roboto" panose="02000000000000000000"/>
                <a:ea typeface="Roboto" panose="02000000000000000000"/>
                <a:cs typeface="Calibri" panose="020F0502020204030204"/>
                <a:sym typeface="Muli"/>
              </a:rPr>
              <a:t>In order to create a new Queue, From Setup-&gt; Queues -&gt; New</a:t>
            </a:r>
            <a:endParaRPr lang="en-US" sz="1800" b="1">
              <a:solidFill>
                <a:srgbClr val="3C4043"/>
              </a:solidFill>
              <a:highlight>
                <a:srgbClr val="FFFFFF"/>
              </a:highlight>
              <a:latin typeface="Roboto" panose="02000000000000000000"/>
              <a:ea typeface="Roboto" panose="02000000000000000000"/>
              <a:cs typeface="Calibri" panose="020F0502020204030204"/>
              <a:sym typeface="Muli"/>
            </a:endParaRPr>
          </a:p>
          <a:p>
            <a:pPr marL="177800" fontAlgn="base">
              <a:lnSpc>
                <a:spcPct val="150000"/>
              </a:lnSpc>
              <a:buClr>
                <a:srgbClr val="3F3F3F"/>
              </a:buClr>
              <a:buSzPts val="2800"/>
            </a:pPr>
            <a:endParaRPr lang="en-US" sz="1800">
              <a:solidFill>
                <a:srgbClr val="3C4043"/>
              </a:solidFill>
              <a:highlight>
                <a:srgbClr val="FFFFFF"/>
              </a:highlight>
              <a:latin typeface="Roboto" panose="02000000000000000000"/>
              <a:ea typeface="Roboto" panose="02000000000000000000"/>
              <a:cs typeface="Calibri" panose="020F0502020204030204"/>
              <a:sym typeface="Calibri" panose="020F0502020204030204"/>
            </a:endParaRPr>
          </a:p>
          <a:p>
            <a:pPr marL="463550" indent="-285750">
              <a:lnSpc>
                <a:spcPct val="150000"/>
              </a:lnSpc>
              <a:buClr>
                <a:srgbClr val="3F3F3F"/>
              </a:buClr>
              <a:buSzPts val="2800"/>
              <a:buFont typeface="Arial" panose="020B0604020202020204"/>
              <a:buChar char="•"/>
            </a:pPr>
            <a:endParaRPr lang="en-IN" sz="1800">
              <a:solidFill>
                <a:srgbClr val="3C4043"/>
              </a:solidFill>
              <a:highlight>
                <a:srgbClr val="FFFFFF"/>
              </a:highlight>
              <a:latin typeface="Roboto" panose="02000000000000000000"/>
              <a:ea typeface="Roboto" panose="02000000000000000000"/>
              <a:cs typeface="Calibri" panose="020F0502020204030204"/>
              <a:sym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0"/>
          <p:cNvSpPr txBox="1">
            <a:spLocks noGrp="1"/>
          </p:cNvSpPr>
          <p:nvPr>
            <p:ph type="body" idx="1"/>
          </p:nvPr>
        </p:nvSpPr>
        <p:spPr>
          <a:xfrm>
            <a:off x="7824650" y="470489"/>
            <a:ext cx="4193179" cy="5799681"/>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lt1"/>
              </a:buClr>
              <a:buSzPts val="2800"/>
              <a:buNone/>
            </a:pPr>
          </a:p>
        </p:txBody>
      </p:sp>
      <p:sp>
        <p:nvSpPr>
          <p:cNvPr id="259" name="Google Shape;259;p30"/>
          <p:cNvSpPr txBox="1">
            <a:spLocks noGrp="1"/>
          </p:cNvSpPr>
          <p:nvPr>
            <p:ph type="body" idx="2"/>
          </p:nvPr>
        </p:nvSpPr>
        <p:spPr>
          <a:xfrm>
            <a:off x="377406" y="900785"/>
            <a:ext cx="7067969" cy="5369385"/>
          </a:xfrm>
          <a:prstGeom prst="rect">
            <a:avLst/>
          </a:prstGeom>
          <a:noFill/>
          <a:ln>
            <a:noFill/>
          </a:ln>
        </p:spPr>
        <p:txBody>
          <a:bodyPr spcFirstLastPara="1" wrap="square" lIns="91425" tIns="45700" rIns="91425" bIns="45700" anchor="t" anchorCtr="0">
            <a:noAutofit/>
          </a:bodyPr>
          <a:lstStyle/>
          <a:p>
            <a:pPr marL="342900" lvl="0" indent="-342900">
              <a:lnSpc>
                <a:spcPct val="100000"/>
              </a:lnSpc>
              <a:spcBef>
                <a:spcPts val="0"/>
              </a:spcBef>
              <a:buClr>
                <a:srgbClr val="000000"/>
              </a:buClr>
              <a:buSzPts val="1200"/>
              <a:buFont typeface="+mj-lt"/>
              <a:buAutoNum type="arabicPeriod"/>
            </a:pPr>
            <a:r>
              <a:rPr lang="en-US" sz="1800">
                <a:solidFill>
                  <a:srgbClr val="3C4043"/>
                </a:solidFill>
                <a:highlight>
                  <a:srgbClr val="FFFFFF"/>
                </a:highlight>
                <a:latin typeface="Roboto" panose="02000000000000000000"/>
                <a:ea typeface="Roboto" panose="02000000000000000000"/>
                <a:sym typeface="Muli"/>
              </a:rPr>
              <a:t>Create a lead queue with members who are salespeople assigned to a specific sales territory.</a:t>
            </a:r>
            <a:endParaRPr lang="en-US" sz="1800">
              <a:solidFill>
                <a:srgbClr val="3C4043"/>
              </a:solidFill>
              <a:highlight>
                <a:srgbClr val="FFFFFF"/>
              </a:highlight>
              <a:latin typeface="Roboto" panose="02000000000000000000"/>
              <a:ea typeface="Roboto" panose="02000000000000000000"/>
              <a:sym typeface="Muli"/>
            </a:endParaRPr>
          </a:p>
          <a:p>
            <a:pPr marL="342900" lvl="0" indent="-342900">
              <a:lnSpc>
                <a:spcPct val="100000"/>
              </a:lnSpc>
              <a:spcBef>
                <a:spcPts val="0"/>
              </a:spcBef>
              <a:buClr>
                <a:srgbClr val="000000"/>
              </a:buClr>
              <a:buSzPts val="1200"/>
              <a:buFont typeface="+mj-lt"/>
              <a:buAutoNum type="arabicPeriod"/>
            </a:pPr>
            <a:br>
              <a:rPr lang="en-US" sz="1800">
                <a:solidFill>
                  <a:srgbClr val="3C4043"/>
                </a:solidFill>
                <a:highlight>
                  <a:srgbClr val="FFFFFF"/>
                </a:highlight>
                <a:latin typeface="Roboto" panose="02000000000000000000"/>
                <a:ea typeface="Roboto" panose="02000000000000000000"/>
                <a:sym typeface="Muli"/>
              </a:rPr>
            </a:br>
            <a:r>
              <a:rPr lang="en-US" sz="1800">
                <a:solidFill>
                  <a:srgbClr val="3C4043"/>
                </a:solidFill>
                <a:highlight>
                  <a:srgbClr val="FFFFFF"/>
                </a:highlight>
                <a:latin typeface="Roboto" panose="02000000000000000000"/>
                <a:ea typeface="Roboto" panose="02000000000000000000"/>
                <a:sym typeface="Muli"/>
              </a:rPr>
              <a:t>Create a case queue with members who are support agents assigned to different service levels.</a:t>
            </a:r>
            <a:endParaRPr lang="en-US" sz="1800">
              <a:solidFill>
                <a:srgbClr val="3C4043"/>
              </a:solidFill>
              <a:highlight>
                <a:srgbClr val="FFFFFF"/>
              </a:highlight>
              <a:latin typeface="Roboto" panose="02000000000000000000"/>
              <a:ea typeface="Roboto" panose="02000000000000000000"/>
              <a:sym typeface="Muli"/>
            </a:endParaRPr>
          </a:p>
          <a:p>
            <a:pPr marL="342900" lvl="0" indent="-342900">
              <a:lnSpc>
                <a:spcPct val="100000"/>
              </a:lnSpc>
              <a:spcBef>
                <a:spcPts val="0"/>
              </a:spcBef>
              <a:buClr>
                <a:srgbClr val="000000"/>
              </a:buClr>
              <a:buSzPts val="1200"/>
              <a:buFont typeface="+mj-lt"/>
              <a:buAutoNum type="arabicPeriod"/>
            </a:pPr>
            <a:br>
              <a:rPr lang="en-US" sz="1800">
                <a:solidFill>
                  <a:srgbClr val="3C4043"/>
                </a:solidFill>
                <a:highlight>
                  <a:srgbClr val="FFFFFF"/>
                </a:highlight>
                <a:latin typeface="Roboto" panose="02000000000000000000"/>
                <a:ea typeface="Roboto" panose="02000000000000000000"/>
                <a:sym typeface="Muli"/>
              </a:rPr>
            </a:br>
            <a:r>
              <a:rPr lang="en-US" sz="1800">
                <a:solidFill>
                  <a:srgbClr val="3C4043"/>
                </a:solidFill>
                <a:highlight>
                  <a:srgbClr val="FFFFFF"/>
                </a:highlight>
                <a:latin typeface="Roboto" panose="02000000000000000000"/>
                <a:ea typeface="Roboto" panose="02000000000000000000"/>
                <a:sym typeface="Muli"/>
              </a:rPr>
              <a:t>Create a knowledge article version queue members who are users that can translate new versions of articles into a specific language.</a:t>
            </a:r>
            <a:endParaRPr lang="en-US" sz="1800">
              <a:solidFill>
                <a:srgbClr val="3C4043"/>
              </a:solidFill>
              <a:highlight>
                <a:srgbClr val="FFFFFF"/>
              </a:highlight>
              <a:latin typeface="Roboto" panose="02000000000000000000"/>
              <a:ea typeface="Roboto" panose="02000000000000000000"/>
              <a:sym typeface="Muli"/>
            </a:endParaRPr>
          </a:p>
          <a:p>
            <a:pPr marL="50800" indent="0" fontAlgn="base">
              <a:buSzPts val="2800"/>
              <a:buNone/>
            </a:pPr>
            <a:endParaRPr lang="en-US" sz="1800">
              <a:solidFill>
                <a:srgbClr val="3C4043"/>
              </a:solidFill>
              <a:highlight>
                <a:srgbClr val="FFFFFF"/>
              </a:highlight>
              <a:latin typeface="Roboto" panose="02000000000000000000"/>
              <a:ea typeface="Roboto" panose="02000000000000000000"/>
            </a:endParaRPr>
          </a:p>
          <a:p>
            <a:pPr marL="336550" indent="-285750" fontAlgn="base">
              <a:buSzPts val="2800"/>
            </a:pPr>
          </a:p>
        </p:txBody>
      </p:sp>
      <p:sp>
        <p:nvSpPr>
          <p:cNvPr id="260" name="Google Shape;260;p30"/>
          <p:cNvSpPr txBox="1">
            <a:spLocks noGrp="1"/>
          </p:cNvSpPr>
          <p:nvPr>
            <p:ph type="body" idx="3"/>
          </p:nvPr>
        </p:nvSpPr>
        <p:spPr>
          <a:xfrm>
            <a:off x="377825" y="221887"/>
            <a:ext cx="7067550" cy="1019175"/>
          </a:xfrm>
          <a:prstGeom prst="rect">
            <a:avLst/>
          </a:prstGeom>
          <a:noFill/>
          <a:ln>
            <a:noFill/>
          </a:ln>
        </p:spPr>
        <p:txBody>
          <a:bodyPr spcFirstLastPara="1" wrap="square" lIns="91425" tIns="45700" rIns="91425" bIns="45700" anchor="t" anchorCtr="0">
            <a:noAutofit/>
          </a:bodyPr>
          <a:lstStyle/>
          <a:p>
            <a:pPr marL="0" indent="0">
              <a:spcBef>
                <a:spcPts val="0"/>
              </a:spcBef>
            </a:pPr>
            <a:r>
              <a:rPr lang="en-US"/>
              <a:t>Examples of Queues</a:t>
            </a:r>
            <a:endParaRPr lang="en-US"/>
          </a:p>
        </p:txBody>
      </p:sp>
      <p:pic>
        <p:nvPicPr>
          <p:cNvPr id="6" name="Picture 5"/>
          <p:cNvPicPr>
            <a:picLocks noChangeAspect="1"/>
          </p:cNvPicPr>
          <p:nvPr/>
        </p:nvPicPr>
        <p:blipFill>
          <a:blip r:embed="rId1"/>
          <a:stretch>
            <a:fillRect/>
          </a:stretch>
        </p:blipFill>
        <p:spPr>
          <a:xfrm>
            <a:off x="7753996" y="-1"/>
            <a:ext cx="4438004" cy="652740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268326"/>
            <a:ext cx="11444100" cy="627300"/>
          </a:xfrm>
          <a:prstGeom prst="rect">
            <a:avLst/>
          </a:prstGeom>
          <a:noFill/>
          <a:ln>
            <a:noFill/>
          </a:ln>
        </p:spPr>
        <p:txBody>
          <a:bodyPr spcFirstLastPara="1" wrap="square" lIns="91425" tIns="45700" rIns="91425" bIns="45700" anchor="t" anchorCtr="0">
            <a:noAutofit/>
          </a:bodyPr>
          <a:lstStyle/>
          <a:p>
            <a:pPr marL="0" lvl="0" indent="0">
              <a:spcBef>
                <a:spcPts val="0"/>
              </a:spcBef>
            </a:pPr>
            <a:r>
              <a:rPr lang="en-IN">
                <a:sym typeface="Nixie One"/>
              </a:rPr>
              <a:t>Global Action</a:t>
            </a:r>
            <a:endParaRPr lang="en-IN">
              <a:sym typeface="Arial" panose="020B0604020202020204"/>
            </a:endParaRPr>
          </a:p>
          <a:p>
            <a:pPr marL="0" indent="0">
              <a:spcBef>
                <a:spcPts val="0"/>
              </a:spcBef>
            </a:pPr>
            <a:endParaRPr lang="en-IN">
              <a:sym typeface="Arial" panose="020B0604020202020204"/>
            </a:endParaRPr>
          </a:p>
          <a:p>
            <a:pPr marL="0" lvl="0" indent="0" algn="ctr" rtl="0">
              <a:lnSpc>
                <a:spcPct val="90000"/>
              </a:lnSpc>
              <a:spcBef>
                <a:spcPts val="0"/>
              </a:spcBef>
              <a:spcAft>
                <a:spcPts val="0"/>
              </a:spcAft>
              <a:buClr>
                <a:schemeClr val="accent2"/>
              </a:buClr>
              <a:buSzPts val="4000"/>
              <a:buNone/>
            </a:pP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28600" lvl="0" indent="-50800">
              <a:lnSpc>
                <a:spcPct val="150000"/>
              </a:lnSpc>
              <a:spcBef>
                <a:spcPts val="0"/>
              </a:spcBef>
              <a:buNone/>
            </a:pPr>
            <a:endParaRPr lang="en-US" sz="1800">
              <a:solidFill>
                <a:srgbClr val="3C4043"/>
              </a:solidFill>
              <a:highlight>
                <a:srgbClr val="FFFFFF"/>
              </a:highlight>
              <a:latin typeface="Roboto" panose="02000000000000000000"/>
              <a:ea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sp>
        <p:nvSpPr>
          <p:cNvPr id="2" name="TextBox 1"/>
          <p:cNvSpPr txBox="1"/>
          <p:nvPr/>
        </p:nvSpPr>
        <p:spPr>
          <a:xfrm>
            <a:off x="500579" y="1050845"/>
            <a:ext cx="10902844" cy="6417141"/>
          </a:xfrm>
          <a:prstGeom prst="rect">
            <a:avLst/>
          </a:prstGeom>
          <a:noFill/>
        </p:spPr>
        <p:txBody>
          <a:bodyPr wrap="square" rtlCol="0">
            <a:spAutoFit/>
          </a:bodyPr>
          <a:lstStyle/>
          <a:p>
            <a:pPr marL="285750" lvl="0" indent="-285750">
              <a:buSzPts val="1200"/>
              <a:buFont typeface="Arial" panose="020B0604020202020204" pitchFamily="34" charset="0"/>
              <a:buChar char="•"/>
            </a:pPr>
            <a:r>
              <a:rPr lang="en-US" sz="1800">
                <a:solidFill>
                  <a:srgbClr val="3C4043"/>
                </a:solidFill>
                <a:highlight>
                  <a:srgbClr val="FFFFFF"/>
                </a:highlight>
                <a:latin typeface="Roboto" panose="02000000000000000000"/>
                <a:ea typeface="Roboto" panose="02000000000000000000"/>
                <a:cs typeface="Calibri" panose="020F0502020204030204"/>
                <a:sym typeface="Muli"/>
              </a:rPr>
              <a:t>Global actions lets a user perform the following actions without leaving the page they’re on:</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lvl="8">
              <a:buSzPts val="1200"/>
            </a:pPr>
            <a:r>
              <a:rPr lang="en-US" sz="1800">
                <a:solidFill>
                  <a:srgbClr val="3C4043"/>
                </a:solidFill>
                <a:highlight>
                  <a:srgbClr val="FFFFFF"/>
                </a:highlight>
                <a:latin typeface="Roboto" panose="02000000000000000000"/>
                <a:ea typeface="Roboto" panose="02000000000000000000"/>
                <a:cs typeface="Calibri" panose="020F0502020204030204"/>
                <a:sym typeface="Muli"/>
              </a:rPr>
              <a:t>	Log call details</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lvl="8">
              <a:buSzPts val="1200"/>
            </a:pPr>
            <a:r>
              <a:rPr lang="en-US" sz="1800">
                <a:solidFill>
                  <a:srgbClr val="3C4043"/>
                </a:solidFill>
                <a:highlight>
                  <a:srgbClr val="FFFFFF"/>
                </a:highlight>
                <a:latin typeface="Roboto" panose="02000000000000000000"/>
                <a:ea typeface="Roboto" panose="02000000000000000000"/>
                <a:cs typeface="Calibri" panose="020F0502020204030204"/>
                <a:sym typeface="Muli"/>
              </a:rPr>
              <a:t>	Create or Update records</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lvl="8">
              <a:buSzPts val="1200"/>
            </a:pPr>
            <a:r>
              <a:rPr lang="en-US" sz="1800">
                <a:solidFill>
                  <a:srgbClr val="3C4043"/>
                </a:solidFill>
                <a:highlight>
                  <a:srgbClr val="FFFFFF"/>
                </a:highlight>
                <a:latin typeface="Roboto" panose="02000000000000000000"/>
                <a:ea typeface="Roboto" panose="02000000000000000000"/>
                <a:cs typeface="Calibri" panose="020F0502020204030204"/>
                <a:sym typeface="Muli"/>
              </a:rPr>
              <a:t>	Send email</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lvl="0">
              <a:buSzPts val="1200"/>
            </a:pP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lvl="0" indent="-285750">
              <a:buSzPts val="1200"/>
              <a:buFont typeface="Arial" panose="020B0604020202020204" pitchFamily="34" charset="0"/>
              <a:buChar char="•"/>
            </a:pPr>
            <a:r>
              <a:rPr lang="en-US" sz="1800">
                <a:solidFill>
                  <a:srgbClr val="3C4043"/>
                </a:solidFill>
                <a:highlight>
                  <a:srgbClr val="FFFFFF"/>
                </a:highlight>
                <a:latin typeface="Roboto" panose="02000000000000000000"/>
                <a:ea typeface="Roboto" panose="02000000000000000000"/>
                <a:cs typeface="Calibri" panose="020F0502020204030204"/>
                <a:sym typeface="Muli"/>
              </a:rPr>
              <a:t>Global create actions enable users to create object records, but the new record has no direct relationship with other records.</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lvl="0" indent="-285750">
              <a:buSzPts val="1200"/>
              <a:buFont typeface="Arial" panose="020B0604020202020204" pitchFamily="34" charset="0"/>
              <a:buChar char="•"/>
            </a:pP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lvl="0" indent="-285750">
              <a:buSzPts val="1200"/>
              <a:buFont typeface="Arial" panose="020B0604020202020204" pitchFamily="34" charset="0"/>
              <a:buChar char="•"/>
            </a:pPr>
            <a:r>
              <a:rPr lang="en-US" sz="1800">
                <a:solidFill>
                  <a:srgbClr val="3C4043"/>
                </a:solidFill>
                <a:highlight>
                  <a:srgbClr val="FFFFFF"/>
                </a:highlight>
                <a:latin typeface="Roboto" panose="02000000000000000000"/>
                <a:ea typeface="Roboto" panose="02000000000000000000"/>
                <a:cs typeface="Calibri" panose="020F0502020204030204"/>
                <a:sym typeface="Muli"/>
              </a:rPr>
              <a:t>Global actions live on a special layout of their own, known as the </a:t>
            </a:r>
            <a:r>
              <a:rPr lang="en-US" sz="1800" b="1">
                <a:solidFill>
                  <a:srgbClr val="3C4043"/>
                </a:solidFill>
                <a:highlight>
                  <a:srgbClr val="FFFFFF"/>
                </a:highlight>
                <a:latin typeface="Roboto" panose="02000000000000000000"/>
                <a:ea typeface="Roboto" panose="02000000000000000000"/>
                <a:cs typeface="Calibri" panose="020F0502020204030204"/>
                <a:sym typeface="Muli"/>
              </a:rPr>
              <a:t>global publisher layout. </a:t>
            </a:r>
            <a:endParaRPr lang="en-US" sz="1800" b="1">
              <a:solidFill>
                <a:srgbClr val="3C4043"/>
              </a:solidFill>
              <a:highlight>
                <a:srgbClr val="FFFFFF"/>
              </a:highlight>
              <a:latin typeface="Roboto" panose="02000000000000000000"/>
              <a:ea typeface="Roboto" panose="02000000000000000000"/>
              <a:cs typeface="Calibri" panose="020F0502020204030204"/>
              <a:sym typeface="Muli"/>
            </a:endParaRPr>
          </a:p>
          <a:p>
            <a:pPr marL="285750" lvl="0" indent="-285750">
              <a:buSzPts val="1200"/>
              <a:buFont typeface="Arial" panose="020B0604020202020204" pitchFamily="34" charset="0"/>
              <a:buChar char="•"/>
            </a:pP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lvl="0" indent="-285750">
              <a:buSzPts val="1200"/>
              <a:buFont typeface="Arial" panose="020B0604020202020204" pitchFamily="34" charset="0"/>
              <a:buChar char="•"/>
            </a:pPr>
            <a:r>
              <a:rPr lang="en-US" sz="1800">
                <a:solidFill>
                  <a:srgbClr val="3C4043"/>
                </a:solidFill>
                <a:highlight>
                  <a:srgbClr val="FFFFFF"/>
                </a:highlight>
                <a:latin typeface="Roboto" panose="02000000000000000000"/>
                <a:ea typeface="Roboto" panose="02000000000000000000"/>
                <a:cs typeface="Calibri" panose="020F0502020204030204"/>
                <a:sym typeface="Muli"/>
              </a:rPr>
              <a:t>The layout isn’t associated with an object, and it populates the global actions menu in Lightning Experience. Users can access the global actions menu by clicking  Global Actions menu icon in the Salesforce header.</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lvl="0" indent="-285750">
              <a:buSzPts val="1200"/>
              <a:buFont typeface="Arial" panose="020B0604020202020204" pitchFamily="34" charset="0"/>
              <a:buChar char="•"/>
            </a:pP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lvl="0" indent="-285750">
              <a:buSzPts val="1200"/>
              <a:buFont typeface="Arial" panose="020B0604020202020204" pitchFamily="34" charset="0"/>
              <a:buChar char="•"/>
            </a:pPr>
            <a:r>
              <a:rPr lang="en-US" sz="1800">
                <a:solidFill>
                  <a:srgbClr val="3C4043"/>
                </a:solidFill>
                <a:highlight>
                  <a:srgbClr val="FFFFFF"/>
                </a:highlight>
                <a:latin typeface="Roboto" panose="02000000000000000000"/>
                <a:ea typeface="Roboto" panose="02000000000000000000"/>
                <a:cs typeface="Calibri" panose="020F0502020204030204"/>
                <a:sym typeface="Muli"/>
              </a:rPr>
              <a:t>After you create an object-specific or global action, you must add it to a page layout or the global publisher layout before it will appear in the Salesforce app.</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lvl="0" indent="-285750">
              <a:buSzPts val="1200"/>
              <a:buFont typeface="Arial" panose="020B0604020202020204" pitchFamily="34" charset="0"/>
              <a:buChar char="•"/>
            </a:pP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indent="-285750">
              <a:buSzPts val="1200"/>
              <a:buFont typeface="Arial" panose="020B0604020202020204" pitchFamily="34" charset="0"/>
              <a:buChar char="•"/>
            </a:pPr>
            <a:r>
              <a:rPr lang="en-US" sz="1800">
                <a:solidFill>
                  <a:srgbClr val="3C4043"/>
                </a:solidFill>
                <a:highlight>
                  <a:srgbClr val="FFFFFF"/>
                </a:highlight>
                <a:latin typeface="Roboto" panose="02000000000000000000"/>
                <a:ea typeface="Roboto" panose="02000000000000000000"/>
                <a:cs typeface="Calibri" panose="020F0502020204030204"/>
                <a:sym typeface="Muli"/>
              </a:rPr>
              <a:t>You can add global quick actions to almost any page that supports actions. </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285750" lvl="0" indent="-285750">
              <a:buSzPts val="1200"/>
              <a:buFont typeface="Arial" panose="020B0604020202020204" pitchFamily="34" charset="0"/>
              <a:buChar char="•"/>
            </a:pPr>
            <a:endParaRPr lang="en-US" sz="1800" b="1">
              <a:solidFill>
                <a:srgbClr val="3C4043"/>
              </a:solidFill>
              <a:highlight>
                <a:srgbClr val="FFFFFF"/>
              </a:highlight>
              <a:latin typeface="Roboto" panose="02000000000000000000"/>
              <a:ea typeface="Roboto" panose="02000000000000000000"/>
              <a:cs typeface="Calibri" panose="020F0502020204030204"/>
              <a:sym typeface="Muli"/>
            </a:endParaRPr>
          </a:p>
          <a:p>
            <a:pPr marL="285750" lvl="0" indent="-285750">
              <a:buSzPts val="1200"/>
              <a:buFont typeface="Arial" panose="020B0604020202020204" pitchFamily="34" charset="0"/>
              <a:buChar char="•"/>
            </a:pPr>
            <a:r>
              <a:rPr lang="en-US" sz="1800" b="1">
                <a:solidFill>
                  <a:srgbClr val="3C4043"/>
                </a:solidFill>
                <a:highlight>
                  <a:srgbClr val="FFFFFF"/>
                </a:highlight>
                <a:latin typeface="Roboto" panose="02000000000000000000"/>
                <a:ea typeface="Roboto" panose="02000000000000000000"/>
                <a:cs typeface="Calibri" panose="020F0502020204030204"/>
                <a:sym typeface="Muli"/>
              </a:rPr>
              <a:t>In order to create Global Action, Go to Setup-&gt; Global Actions</a:t>
            </a:r>
            <a:endParaRPr lang="en-US" sz="1800" b="1">
              <a:solidFill>
                <a:srgbClr val="3C4043"/>
              </a:solidFill>
              <a:highlight>
                <a:srgbClr val="FFFFFF"/>
              </a:highlight>
              <a:latin typeface="Roboto" panose="02000000000000000000"/>
              <a:ea typeface="Roboto" panose="02000000000000000000"/>
              <a:cs typeface="Calibri" panose="020F0502020204030204"/>
              <a:sym typeface="Muli"/>
            </a:endParaRPr>
          </a:p>
          <a:p>
            <a:pPr marL="177800" fontAlgn="base">
              <a:lnSpc>
                <a:spcPct val="150000"/>
              </a:lnSpc>
              <a:buClr>
                <a:srgbClr val="3F3F3F"/>
              </a:buClr>
              <a:buSzPts val="2800"/>
            </a:pPr>
            <a:endParaRPr lang="en-US" sz="1800">
              <a:solidFill>
                <a:srgbClr val="3C4043"/>
              </a:solidFill>
              <a:highlight>
                <a:srgbClr val="FFFFFF"/>
              </a:highlight>
              <a:latin typeface="Roboto" panose="02000000000000000000"/>
              <a:ea typeface="Roboto" panose="02000000000000000000"/>
              <a:cs typeface="Calibri" panose="020F0502020204030204"/>
              <a:sym typeface="Calibri" panose="020F0502020204030204"/>
            </a:endParaRPr>
          </a:p>
          <a:p>
            <a:pPr marL="463550" indent="-285750">
              <a:lnSpc>
                <a:spcPct val="150000"/>
              </a:lnSpc>
              <a:buClr>
                <a:srgbClr val="3F3F3F"/>
              </a:buClr>
              <a:buSzPts val="2800"/>
              <a:buFont typeface="Arial" panose="020B0604020202020204"/>
              <a:buChar char="•"/>
            </a:pPr>
            <a:endParaRPr lang="en-IN" sz="1800">
              <a:solidFill>
                <a:srgbClr val="3C4043"/>
              </a:solidFill>
              <a:highlight>
                <a:srgbClr val="FFFFFF"/>
              </a:highlight>
              <a:latin typeface="Roboto" panose="02000000000000000000"/>
              <a:ea typeface="Roboto" panose="02000000000000000000"/>
              <a:cs typeface="Calibri" panose="020F0502020204030204"/>
              <a:sym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268326"/>
            <a:ext cx="11444100" cy="627300"/>
          </a:xfrm>
          <a:prstGeom prst="rect">
            <a:avLst/>
          </a:prstGeom>
          <a:noFill/>
          <a:ln>
            <a:noFill/>
          </a:ln>
        </p:spPr>
        <p:txBody>
          <a:bodyPr spcFirstLastPara="1" wrap="square" lIns="91425" tIns="45700" rIns="91425" bIns="45700" anchor="t" anchorCtr="0">
            <a:noAutofit/>
          </a:bodyPr>
          <a:lstStyle/>
          <a:p>
            <a:pPr marL="0" lvl="0" indent="0">
              <a:spcBef>
                <a:spcPts val="0"/>
              </a:spcBef>
            </a:pPr>
            <a:r>
              <a:rPr lang="en-IN">
                <a:sym typeface="Nixie One"/>
              </a:rPr>
              <a:t>Global Action</a:t>
            </a:r>
            <a:endParaRPr lang="en-IN">
              <a:sym typeface="Arial" panose="020B0604020202020204"/>
            </a:endParaRPr>
          </a:p>
          <a:p>
            <a:pPr marL="0" indent="0">
              <a:spcBef>
                <a:spcPts val="0"/>
              </a:spcBef>
            </a:pPr>
            <a:endParaRPr lang="en-IN">
              <a:sym typeface="Arial" panose="020B0604020202020204"/>
            </a:endParaRPr>
          </a:p>
          <a:p>
            <a:pPr marL="0" lvl="0" indent="0" algn="ctr" rtl="0">
              <a:lnSpc>
                <a:spcPct val="90000"/>
              </a:lnSpc>
              <a:spcBef>
                <a:spcPts val="0"/>
              </a:spcBef>
              <a:spcAft>
                <a:spcPts val="0"/>
              </a:spcAft>
              <a:buClr>
                <a:schemeClr val="accent2"/>
              </a:buClr>
              <a:buSzPts val="4000"/>
              <a:buNone/>
            </a:pP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28600" lvl="0" indent="-50800">
              <a:lnSpc>
                <a:spcPct val="150000"/>
              </a:lnSpc>
              <a:spcBef>
                <a:spcPts val="0"/>
              </a:spcBef>
              <a:buNone/>
            </a:pPr>
            <a:endParaRPr lang="en-US" sz="1800">
              <a:solidFill>
                <a:srgbClr val="3C4043"/>
              </a:solidFill>
              <a:highlight>
                <a:srgbClr val="FFFFFF"/>
              </a:highlight>
              <a:latin typeface="Roboto" panose="02000000000000000000"/>
              <a:ea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sp>
        <p:nvSpPr>
          <p:cNvPr id="2" name="TextBox 1"/>
          <p:cNvSpPr txBox="1"/>
          <p:nvPr/>
        </p:nvSpPr>
        <p:spPr>
          <a:xfrm>
            <a:off x="500579" y="1050845"/>
            <a:ext cx="10902844" cy="1431161"/>
          </a:xfrm>
          <a:prstGeom prst="rect">
            <a:avLst/>
          </a:prstGeom>
          <a:noFill/>
        </p:spPr>
        <p:txBody>
          <a:bodyPr wrap="square" rtlCol="0">
            <a:spAutoFit/>
          </a:bodyPr>
          <a:lstStyle/>
          <a:p>
            <a:pPr marL="285750" indent="-285750" fontAlgn="base">
              <a:buSzPts val="1200"/>
              <a:buFont typeface="Arial" panose="020B0604020202020204" pitchFamily="34" charset="0"/>
              <a:buChar char="•"/>
            </a:pPr>
            <a:r>
              <a:rPr lang="en-US" sz="1800">
                <a:solidFill>
                  <a:srgbClr val="3C4043"/>
                </a:solidFill>
                <a:highlight>
                  <a:srgbClr val="FFFFFF"/>
                </a:highlight>
                <a:latin typeface="Roboto" panose="02000000000000000000"/>
                <a:ea typeface="Roboto" panose="02000000000000000000"/>
                <a:cs typeface="Calibri" panose="020F0502020204030204"/>
                <a:sym typeface="Muli"/>
              </a:rPr>
              <a:t>For example, add a Log a Call action to global layouts to let users record call details right from a Chatter thread.</a:t>
            </a:r>
            <a:endParaRPr lang="en-US" sz="1800">
              <a:solidFill>
                <a:srgbClr val="3C4043"/>
              </a:solidFill>
              <a:highlight>
                <a:srgbClr val="FFFFFF"/>
              </a:highlight>
              <a:latin typeface="Roboto" panose="02000000000000000000"/>
              <a:ea typeface="Roboto" panose="02000000000000000000"/>
              <a:cs typeface="Calibri" panose="020F0502020204030204"/>
              <a:sym typeface="Muli"/>
            </a:endParaRPr>
          </a:p>
          <a:p>
            <a:pPr marL="177800" fontAlgn="base">
              <a:lnSpc>
                <a:spcPct val="150000"/>
              </a:lnSpc>
              <a:buClr>
                <a:srgbClr val="3F3F3F"/>
              </a:buClr>
              <a:buSzPts val="2800"/>
            </a:pPr>
            <a:endParaRPr lang="en-US" sz="1800">
              <a:solidFill>
                <a:srgbClr val="3C4043"/>
              </a:solidFill>
              <a:highlight>
                <a:srgbClr val="FFFFFF"/>
              </a:highlight>
              <a:latin typeface="Roboto" panose="02000000000000000000"/>
              <a:ea typeface="Roboto" panose="02000000000000000000"/>
              <a:cs typeface="Calibri" panose="020F0502020204030204"/>
              <a:sym typeface="Calibri" panose="020F0502020204030204"/>
            </a:endParaRPr>
          </a:p>
          <a:p>
            <a:pPr marL="463550" indent="-285750">
              <a:lnSpc>
                <a:spcPct val="150000"/>
              </a:lnSpc>
              <a:buClr>
                <a:srgbClr val="3F3F3F"/>
              </a:buClr>
              <a:buSzPts val="2800"/>
              <a:buFont typeface="Arial" panose="020B0604020202020204"/>
              <a:buChar char="•"/>
            </a:pPr>
            <a:endParaRPr lang="en-IN" sz="1800">
              <a:solidFill>
                <a:srgbClr val="3C4043"/>
              </a:solidFill>
              <a:highlight>
                <a:srgbClr val="FFFFFF"/>
              </a:highlight>
              <a:latin typeface="Roboto" panose="02000000000000000000"/>
              <a:ea typeface="Roboto" panose="02000000000000000000"/>
              <a:cs typeface="Calibri" panose="020F0502020204030204"/>
              <a:sym typeface="Calibri" panose="020F0502020204030204"/>
            </a:endParaRPr>
          </a:p>
        </p:txBody>
      </p:sp>
      <p:pic>
        <p:nvPicPr>
          <p:cNvPr id="5" name="Picture 4"/>
          <p:cNvPicPr>
            <a:picLocks noChangeAspect="1"/>
          </p:cNvPicPr>
          <p:nvPr/>
        </p:nvPicPr>
        <p:blipFill>
          <a:blip r:embed="rId1"/>
          <a:stretch>
            <a:fillRect/>
          </a:stretch>
        </p:blipFill>
        <p:spPr>
          <a:xfrm>
            <a:off x="788576" y="2197489"/>
            <a:ext cx="5306959" cy="3923374"/>
          </a:xfrm>
          <a:prstGeom prst="rect">
            <a:avLst/>
          </a:prstGeom>
        </p:spPr>
      </p:pic>
      <p:pic>
        <p:nvPicPr>
          <p:cNvPr id="6" name="Picture 5"/>
          <p:cNvPicPr>
            <a:picLocks noChangeAspect="1"/>
          </p:cNvPicPr>
          <p:nvPr/>
        </p:nvPicPr>
        <p:blipFill>
          <a:blip r:embed="rId2"/>
          <a:stretch>
            <a:fillRect/>
          </a:stretch>
        </p:blipFill>
        <p:spPr>
          <a:xfrm>
            <a:off x="6454808" y="2294185"/>
            <a:ext cx="4948615" cy="340322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a:t>Email Templates</a:t>
            </a:r>
            <a:endParaRPr lang="en-IN"/>
          </a:p>
        </p:txBody>
      </p:sp>
      <p:sp>
        <p:nvSpPr>
          <p:cNvPr id="3" name="Text Placeholder 2"/>
          <p:cNvSpPr>
            <a:spLocks noGrp="1"/>
          </p:cNvSpPr>
          <p:nvPr>
            <p:ph type="body" idx="2"/>
          </p:nvPr>
        </p:nvSpPr>
        <p:spPr/>
        <p:txBody>
          <a:bodyPr/>
          <a:lstStyle/>
          <a:p>
            <a:pPr>
              <a:lnSpc>
                <a:spcPct val="150000"/>
              </a:lnSpc>
              <a:spcBef>
                <a:spcPts val="0"/>
              </a:spcBef>
            </a:pPr>
            <a:r>
              <a:rPr lang="en-US" sz="2000">
                <a:highlight>
                  <a:srgbClr val="FFFFFF"/>
                </a:highlight>
                <a:latin typeface="Roboto" panose="02000000000000000000"/>
                <a:cs typeface="Segoe UI" panose="020B0502040204020203"/>
              </a:rPr>
              <a:t>Email templates with merge fields let us quickly send emails with predefined email content that include field data from Salesforce records like contacts, leads, or opportunities. </a:t>
            </a:r>
            <a:endParaRPr lang="en-US" sz="2000">
              <a:latin typeface="Roboto" panose="02000000000000000000"/>
              <a:cs typeface="Segoe UI" panose="020B0502040204020203"/>
            </a:endParaRPr>
          </a:p>
          <a:p>
            <a:pPr>
              <a:lnSpc>
                <a:spcPct val="150000"/>
              </a:lnSpc>
              <a:spcBef>
                <a:spcPts val="0"/>
              </a:spcBef>
            </a:pPr>
            <a:r>
              <a:rPr lang="en-US" sz="2000">
                <a:highlight>
                  <a:srgbClr val="FFFFFF"/>
                </a:highlight>
                <a:latin typeface="Roboto" panose="02000000000000000000"/>
                <a:cs typeface="Segoe UI" panose="020B0502040204020203"/>
              </a:rPr>
              <a:t>We can use email templates when emailing groups of people—with list email or mass email—or just one person. We use email templates to increase productivity and ensure consistent messaging.</a:t>
            </a:r>
            <a:endParaRPr lang="en-US" sz="2000">
              <a:latin typeface="Roboto" panose="02000000000000000000"/>
              <a:cs typeface="Segoe UI" panose="020B0502040204020203"/>
            </a:endParaRPr>
          </a:p>
          <a:p>
            <a:pPr>
              <a:lnSpc>
                <a:spcPct val="150000"/>
              </a:lnSpc>
              <a:spcBef>
                <a:spcPts val="0"/>
              </a:spcBef>
            </a:pPr>
            <a:endParaRPr lang="en-US" sz="2000">
              <a:latin typeface="Roboto" panose="02000000000000000000"/>
              <a:cs typeface="Segoe UI" panose="020B0502040204020203"/>
            </a:endParaRPr>
          </a:p>
          <a:p>
            <a:pPr>
              <a:lnSpc>
                <a:spcPct val="150000"/>
              </a:lnSpc>
              <a:spcBef>
                <a:spcPts val="0"/>
              </a:spcBef>
            </a:pPr>
            <a:r>
              <a:rPr lang="en-US" sz="2000">
                <a:highlight>
                  <a:srgbClr val="FFFFFF"/>
                </a:highlight>
                <a:latin typeface="Roboto" panose="02000000000000000000"/>
                <a:cs typeface="Segoe UI" panose="020B0502040204020203"/>
              </a:rPr>
              <a:t>Types of Email Templates:</a:t>
            </a:r>
            <a:endParaRPr lang="en-US" sz="2000">
              <a:latin typeface="Roboto" panose="02000000000000000000"/>
              <a:cs typeface="Segoe UI" panose="020B0502040204020203"/>
            </a:endParaRPr>
          </a:p>
          <a:p>
            <a:pPr marL="508000" indent="-457200">
              <a:lnSpc>
                <a:spcPct val="150000"/>
              </a:lnSpc>
              <a:spcBef>
                <a:spcPts val="0"/>
              </a:spcBef>
              <a:buAutoNum type="arabicParenR"/>
            </a:pPr>
            <a:r>
              <a:rPr lang="en-US" sz="2000">
                <a:highlight>
                  <a:srgbClr val="FFFFFF"/>
                </a:highlight>
                <a:latin typeface="Roboto" panose="02000000000000000000"/>
                <a:cs typeface="Segoe UI" panose="020B0502040204020203"/>
              </a:rPr>
              <a:t>Lightning Email Templates</a:t>
            </a:r>
            <a:endParaRPr lang="en-US" sz="2000">
              <a:highlight>
                <a:srgbClr val="FFFFFF"/>
              </a:highlight>
              <a:latin typeface="Roboto" panose="02000000000000000000"/>
              <a:cs typeface="Segoe UI" panose="020B0502040204020203"/>
            </a:endParaRPr>
          </a:p>
          <a:p>
            <a:pPr marL="508000" indent="-457200">
              <a:lnSpc>
                <a:spcPct val="150000"/>
              </a:lnSpc>
              <a:spcBef>
                <a:spcPts val="0"/>
              </a:spcBef>
              <a:buAutoNum type="arabicParenR"/>
            </a:pPr>
            <a:r>
              <a:rPr lang="en-US" sz="2000">
                <a:highlight>
                  <a:srgbClr val="FFFFFF"/>
                </a:highlight>
                <a:latin typeface="Roboto" panose="02000000000000000000"/>
                <a:cs typeface="Segoe UI" panose="020B0502040204020203"/>
              </a:rPr>
              <a:t>Classic Email Templates</a:t>
            </a:r>
            <a:endParaRPr lang="en-US" sz="2000">
              <a:highlight>
                <a:srgbClr val="FFFFFF"/>
              </a:highlight>
              <a:latin typeface="Roboto" panose="02000000000000000000"/>
              <a:cs typeface="Segoe UI" panose="020B0502040204020203"/>
            </a:endParaRPr>
          </a:p>
          <a:p>
            <a:pPr marL="508000" lvl="1" indent="0">
              <a:lnSpc>
                <a:spcPct val="150000"/>
              </a:lnSpc>
              <a:spcBef>
                <a:spcPts val="0"/>
              </a:spcBef>
              <a:buNone/>
            </a:pPr>
            <a:endParaRPr lang="en-US" sz="1600">
              <a:highlight>
                <a:srgbClr val="FFFFFF"/>
              </a:highlight>
              <a:latin typeface="Segoe UI" panose="020B0502040204020203"/>
              <a:cs typeface="Segoe UI" panose="020B0502040204020203"/>
            </a:endParaRPr>
          </a:p>
          <a:p>
            <a:pPr marL="0" indent="0">
              <a:lnSpc>
                <a:spcPct val="150000"/>
              </a:lnSpc>
              <a:spcBef>
                <a:spcPts val="0"/>
              </a:spcBef>
              <a:buNone/>
            </a:pPr>
            <a:endParaRPr lang="en-US" sz="2000">
              <a:highlight>
                <a:srgbClr val="FFFFFF"/>
              </a:highlight>
              <a:latin typeface="Arial" panose="020B0604020202020204"/>
              <a:cs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a:t>Email Templates</a:t>
            </a:r>
            <a:endParaRPr lang="en-IN"/>
          </a:p>
        </p:txBody>
      </p:sp>
      <p:sp>
        <p:nvSpPr>
          <p:cNvPr id="3" name="Text Placeholder 2"/>
          <p:cNvSpPr>
            <a:spLocks noGrp="1"/>
          </p:cNvSpPr>
          <p:nvPr>
            <p:ph type="body" idx="2"/>
          </p:nvPr>
        </p:nvSpPr>
        <p:spPr>
          <a:xfrm>
            <a:off x="373969" y="1268483"/>
            <a:ext cx="11522754" cy="4950979"/>
          </a:xfrm>
        </p:spPr>
        <p:txBody>
          <a:bodyPr/>
          <a:lstStyle/>
          <a:p>
            <a:pPr>
              <a:lnSpc>
                <a:spcPct val="150000"/>
              </a:lnSpc>
              <a:spcBef>
                <a:spcPts val="0"/>
              </a:spcBef>
            </a:pPr>
            <a:r>
              <a:rPr lang="en-US" sz="2000">
                <a:solidFill>
                  <a:srgbClr val="3C4043"/>
                </a:solidFill>
                <a:highlight>
                  <a:srgbClr val="FFFFFF"/>
                </a:highlight>
                <a:latin typeface="Segoe UI" panose="020B0502040204020203"/>
                <a:cs typeface="Segoe UI" panose="020B0502040204020203"/>
              </a:rPr>
              <a:t>Types of Classic email templates:</a:t>
            </a:r>
            <a:endParaRPr lang="en-US" sz="2000">
              <a:solidFill>
                <a:srgbClr val="3C4043"/>
              </a:solidFill>
              <a:highlight>
                <a:srgbClr val="FFFFFF"/>
              </a:highlight>
              <a:latin typeface="Segoe UI" panose="020B0502040204020203"/>
              <a:cs typeface="Segoe UI" panose="020B0502040204020203"/>
            </a:endParaRPr>
          </a:p>
          <a:p>
            <a:r>
              <a:rPr lang="en-US" sz="2000">
                <a:solidFill>
                  <a:srgbClr val="202124"/>
                </a:solidFill>
                <a:highlight>
                  <a:srgbClr val="FFFFFF"/>
                </a:highlight>
                <a:latin typeface="Arial" panose="020B0604020202020204"/>
                <a:cs typeface="Arial" panose="020B0604020202020204"/>
              </a:rPr>
              <a:t>Text.</a:t>
            </a:r>
            <a:endParaRPr lang="en-US" sz="2000">
              <a:solidFill>
                <a:srgbClr val="202124"/>
              </a:solidFill>
              <a:highlight>
                <a:srgbClr val="FFFFFF"/>
              </a:highlight>
              <a:latin typeface="Arial" panose="020B0604020202020204"/>
              <a:cs typeface="Arial" panose="020B0604020202020204"/>
            </a:endParaRPr>
          </a:p>
          <a:p>
            <a:r>
              <a:rPr lang="en-US" sz="2000">
                <a:solidFill>
                  <a:srgbClr val="202124"/>
                </a:solidFill>
                <a:highlight>
                  <a:srgbClr val="FFFFFF"/>
                </a:highlight>
                <a:latin typeface="Arial" panose="020B0604020202020204"/>
                <a:cs typeface="Arial" panose="020B0604020202020204"/>
              </a:rPr>
              <a:t>HTML (using Classic Letterhead)</a:t>
            </a:r>
            <a:endParaRPr lang="en-US" sz="2000">
              <a:solidFill>
                <a:srgbClr val="202124"/>
              </a:solidFill>
              <a:highlight>
                <a:srgbClr val="FFFFFF"/>
              </a:highlight>
              <a:latin typeface="Arial" panose="020B0604020202020204"/>
              <a:cs typeface="Arial" panose="020B0604020202020204"/>
            </a:endParaRPr>
          </a:p>
          <a:p>
            <a:r>
              <a:rPr lang="en-US" sz="2000">
                <a:solidFill>
                  <a:srgbClr val="202124"/>
                </a:solidFill>
                <a:highlight>
                  <a:srgbClr val="FFFFFF"/>
                </a:highlight>
                <a:latin typeface="Arial" panose="020B0604020202020204"/>
                <a:cs typeface="Arial" panose="020B0604020202020204"/>
              </a:rPr>
              <a:t>Custom (without Classic Letterhead)</a:t>
            </a:r>
            <a:endParaRPr lang="en-US" sz="2000">
              <a:solidFill>
                <a:srgbClr val="202124"/>
              </a:solidFill>
              <a:highlight>
                <a:srgbClr val="FFFFFF"/>
              </a:highlight>
              <a:latin typeface="Arial" panose="020B0604020202020204"/>
              <a:cs typeface="Arial" panose="020B0604020202020204"/>
            </a:endParaRPr>
          </a:p>
          <a:p>
            <a:r>
              <a:rPr lang="en-US" sz="2000">
                <a:solidFill>
                  <a:srgbClr val="202124"/>
                </a:solidFill>
                <a:highlight>
                  <a:srgbClr val="FFFFFF"/>
                </a:highlight>
                <a:latin typeface="Arial" panose="020B0604020202020204"/>
                <a:cs typeface="Arial" panose="020B0604020202020204"/>
              </a:rPr>
              <a:t>Visualforce.</a:t>
            </a:r>
            <a:endParaRPr lang="en-US" sz="2000">
              <a:solidFill>
                <a:srgbClr val="202124"/>
              </a:solidFill>
              <a:highlight>
                <a:srgbClr val="FFFFFF"/>
              </a:highlight>
              <a:latin typeface="Arial" panose="020B0604020202020204"/>
              <a:cs typeface="Arial" panose="020B0604020202020204"/>
            </a:endParaRPr>
          </a:p>
          <a:p>
            <a:pPr>
              <a:lnSpc>
                <a:spcPct val="150000"/>
              </a:lnSpc>
              <a:spcBef>
                <a:spcPts val="0"/>
              </a:spcBef>
            </a:pPr>
            <a:endParaRPr lang="en-US" sz="800">
              <a:solidFill>
                <a:srgbClr val="3C4043"/>
              </a:solidFill>
              <a:highlight>
                <a:srgbClr val="FFFFFF"/>
              </a:highlight>
              <a:latin typeface="Segoe UI" panose="020B0502040204020203"/>
              <a:cs typeface="Segoe UI" panose="020B0502040204020203"/>
            </a:endParaRPr>
          </a:p>
          <a:p>
            <a:pPr>
              <a:lnSpc>
                <a:spcPct val="150000"/>
              </a:lnSpc>
              <a:spcBef>
                <a:spcPts val="0"/>
              </a:spcBef>
            </a:pPr>
            <a:r>
              <a:rPr lang="en-US" sz="2000">
                <a:solidFill>
                  <a:srgbClr val="3C4043"/>
                </a:solidFill>
                <a:highlight>
                  <a:srgbClr val="FFFFFF"/>
                </a:highlight>
                <a:latin typeface="Segoe UI" panose="020B0502040204020203"/>
                <a:cs typeface="Segoe UI" panose="020B0502040204020203"/>
              </a:rPr>
              <a:t>Preview feature in Classic: This feature allows you to have a preview of the HTML body as in how the email content will look like. Note: Option only available in HTML and Custom.</a:t>
            </a:r>
            <a:endParaRPr lang="en-US" sz="2000">
              <a:solidFill>
                <a:srgbClr val="3C4043"/>
              </a:solidFill>
              <a:highlight>
                <a:srgbClr val="FFFFFF"/>
              </a:highlight>
              <a:latin typeface="Segoe UI" panose="020B0502040204020203"/>
              <a:cs typeface="Segoe UI" panose="020B0502040204020203"/>
            </a:endParaRPr>
          </a:p>
          <a:p>
            <a:pPr>
              <a:lnSpc>
                <a:spcPct val="150000"/>
              </a:lnSpc>
              <a:spcBef>
                <a:spcPts val="0"/>
              </a:spcBef>
            </a:pPr>
            <a:endParaRPr lang="en-US" sz="800">
              <a:solidFill>
                <a:srgbClr val="080707"/>
              </a:solidFill>
              <a:highlight>
                <a:srgbClr val="FFFFFF"/>
              </a:highlight>
              <a:latin typeface="Segoe UI" panose="020B0502040204020203"/>
              <a:cs typeface="Segoe UI" panose="020B0502040204020203"/>
            </a:endParaRPr>
          </a:p>
          <a:p>
            <a:pPr>
              <a:lnSpc>
                <a:spcPct val="150000"/>
              </a:lnSpc>
              <a:spcBef>
                <a:spcPts val="0"/>
              </a:spcBef>
            </a:pPr>
            <a:r>
              <a:rPr lang="en-US" sz="2000">
                <a:solidFill>
                  <a:srgbClr val="080707"/>
                </a:solidFill>
                <a:highlight>
                  <a:srgbClr val="FFFFFF"/>
                </a:highlight>
                <a:latin typeface="Segoe UI" panose="020B0502040204020203"/>
                <a:cs typeface="Segoe UI" panose="020B0502040204020203"/>
              </a:rPr>
              <a:t>Enable Folders and Enhanced Sharing for Email Templates:</a:t>
            </a:r>
            <a:endParaRPr lang="en-US" sz="2000">
              <a:solidFill>
                <a:srgbClr val="080707"/>
              </a:solidFill>
              <a:highlight>
                <a:srgbClr val="FFFFFF"/>
              </a:highlight>
              <a:latin typeface="Segoe UI" panose="020B0502040204020203"/>
              <a:cs typeface="Segoe UI" panose="020B0502040204020203"/>
            </a:endParaRPr>
          </a:p>
          <a:p>
            <a:pPr marL="285750" indent="-285750"/>
            <a:r>
              <a:rPr lang="en-US" sz="1400">
                <a:solidFill>
                  <a:srgbClr val="080707"/>
                </a:solidFill>
                <a:highlight>
                  <a:srgbClr val="FFFFFF"/>
                </a:highlight>
                <a:latin typeface="Arial" panose="020B0604020202020204"/>
                <a:cs typeface="Arial" panose="020B0604020202020204"/>
              </a:rPr>
              <a:t>From Setup, enter Email Templates in the Quick Find box, then select </a:t>
            </a:r>
            <a:r>
              <a:rPr lang="en-US" sz="1400" b="1">
                <a:solidFill>
                  <a:srgbClr val="080707"/>
                </a:solidFill>
                <a:highlight>
                  <a:srgbClr val="FFFFFF"/>
                </a:highlight>
                <a:latin typeface="Arial" panose="020B0604020202020204"/>
                <a:cs typeface="Arial" panose="020B0604020202020204"/>
              </a:rPr>
              <a:t>Lightning Email Templates</a:t>
            </a:r>
            <a:r>
              <a:rPr lang="en-US" sz="1400">
                <a:solidFill>
                  <a:srgbClr val="080707"/>
                </a:solidFill>
                <a:highlight>
                  <a:srgbClr val="FFFFFF"/>
                </a:highlight>
                <a:latin typeface="Arial" panose="020B0604020202020204"/>
                <a:cs typeface="Arial" panose="020B0604020202020204"/>
              </a:rPr>
              <a:t>.</a:t>
            </a:r>
            <a:endParaRPr lang="en-US" sz="1400">
              <a:solidFill>
                <a:srgbClr val="080707"/>
              </a:solidFill>
              <a:highlight>
                <a:srgbClr val="FFFFFF"/>
              </a:highlight>
              <a:latin typeface="Arial" panose="020B0604020202020204"/>
              <a:cs typeface="Arial" panose="020B0604020202020204"/>
            </a:endParaRPr>
          </a:p>
          <a:p>
            <a:pPr marL="285750" indent="-285750"/>
            <a:r>
              <a:rPr lang="en-US" sz="1400">
                <a:solidFill>
                  <a:srgbClr val="080707"/>
                </a:solidFill>
                <a:highlight>
                  <a:srgbClr val="FFFFFF"/>
                </a:highlight>
                <a:latin typeface="Arial" panose="020B0604020202020204"/>
                <a:cs typeface="Arial" panose="020B0604020202020204"/>
              </a:rPr>
              <a:t>Enable Folders and Enhanced Sharing.</a:t>
            </a:r>
            <a:endParaRPr lang="en-US" sz="1400">
              <a:solidFill>
                <a:srgbClr val="080707"/>
              </a:solidFill>
              <a:highlight>
                <a:srgbClr val="FFFFFF"/>
              </a:highlight>
              <a:latin typeface="Arial" panose="020B0604020202020204"/>
              <a:cs typeface="Arial" panose="020B0604020202020204"/>
            </a:endParaRPr>
          </a:p>
          <a:p>
            <a:r>
              <a:rPr lang="en-US" sz="1300">
                <a:highlight>
                  <a:srgbClr val="FFFFFF"/>
                </a:highlight>
                <a:latin typeface="Segoe UI" panose="020B0502040204020203"/>
                <a:cs typeface="Segoe UI" panose="020B0502040204020203"/>
              </a:rPr>
              <a:t>NOTE: If we disable </a:t>
            </a:r>
            <a:r>
              <a:rPr lang="en-US" sz="1300" b="1">
                <a:highlight>
                  <a:srgbClr val="FFFFFF"/>
                </a:highlight>
                <a:latin typeface="Segoe UI" panose="020B0502040204020203"/>
                <a:cs typeface="Segoe UI" panose="020B0502040204020203"/>
              </a:rPr>
              <a:t>Folders and Enhanced Sharing for Lightning Email Templates</a:t>
            </a:r>
            <a:r>
              <a:rPr lang="en-US" sz="1300">
                <a:highlight>
                  <a:srgbClr val="FFFFFF"/>
                </a:highlight>
                <a:latin typeface="Segoe UI" panose="020B0502040204020203"/>
                <a:cs typeface="Segoe UI" panose="020B0502040204020203"/>
              </a:rPr>
              <a:t>, our reps lose access to the email template folders they created and the email templates inside those folders. To give our reps access again, enable </a:t>
            </a:r>
            <a:r>
              <a:rPr lang="en-US" sz="1300" b="1">
                <a:highlight>
                  <a:srgbClr val="FFFFFF"/>
                </a:highlight>
                <a:latin typeface="Segoe UI" panose="020B0502040204020203"/>
                <a:cs typeface="Segoe UI" panose="020B0502040204020203"/>
              </a:rPr>
              <a:t>Folders and Enhanced Sharing for Lightning Email Templates</a:t>
            </a:r>
            <a:r>
              <a:rPr lang="en-US" sz="1300">
                <a:highlight>
                  <a:srgbClr val="FFFFFF"/>
                </a:highlight>
                <a:latin typeface="Segoe UI" panose="020B0502040204020203"/>
                <a:cs typeface="Segoe UI" panose="020B0502040204020203"/>
              </a:rPr>
              <a:t>.</a:t>
            </a:r>
            <a:endParaRPr lang="en-US" sz="1300">
              <a:highlight>
                <a:srgbClr val="FFFFFF"/>
              </a:highlight>
              <a:latin typeface="Segoe UI" panose="020B0502040204020203"/>
              <a:cs typeface="Segoe UI" panose="020B0502040204020203"/>
            </a:endParaRPr>
          </a:p>
          <a:p>
            <a:pPr>
              <a:lnSpc>
                <a:spcPct val="150000"/>
              </a:lnSpc>
              <a:spcBef>
                <a:spcPts val="0"/>
              </a:spcBef>
            </a:pPr>
            <a:endParaRPr lang="en-US" sz="2000">
              <a:highlight>
                <a:srgbClr val="FFFFFF"/>
              </a:highlight>
              <a:latin typeface="Roboto" panose="02000000000000000000"/>
              <a:cs typeface="Segoe UI" panose="020B0502040204020203"/>
            </a:endParaRPr>
          </a:p>
          <a:p>
            <a:pPr marL="508000" lvl="1" indent="0">
              <a:lnSpc>
                <a:spcPct val="150000"/>
              </a:lnSpc>
              <a:spcBef>
                <a:spcPts val="0"/>
              </a:spcBef>
              <a:buNone/>
            </a:pPr>
            <a:endParaRPr lang="en-US" sz="1600">
              <a:highlight>
                <a:srgbClr val="FFFFFF"/>
              </a:highlight>
              <a:latin typeface="Segoe UI" panose="020B0502040204020203"/>
              <a:cs typeface="Segoe UI" panose="020B0502040204020203"/>
            </a:endParaRPr>
          </a:p>
          <a:p>
            <a:pPr marL="0" indent="0">
              <a:lnSpc>
                <a:spcPct val="150000"/>
              </a:lnSpc>
              <a:spcBef>
                <a:spcPts val="0"/>
              </a:spcBef>
              <a:buNone/>
            </a:pPr>
            <a:endParaRPr lang="en-US" sz="2000">
              <a:highlight>
                <a:srgbClr val="FFFFFF"/>
              </a:highlight>
              <a:latin typeface="Arial" panose="020B0604020202020204"/>
              <a:cs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indent="0">
              <a:spcBef>
                <a:spcPts val="0"/>
              </a:spcBef>
            </a:pPr>
            <a:r>
              <a:rPr lang="en-IN">
                <a:sym typeface="Nixie One"/>
              </a:rPr>
              <a:t>Assignment Rules</a:t>
            </a:r>
            <a:endParaRPr lang="en-IN">
              <a:sym typeface="Arial" panose="020B0604020202020204"/>
            </a:endParaRPr>
          </a:p>
          <a:p>
            <a:pPr marL="0" lvl="0" indent="0" algn="ctr" rtl="0">
              <a:lnSpc>
                <a:spcPct val="90000"/>
              </a:lnSpc>
              <a:spcBef>
                <a:spcPts val="0"/>
              </a:spcBef>
              <a:spcAft>
                <a:spcPts val="0"/>
              </a:spcAft>
              <a:buClr>
                <a:schemeClr val="accent2"/>
              </a:buClr>
              <a:buSzPts val="4000"/>
              <a:buNone/>
            </a:pP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Clr>
                <a:srgbClr val="000000"/>
              </a:buClr>
              <a:buSzPts val="1200"/>
              <a:buFont typeface="Arial" panose="020B0604020202020204" pitchFamily="34" charset="0"/>
              <a:buChar char="•"/>
            </a:pPr>
            <a:r>
              <a:rPr lang="en-US" sz="1800">
                <a:solidFill>
                  <a:srgbClr val="3C4043"/>
                </a:solidFill>
                <a:highlight>
                  <a:srgbClr val="FFFFFF"/>
                </a:highlight>
                <a:latin typeface="Roboto" panose="02000000000000000000"/>
                <a:ea typeface="Roboto" panose="02000000000000000000"/>
                <a:sym typeface="Arial" panose="020B0604020202020204"/>
              </a:rPr>
              <a:t>An assignment rule in Salesforce is used to define to whom case or lead is assigned based on the specified criteria. Most of the organizations have one particular rule for the overall purpose. </a:t>
            </a:r>
            <a:endParaRPr lang="en-US" sz="1800">
              <a:solidFill>
                <a:srgbClr val="3C4043"/>
              </a:solidFill>
              <a:highlight>
                <a:srgbClr val="FFFFFF"/>
              </a:highlight>
              <a:latin typeface="Roboto" panose="02000000000000000000"/>
              <a:ea typeface="Roboto" panose="02000000000000000000"/>
              <a:sym typeface="Arial" panose="020B0604020202020204"/>
            </a:endParaRPr>
          </a:p>
          <a:p>
            <a:pPr marL="285750" indent="-285750">
              <a:lnSpc>
                <a:spcPct val="100000"/>
              </a:lnSpc>
              <a:spcBef>
                <a:spcPts val="0"/>
              </a:spcBef>
              <a:buClr>
                <a:srgbClr val="000000"/>
              </a:buClr>
              <a:buSzPts val="1200"/>
              <a:buFont typeface="Arial" panose="020B0604020202020204" pitchFamily="34" charset="0"/>
              <a:buChar char="•"/>
            </a:pP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buFont typeface="Arial" panose="020B0604020202020204" pitchFamily="34" charset="0"/>
              <a:buChar char="•"/>
            </a:pPr>
            <a:r>
              <a:rPr lang="en-US" sz="1800" b="1">
                <a:solidFill>
                  <a:srgbClr val="3C4043"/>
                </a:solidFill>
                <a:highlight>
                  <a:srgbClr val="FFFFFF"/>
                </a:highlight>
                <a:latin typeface="Roboto" panose="02000000000000000000"/>
                <a:ea typeface="Roboto" panose="02000000000000000000"/>
                <a:sym typeface="Muli"/>
              </a:rPr>
              <a:t>Lead Assignment Rule: </a:t>
            </a:r>
            <a:endParaRPr lang="en-US" sz="1800" b="1">
              <a:solidFill>
                <a:srgbClr val="3C4043"/>
              </a:solidFill>
              <a:highlight>
                <a:srgbClr val="FFFFFF"/>
              </a:highlight>
              <a:latin typeface="Roboto" panose="02000000000000000000"/>
              <a:ea typeface="Roboto" panose="02000000000000000000"/>
              <a:sym typeface="Muli"/>
            </a:endParaRPr>
          </a:p>
          <a:p>
            <a:pPr marL="0" indent="0">
              <a:lnSpc>
                <a:spcPct val="100000"/>
              </a:lnSpc>
              <a:spcBef>
                <a:spcPts val="0"/>
              </a:spcBef>
              <a:buClr>
                <a:srgbClr val="000000"/>
              </a:buClr>
              <a:buSzPts val="1200"/>
              <a:buNone/>
            </a:pPr>
            <a:r>
              <a:rPr lang="en-US" sz="1800">
                <a:solidFill>
                  <a:srgbClr val="3C4043"/>
                </a:solidFill>
                <a:highlight>
                  <a:srgbClr val="FFFFFF"/>
                </a:highlight>
                <a:latin typeface="Roboto" panose="02000000000000000000"/>
                <a:ea typeface="Roboto" panose="02000000000000000000"/>
                <a:sym typeface="Muli"/>
              </a:rPr>
              <a:t>	Automatically assign leads to users or queues based on criteria you define. You can create multiple 	rules with different conditions, but only one rule can be active at a time.</a:t>
            </a: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buFont typeface="Arial" panose="020B0604020202020204" pitchFamily="34" charset="0"/>
              <a:buChar char="•"/>
            </a:pP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buFont typeface="Arial" panose="020B0604020202020204" pitchFamily="34" charset="0"/>
              <a:buChar char="•"/>
            </a:pPr>
            <a:r>
              <a:rPr lang="en-US" sz="1800" b="1">
                <a:solidFill>
                  <a:srgbClr val="3C4043"/>
                </a:solidFill>
                <a:highlight>
                  <a:srgbClr val="FFFFFF"/>
                </a:highlight>
                <a:latin typeface="Roboto" panose="02000000000000000000"/>
                <a:ea typeface="Roboto" panose="02000000000000000000"/>
                <a:sym typeface="Muli"/>
              </a:rPr>
              <a:t>Case Assignment Rule:</a:t>
            </a:r>
            <a:endParaRPr lang="en-US" sz="1800" b="1">
              <a:solidFill>
                <a:srgbClr val="3C4043"/>
              </a:solidFill>
              <a:highlight>
                <a:srgbClr val="FFFFFF"/>
              </a:highlight>
              <a:latin typeface="Roboto" panose="02000000000000000000"/>
              <a:ea typeface="Roboto" panose="02000000000000000000"/>
              <a:sym typeface="Muli"/>
            </a:endParaRPr>
          </a:p>
          <a:p>
            <a:pPr marL="0" lvl="0" indent="0">
              <a:lnSpc>
                <a:spcPct val="100000"/>
              </a:lnSpc>
              <a:spcBef>
                <a:spcPts val="0"/>
              </a:spcBef>
              <a:buClr>
                <a:srgbClr val="000000"/>
              </a:buClr>
              <a:buSzPts val="1200"/>
              <a:buNone/>
            </a:pPr>
            <a:r>
              <a:rPr lang="en-US" sz="1800">
                <a:solidFill>
                  <a:srgbClr val="3C4043"/>
                </a:solidFill>
                <a:highlight>
                  <a:srgbClr val="FFFFFF"/>
                </a:highlight>
                <a:latin typeface="Roboto" panose="02000000000000000000"/>
                <a:ea typeface="Roboto" panose="02000000000000000000"/>
                <a:sym typeface="Muli"/>
              </a:rPr>
              <a:t>	Automatically assign cases to users or queues based on criteria you define. You can create multiple 	rules, but only one rule can be active at a time.</a:t>
            </a: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buFont typeface="Arial" panose="020B0604020202020204" pitchFamily="34" charset="0"/>
              <a:buChar char="•"/>
            </a:pPr>
            <a:endParaRPr lang="en-US" sz="1800">
              <a:solidFill>
                <a:srgbClr val="3C4043"/>
              </a:solidFill>
              <a:highlight>
                <a:srgbClr val="FFFFFF"/>
              </a:highlight>
              <a:latin typeface="Roboto" panose="02000000000000000000"/>
              <a:ea typeface="Roboto" panose="02000000000000000000"/>
              <a:sym typeface="Muli"/>
            </a:endParaRPr>
          </a:p>
          <a:p>
            <a:pPr marL="285750" indent="-285750">
              <a:lnSpc>
                <a:spcPct val="100000"/>
              </a:lnSpc>
              <a:spcBef>
                <a:spcPts val="0"/>
              </a:spcBef>
              <a:buClr>
                <a:srgbClr val="000000"/>
              </a:buClr>
              <a:buSzPts val="1200"/>
            </a:pPr>
            <a:r>
              <a:rPr lang="en-US" sz="1800">
                <a:solidFill>
                  <a:srgbClr val="3C4043"/>
                </a:solidFill>
                <a:highlight>
                  <a:srgbClr val="FFFFFF"/>
                </a:highlight>
                <a:latin typeface="Roboto" panose="02000000000000000000"/>
                <a:ea typeface="Roboto" panose="02000000000000000000"/>
                <a:sym typeface="Muli"/>
              </a:rPr>
              <a:t>If no match is found, the item is re-assigned to either the default Web-to-Lead owner, the administrator doing a lead import, or the default case owner.</a:t>
            </a: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buFont typeface="Arial" panose="020B0604020202020204" pitchFamily="34" charset="0"/>
              <a:buChar char="•"/>
            </a:pP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buFont typeface="Arial" panose="020B0604020202020204" pitchFamily="34" charset="0"/>
              <a:buChar char="•"/>
            </a:pPr>
            <a:r>
              <a:rPr lang="en-US" sz="1800">
                <a:solidFill>
                  <a:srgbClr val="3C4043"/>
                </a:solidFill>
                <a:highlight>
                  <a:srgbClr val="FFFFFF"/>
                </a:highlight>
                <a:latin typeface="Roboto" panose="02000000000000000000"/>
                <a:ea typeface="Roboto" panose="02000000000000000000"/>
                <a:sym typeface="Muli"/>
              </a:rPr>
              <a:t>When ‘Assign using Active Assignment Rule’ checkbox is checked then it will be assigned.</a:t>
            </a:r>
            <a:endParaRPr lang="en-US" sz="1800">
              <a:solidFill>
                <a:srgbClr val="3C4043"/>
              </a:solidFill>
              <a:highlight>
                <a:srgbClr val="FFFFFF"/>
              </a:highlight>
              <a:latin typeface="Roboto" panose="02000000000000000000"/>
              <a:ea typeface="Roboto" panose="02000000000000000000"/>
              <a:sym typeface="Muli"/>
            </a:endParaRPr>
          </a:p>
          <a:p>
            <a:pPr marL="228600" lvl="0" indent="-50800">
              <a:lnSpc>
                <a:spcPct val="150000"/>
              </a:lnSpc>
              <a:spcBef>
                <a:spcPts val="0"/>
              </a:spcBef>
              <a:buNone/>
            </a:pPr>
            <a:endParaRPr lang="en-US" sz="1800">
              <a:solidFill>
                <a:srgbClr val="3C4043"/>
              </a:solidFill>
              <a:highlight>
                <a:srgbClr val="FFFFFF"/>
              </a:highlight>
              <a:latin typeface="Roboto" panose="02000000000000000000"/>
              <a:ea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indent="0">
              <a:spcBef>
                <a:spcPts val="0"/>
              </a:spcBef>
            </a:pPr>
            <a:r>
              <a:rPr lang="en-IN">
                <a:sym typeface="Nixie One"/>
              </a:rPr>
              <a:t>Assignment Rules</a:t>
            </a:r>
            <a:endParaRPr lang="en-IN">
              <a:sym typeface="Arial" panose="020B0604020202020204"/>
            </a:endParaRPr>
          </a:p>
          <a:p>
            <a:pPr marL="0" lvl="0" indent="0" algn="ctr" rtl="0">
              <a:lnSpc>
                <a:spcPct val="90000"/>
              </a:lnSpc>
              <a:spcBef>
                <a:spcPts val="0"/>
              </a:spcBef>
              <a:spcAft>
                <a:spcPts val="0"/>
              </a:spcAft>
              <a:buClr>
                <a:schemeClr val="accent2"/>
              </a:buClr>
              <a:buSzPts val="4000"/>
              <a:buNone/>
            </a:pP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28600" lvl="0" indent="-50800">
              <a:lnSpc>
                <a:spcPct val="150000"/>
              </a:lnSpc>
              <a:spcBef>
                <a:spcPts val="0"/>
              </a:spcBef>
              <a:buNone/>
            </a:pPr>
            <a:endParaRPr lang="en-US" sz="1800">
              <a:solidFill>
                <a:srgbClr val="3C4043"/>
              </a:solidFill>
              <a:highlight>
                <a:srgbClr val="FFFFFF"/>
              </a:highlight>
              <a:latin typeface="Roboto" panose="02000000000000000000"/>
              <a:ea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pic>
        <p:nvPicPr>
          <p:cNvPr id="5" name="Picture 2" descr="Create and customize a Case Assignment Rule by entering the rule detail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8634" y="1285463"/>
            <a:ext cx="9509760" cy="4835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a:t>Demo</a:t>
            </a:r>
            <a:endParaRPr lang="en-IN"/>
          </a:p>
        </p:txBody>
      </p:sp>
      <p:sp>
        <p:nvSpPr>
          <p:cNvPr id="3" name="Text Placeholder 2"/>
          <p:cNvSpPr>
            <a:spLocks noGrp="1"/>
          </p:cNvSpPr>
          <p:nvPr>
            <p:ph type="body" idx="2"/>
          </p:nvPr>
        </p:nvSpPr>
        <p:spPr/>
        <p:txBody>
          <a:bodyPr/>
          <a:lstStyle/>
          <a:p>
            <a:r>
              <a:rPr lang="en-US"/>
              <a:t>Web-To-Lead</a:t>
            </a:r>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0"/>
          <p:cNvSpPr txBox="1">
            <a:spLocks noGrp="1"/>
          </p:cNvSpPr>
          <p:nvPr>
            <p:ph type="body" idx="1"/>
          </p:nvPr>
        </p:nvSpPr>
        <p:spPr>
          <a:xfrm>
            <a:off x="7824650" y="470489"/>
            <a:ext cx="4193179" cy="5799681"/>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lt1"/>
              </a:buClr>
              <a:buSzPts val="2800"/>
              <a:buNone/>
            </a:pPr>
          </a:p>
        </p:txBody>
      </p:sp>
      <p:sp>
        <p:nvSpPr>
          <p:cNvPr id="259" name="Google Shape;259;p30"/>
          <p:cNvSpPr txBox="1">
            <a:spLocks noGrp="1"/>
          </p:cNvSpPr>
          <p:nvPr>
            <p:ph type="body" idx="2"/>
          </p:nvPr>
        </p:nvSpPr>
        <p:spPr>
          <a:xfrm>
            <a:off x="377825" y="1052517"/>
            <a:ext cx="7067969" cy="5369385"/>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Clr>
                <a:srgbClr val="000000"/>
              </a:buClr>
              <a:buSzPts val="1200"/>
            </a:pPr>
            <a:r>
              <a:rPr lang="en-US" sz="1800">
                <a:solidFill>
                  <a:srgbClr val="3C4043"/>
                </a:solidFill>
                <a:highlight>
                  <a:srgbClr val="FFFFFF"/>
                </a:highlight>
                <a:latin typeface="Roboto" panose="02000000000000000000"/>
                <a:ea typeface="Roboto" panose="02000000000000000000"/>
                <a:sym typeface="Muli"/>
              </a:rPr>
              <a:t>Validation rules is used to verify that the data a user enters in a record meets the standards you specify before the user can save the record. </a:t>
            </a:r>
            <a:endParaRPr lang="en-US" sz="1800">
              <a:solidFill>
                <a:srgbClr val="3C4043"/>
              </a:solidFill>
              <a:highlight>
                <a:srgbClr val="FFFFFF"/>
              </a:highlight>
              <a:latin typeface="Roboto" panose="02000000000000000000"/>
              <a:ea typeface="Roboto" panose="02000000000000000000"/>
              <a:sym typeface="Muli"/>
            </a:endParaRPr>
          </a:p>
          <a:p>
            <a:pPr marL="285750" indent="-285750">
              <a:lnSpc>
                <a:spcPct val="100000"/>
              </a:lnSpc>
              <a:spcBef>
                <a:spcPts val="0"/>
              </a:spcBef>
              <a:buClr>
                <a:srgbClr val="000000"/>
              </a:buClr>
              <a:buSzPts val="1200"/>
            </a:pPr>
            <a:endParaRPr lang="en-US" sz="1800">
              <a:solidFill>
                <a:srgbClr val="3C4043"/>
              </a:solidFill>
              <a:highlight>
                <a:srgbClr val="FFFFFF"/>
              </a:highlight>
              <a:latin typeface="Roboto" panose="02000000000000000000"/>
              <a:ea typeface="Roboto" panose="02000000000000000000"/>
              <a:sym typeface="Muli"/>
            </a:endParaRPr>
          </a:p>
          <a:p>
            <a:pPr marL="285750" indent="-285750">
              <a:lnSpc>
                <a:spcPct val="100000"/>
              </a:lnSpc>
              <a:spcBef>
                <a:spcPts val="0"/>
              </a:spcBef>
              <a:buClr>
                <a:srgbClr val="000000"/>
              </a:buClr>
              <a:buSzPts val="1200"/>
            </a:pPr>
            <a:r>
              <a:rPr lang="en-US" sz="1800">
                <a:solidFill>
                  <a:srgbClr val="3C4043"/>
                </a:solidFill>
                <a:highlight>
                  <a:srgbClr val="FFFFFF"/>
                </a:highlight>
                <a:latin typeface="Roboto" panose="02000000000000000000"/>
                <a:ea typeface="Roboto" panose="02000000000000000000"/>
                <a:sym typeface="Muli"/>
              </a:rPr>
              <a:t>A validation rule can contain a formula or expression that evaluates the data in one or more fields and returns a value of “True” or “False”. </a:t>
            </a:r>
            <a:endParaRPr lang="en-US" sz="1800">
              <a:solidFill>
                <a:srgbClr val="3C4043"/>
              </a:solidFill>
              <a:highlight>
                <a:srgbClr val="FFFFFF"/>
              </a:highlight>
              <a:latin typeface="Roboto" panose="02000000000000000000"/>
              <a:ea typeface="Roboto" panose="02000000000000000000"/>
              <a:sym typeface="Muli"/>
            </a:endParaRPr>
          </a:p>
          <a:p>
            <a:pPr marL="285750" indent="-285750">
              <a:lnSpc>
                <a:spcPct val="100000"/>
              </a:lnSpc>
              <a:spcBef>
                <a:spcPts val="0"/>
              </a:spcBef>
              <a:buClr>
                <a:srgbClr val="000000"/>
              </a:buClr>
              <a:buSzPts val="1200"/>
            </a:pPr>
            <a:endParaRPr lang="en-US" sz="1800">
              <a:solidFill>
                <a:srgbClr val="3C4043"/>
              </a:solidFill>
              <a:highlight>
                <a:srgbClr val="FFFFFF"/>
              </a:highlight>
              <a:latin typeface="Roboto" panose="02000000000000000000"/>
              <a:ea typeface="Roboto" panose="02000000000000000000"/>
              <a:sym typeface="Muli"/>
            </a:endParaRPr>
          </a:p>
          <a:p>
            <a:pPr marL="285750" indent="-285750">
              <a:lnSpc>
                <a:spcPct val="100000"/>
              </a:lnSpc>
              <a:spcBef>
                <a:spcPts val="0"/>
              </a:spcBef>
              <a:buClr>
                <a:srgbClr val="000000"/>
              </a:buClr>
              <a:buSzPts val="1200"/>
            </a:pPr>
            <a:r>
              <a:rPr lang="en-US" sz="1800">
                <a:solidFill>
                  <a:srgbClr val="3C4043"/>
                </a:solidFill>
                <a:highlight>
                  <a:srgbClr val="FFFFFF"/>
                </a:highlight>
                <a:latin typeface="Roboto" panose="02000000000000000000"/>
                <a:ea typeface="Roboto" panose="02000000000000000000"/>
                <a:sym typeface="Muli"/>
              </a:rPr>
              <a:t>Validation rules also include an error message to display to the user when the rule returns a value of “True” due to an invalid value.</a:t>
            </a:r>
            <a:endParaRPr lang="en-US" sz="1800">
              <a:solidFill>
                <a:srgbClr val="3C4043"/>
              </a:solidFill>
              <a:highlight>
                <a:srgbClr val="FFFFFF"/>
              </a:highlight>
              <a:latin typeface="Roboto" panose="02000000000000000000"/>
              <a:ea typeface="Roboto" panose="02000000000000000000"/>
              <a:sym typeface="Muli"/>
            </a:endParaRPr>
          </a:p>
          <a:p>
            <a:pPr marL="50800" indent="0" fontAlgn="base">
              <a:buSzPts val="2800"/>
              <a:buNone/>
            </a:pPr>
            <a:endParaRPr lang="en-US" sz="1800">
              <a:solidFill>
                <a:srgbClr val="3C4043"/>
              </a:solidFill>
              <a:highlight>
                <a:srgbClr val="FFFFFF"/>
              </a:highlight>
              <a:latin typeface="Roboto" panose="02000000000000000000"/>
              <a:ea typeface="Roboto" panose="02000000000000000000"/>
            </a:endParaRPr>
          </a:p>
          <a:p>
            <a:pPr marL="336550" indent="-285750" fontAlgn="base">
              <a:buSzPts val="2800"/>
            </a:pPr>
          </a:p>
        </p:txBody>
      </p:sp>
      <p:sp>
        <p:nvSpPr>
          <p:cNvPr id="260" name="Google Shape;260;p30"/>
          <p:cNvSpPr txBox="1">
            <a:spLocks noGrp="1"/>
          </p:cNvSpPr>
          <p:nvPr>
            <p:ph type="body" idx="3"/>
          </p:nvPr>
        </p:nvSpPr>
        <p:spPr>
          <a:xfrm>
            <a:off x="377825" y="221887"/>
            <a:ext cx="7067550" cy="1019175"/>
          </a:xfrm>
          <a:prstGeom prst="rect">
            <a:avLst/>
          </a:prstGeom>
          <a:noFill/>
          <a:ln>
            <a:noFill/>
          </a:ln>
        </p:spPr>
        <p:txBody>
          <a:bodyPr spcFirstLastPara="1" wrap="square" lIns="91425" tIns="45700" rIns="91425" bIns="45700" anchor="t" anchorCtr="0">
            <a:noAutofit/>
          </a:bodyPr>
          <a:lstStyle/>
          <a:p>
            <a:pPr marL="0" indent="0">
              <a:spcBef>
                <a:spcPts val="0"/>
              </a:spcBef>
            </a:pPr>
            <a:r>
              <a:rPr lang="en-US"/>
              <a:t>Validation Rules</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indent="0">
              <a:spcBef>
                <a:spcPts val="0"/>
              </a:spcBef>
            </a:pPr>
            <a:r>
              <a:rPr lang="en-IN">
                <a:sym typeface="Nixie One"/>
              </a:rPr>
              <a:t>Validation Rules</a:t>
            </a:r>
            <a:endParaRPr lang="en-IN">
              <a:sym typeface="Arial" panose="020B0604020202020204"/>
            </a:endParaRPr>
          </a:p>
          <a:p>
            <a:pPr marL="0" lvl="0" indent="0" algn="ctr" rtl="0">
              <a:lnSpc>
                <a:spcPct val="90000"/>
              </a:lnSpc>
              <a:spcBef>
                <a:spcPts val="0"/>
              </a:spcBef>
              <a:spcAft>
                <a:spcPts val="0"/>
              </a:spcAft>
              <a:buClr>
                <a:schemeClr val="accent2"/>
              </a:buClr>
              <a:buSzPts val="4000"/>
              <a:buNone/>
            </a:pPr>
            <a:endParaRPr lang="en-US"/>
          </a:p>
        </p:txBody>
      </p:sp>
      <p:sp>
        <p:nvSpPr>
          <p:cNvPr id="204" name="Google Shape;204;p21"/>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85750" lvl="0" indent="-285750">
              <a:lnSpc>
                <a:spcPct val="100000"/>
              </a:lnSpc>
              <a:spcBef>
                <a:spcPts val="0"/>
              </a:spcBef>
              <a:buClr>
                <a:srgbClr val="000000"/>
              </a:buClr>
              <a:buSzPts val="1200"/>
            </a:pPr>
            <a:r>
              <a:rPr lang="en-US" sz="1800">
                <a:solidFill>
                  <a:srgbClr val="3C4043"/>
                </a:solidFill>
                <a:highlight>
                  <a:srgbClr val="FFFFFF"/>
                </a:highlight>
                <a:latin typeface="Roboto" panose="02000000000000000000"/>
                <a:ea typeface="Roboto" panose="02000000000000000000"/>
                <a:sym typeface="Muli"/>
              </a:rPr>
              <a:t>After you have defined validation rules:</a:t>
            </a:r>
            <a:br>
              <a:rPr lang="en-US" sz="1800">
                <a:solidFill>
                  <a:srgbClr val="3C4043"/>
                </a:solidFill>
                <a:highlight>
                  <a:srgbClr val="FFFFFF"/>
                </a:highlight>
                <a:latin typeface="Roboto" panose="02000000000000000000"/>
                <a:ea typeface="Roboto" panose="02000000000000000000"/>
                <a:sym typeface="Muli"/>
              </a:rPr>
            </a:br>
            <a:br>
              <a:rPr lang="en-US" sz="1800">
                <a:solidFill>
                  <a:srgbClr val="3C4043"/>
                </a:solidFill>
                <a:highlight>
                  <a:srgbClr val="FFFFFF"/>
                </a:highlight>
                <a:latin typeface="Roboto" panose="02000000000000000000"/>
                <a:ea typeface="Roboto" panose="02000000000000000000"/>
                <a:sym typeface="Muli"/>
              </a:rPr>
            </a:br>
            <a:r>
              <a:rPr lang="en-US" sz="1800">
                <a:solidFill>
                  <a:srgbClr val="3C4043"/>
                </a:solidFill>
                <a:highlight>
                  <a:srgbClr val="FFFFFF"/>
                </a:highlight>
                <a:latin typeface="Roboto" panose="02000000000000000000"/>
                <a:ea typeface="Roboto" panose="02000000000000000000"/>
                <a:sym typeface="Muli"/>
              </a:rPr>
              <a:t>1. The user chooses to create a new record or edit an existing record.</a:t>
            </a:r>
            <a:br>
              <a:rPr lang="en-US" sz="1800">
                <a:solidFill>
                  <a:srgbClr val="3C4043"/>
                </a:solidFill>
                <a:highlight>
                  <a:srgbClr val="FFFFFF"/>
                </a:highlight>
                <a:latin typeface="Roboto" panose="02000000000000000000"/>
                <a:ea typeface="Roboto" panose="02000000000000000000"/>
                <a:sym typeface="Muli"/>
              </a:rPr>
            </a:br>
            <a:r>
              <a:rPr lang="en-US" sz="1800">
                <a:solidFill>
                  <a:srgbClr val="3C4043"/>
                </a:solidFill>
                <a:highlight>
                  <a:srgbClr val="FFFFFF"/>
                </a:highlight>
                <a:latin typeface="Roboto" panose="02000000000000000000"/>
                <a:ea typeface="Roboto" panose="02000000000000000000"/>
                <a:sym typeface="Muli"/>
              </a:rPr>
              <a:t>2. The user clicks Save.</a:t>
            </a:r>
            <a:br>
              <a:rPr lang="en-US" sz="1800">
                <a:solidFill>
                  <a:srgbClr val="3C4043"/>
                </a:solidFill>
                <a:highlight>
                  <a:srgbClr val="FFFFFF"/>
                </a:highlight>
                <a:latin typeface="Roboto" panose="02000000000000000000"/>
                <a:ea typeface="Roboto" panose="02000000000000000000"/>
                <a:sym typeface="Muli"/>
              </a:rPr>
            </a:br>
            <a:r>
              <a:rPr lang="en-US" sz="1800">
                <a:solidFill>
                  <a:srgbClr val="3C4043"/>
                </a:solidFill>
                <a:highlight>
                  <a:srgbClr val="FFFFFF"/>
                </a:highlight>
                <a:latin typeface="Roboto" panose="02000000000000000000"/>
                <a:ea typeface="Roboto" panose="02000000000000000000"/>
                <a:sym typeface="Muli"/>
              </a:rPr>
              <a:t>3. All validation rules are verified.</a:t>
            </a:r>
            <a:br>
              <a:rPr lang="en-US" sz="1800">
                <a:solidFill>
                  <a:srgbClr val="3C4043"/>
                </a:solidFill>
                <a:highlight>
                  <a:srgbClr val="FFFFFF"/>
                </a:highlight>
                <a:latin typeface="Roboto" panose="02000000000000000000"/>
                <a:ea typeface="Roboto" panose="02000000000000000000"/>
                <a:sym typeface="Muli"/>
              </a:rPr>
            </a:br>
            <a:r>
              <a:rPr lang="en-US" sz="1800">
                <a:solidFill>
                  <a:srgbClr val="3C4043"/>
                </a:solidFill>
                <a:highlight>
                  <a:srgbClr val="FFFFFF"/>
                </a:highlight>
                <a:latin typeface="Roboto" panose="02000000000000000000"/>
                <a:ea typeface="Roboto" panose="02000000000000000000"/>
                <a:sym typeface="Muli"/>
              </a:rPr>
              <a:t>4. If all data is valid, the record is saved.</a:t>
            </a:r>
            <a:br>
              <a:rPr lang="en-US" sz="1800">
                <a:solidFill>
                  <a:srgbClr val="3C4043"/>
                </a:solidFill>
                <a:highlight>
                  <a:srgbClr val="FFFFFF"/>
                </a:highlight>
                <a:latin typeface="Roboto" panose="02000000000000000000"/>
                <a:ea typeface="Roboto" panose="02000000000000000000"/>
                <a:sym typeface="Muli"/>
              </a:rPr>
            </a:br>
            <a:r>
              <a:rPr lang="en-US" sz="1800">
                <a:solidFill>
                  <a:srgbClr val="3C4043"/>
                </a:solidFill>
                <a:highlight>
                  <a:srgbClr val="FFFFFF"/>
                </a:highlight>
                <a:latin typeface="Roboto" panose="02000000000000000000"/>
                <a:ea typeface="Roboto" panose="02000000000000000000"/>
                <a:sym typeface="Muli"/>
              </a:rPr>
              <a:t>5. If any data is invalid, the associated error message displays without saving the record.</a:t>
            </a:r>
            <a:br>
              <a:rPr lang="en-US" sz="1800">
                <a:solidFill>
                  <a:srgbClr val="3C4043"/>
                </a:solidFill>
                <a:highlight>
                  <a:srgbClr val="FFFFFF"/>
                </a:highlight>
                <a:latin typeface="Roboto" panose="02000000000000000000"/>
                <a:ea typeface="Roboto" panose="02000000000000000000"/>
                <a:sym typeface="Muli"/>
              </a:rPr>
            </a:br>
            <a:r>
              <a:rPr lang="en-US" sz="1800">
                <a:solidFill>
                  <a:srgbClr val="3C4043"/>
                </a:solidFill>
                <a:highlight>
                  <a:srgbClr val="FFFFFF"/>
                </a:highlight>
                <a:latin typeface="Roboto" panose="02000000000000000000"/>
                <a:ea typeface="Roboto" panose="02000000000000000000"/>
                <a:sym typeface="Muli"/>
              </a:rPr>
              <a:t>6. The user makes the necessary changes and clicks Save again.</a:t>
            </a:r>
            <a:endParaRPr lang="en-US" sz="1800">
              <a:solidFill>
                <a:srgbClr val="3C4043"/>
              </a:solidFill>
              <a:highlight>
                <a:srgbClr val="FFFFFF"/>
              </a:highlight>
              <a:latin typeface="Roboto" panose="02000000000000000000"/>
              <a:ea typeface="Roboto" panose="02000000000000000000"/>
              <a:sym typeface="Muli"/>
            </a:endParaRPr>
          </a:p>
          <a:p>
            <a:pPr marL="285750" indent="-285750">
              <a:lnSpc>
                <a:spcPct val="100000"/>
              </a:lnSpc>
              <a:spcBef>
                <a:spcPts val="0"/>
              </a:spcBef>
              <a:buClr>
                <a:srgbClr val="000000"/>
              </a:buClr>
              <a:buSzPts val="1200"/>
            </a:pPr>
            <a:br>
              <a:rPr lang="en-US" sz="1800">
                <a:solidFill>
                  <a:srgbClr val="3C4043"/>
                </a:solidFill>
                <a:highlight>
                  <a:srgbClr val="FFFFFF"/>
                </a:highlight>
                <a:latin typeface="Roboto" panose="02000000000000000000"/>
                <a:ea typeface="Roboto" panose="02000000000000000000"/>
                <a:sym typeface="Muli"/>
              </a:rPr>
            </a:br>
            <a:r>
              <a:rPr lang="en-US" sz="1800">
                <a:solidFill>
                  <a:srgbClr val="3C4043"/>
                </a:solidFill>
                <a:highlight>
                  <a:srgbClr val="FFFFFF"/>
                </a:highlight>
                <a:latin typeface="Roboto" panose="02000000000000000000"/>
                <a:ea typeface="Roboto" panose="02000000000000000000"/>
                <a:sym typeface="Muli"/>
              </a:rPr>
              <a:t>You can specify the error message to display when a record fails validation and where to display it. </a:t>
            </a: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pP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pPr>
            <a:r>
              <a:rPr lang="en-US" sz="1800">
                <a:solidFill>
                  <a:srgbClr val="3C4043"/>
                </a:solidFill>
                <a:highlight>
                  <a:srgbClr val="FFFFFF"/>
                </a:highlight>
                <a:latin typeface="Roboto" panose="02000000000000000000"/>
                <a:ea typeface="Roboto" panose="02000000000000000000"/>
                <a:sym typeface="Muli"/>
              </a:rPr>
              <a:t>For example, your error message can be “The close date must occur after today's date.” You can choose to display it near a field or at the top of the page. Like all other error messages, validation rule errors display in red text and are preceded by the word “Error”.</a:t>
            </a:r>
            <a:endParaRPr lang="en-US" sz="1800">
              <a:solidFill>
                <a:srgbClr val="3C4043"/>
              </a:solidFill>
              <a:highlight>
                <a:srgbClr val="FFFFFF"/>
              </a:highlight>
              <a:latin typeface="Roboto" panose="02000000000000000000"/>
              <a:ea typeface="Roboto" panose="02000000000000000000"/>
              <a:sym typeface="Muli"/>
            </a:endParaRPr>
          </a:p>
          <a:p>
            <a:pPr marL="228600" lvl="0" indent="-50800">
              <a:lnSpc>
                <a:spcPct val="150000"/>
              </a:lnSpc>
              <a:spcBef>
                <a:spcPts val="0"/>
              </a:spcBef>
              <a:buNone/>
            </a:pPr>
            <a:endParaRPr lang="en-US" sz="1800">
              <a:solidFill>
                <a:srgbClr val="3C4043"/>
              </a:solidFill>
              <a:highlight>
                <a:srgbClr val="FFFFFF"/>
              </a:highlight>
              <a:latin typeface="Roboto" panose="02000000000000000000"/>
              <a:ea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nSpc>
                <a:spcPct val="150000"/>
              </a:lnSpc>
              <a:spcBef>
                <a:spcPts val="0"/>
              </a:spcBef>
              <a:buNone/>
            </a:pPr>
            <a:endParaRPr sz="1800">
              <a:solidFill>
                <a:srgbClr val="3C4043"/>
              </a:solidFill>
              <a:highlight>
                <a:srgbClr val="FFFFFF"/>
              </a:highlight>
              <a:latin typeface="Roboto" panose="02000000000000000000"/>
              <a:ea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80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a:p>
            <a:pPr marL="228600" lvl="0" indent="-50800" algn="l" rtl="0">
              <a:lnSpc>
                <a:spcPct val="150000"/>
              </a:lnSpc>
              <a:spcBef>
                <a:spcPts val="0"/>
              </a:spcBef>
              <a:spcAft>
                <a:spcPts val="0"/>
              </a:spcAft>
              <a:buClr>
                <a:srgbClr val="3F3F3F"/>
              </a:buClr>
              <a:buSzPts val="2800"/>
              <a:buNone/>
            </a:pPr>
            <a:endParaRPr sz="1050">
              <a:solidFill>
                <a:srgbClr val="3C4043"/>
              </a:solidFill>
              <a:highlight>
                <a:srgbClr val="FFFFFF"/>
              </a:highlight>
              <a:latin typeface="Roboto" panose="02000000000000000000"/>
              <a:ea typeface="Roboto" panose="02000000000000000000"/>
              <a:cs typeface="Roboto" panose="02000000000000000000"/>
              <a:sym typeface="Roboto" panose="0200000000000000000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03" name="Google Shape;203;p32"/>
          <p:cNvSpPr txBox="1">
            <a:spLocks noGrp="1"/>
          </p:cNvSpPr>
          <p:nvPr>
            <p:ph type="body" idx="1"/>
          </p:nvPr>
        </p:nvSpPr>
        <p:spPr>
          <a:xfrm>
            <a:off x="373969" y="310530"/>
            <a:ext cx="11444100" cy="627300"/>
          </a:xfrm>
          <a:prstGeom prst="rect">
            <a:avLst/>
          </a:prstGeom>
          <a:noFill/>
          <a:ln>
            <a:noFill/>
          </a:ln>
        </p:spPr>
        <p:txBody>
          <a:bodyPr spcFirstLastPara="1" wrap="square" lIns="91425" tIns="45700" rIns="91425" bIns="45700" anchor="t" anchorCtr="0">
            <a:noAutofit/>
          </a:bodyPr>
          <a:lstStyle/>
          <a:p>
            <a:pPr marL="0" indent="0">
              <a:spcBef>
                <a:spcPts val="0"/>
              </a:spcBef>
            </a:pPr>
            <a:r>
              <a:rPr lang="en-IN">
                <a:sym typeface="Nixie One"/>
              </a:rPr>
              <a:t>What is Audit Trail</a:t>
            </a:r>
            <a:endParaRPr lang="en-IN">
              <a:sym typeface="Arial" panose="020B0604020202020204"/>
            </a:endParaRPr>
          </a:p>
          <a:p>
            <a:pPr marL="0" lvl="0" indent="0" algn="ctr" rtl="0">
              <a:lnSpc>
                <a:spcPct val="90000"/>
              </a:lnSpc>
              <a:spcBef>
                <a:spcPts val="0"/>
              </a:spcBef>
              <a:spcAft>
                <a:spcPts val="0"/>
              </a:spcAft>
              <a:buClr>
                <a:schemeClr val="accent2"/>
              </a:buClr>
              <a:buSzPts val="4000"/>
              <a:buNone/>
            </a:pPr>
            <a:endParaRPr lang="en-US"/>
          </a:p>
        </p:txBody>
      </p:sp>
      <p:sp>
        <p:nvSpPr>
          <p:cNvPr id="204" name="Google Shape;204;p32"/>
          <p:cNvSpPr txBox="1">
            <a:spLocks noGrp="1"/>
          </p:cNvSpPr>
          <p:nvPr>
            <p:ph type="body" idx="2"/>
          </p:nvPr>
        </p:nvSpPr>
        <p:spPr>
          <a:xfrm>
            <a:off x="500579" y="1285463"/>
            <a:ext cx="11522700" cy="4835400"/>
          </a:xfrm>
          <a:prstGeom prst="rect">
            <a:avLst/>
          </a:prstGeom>
          <a:noFill/>
          <a:ln>
            <a:noFill/>
          </a:ln>
        </p:spPr>
        <p:txBody>
          <a:bodyPr spcFirstLastPara="1" wrap="square" lIns="91425" tIns="45700" rIns="91425" bIns="45700" anchor="t" anchorCtr="0">
            <a:noAutofit/>
          </a:bodyPr>
          <a:lstStyle/>
          <a:p>
            <a:pPr marL="285750" lvl="0" indent="-285750">
              <a:lnSpc>
                <a:spcPct val="100000"/>
              </a:lnSpc>
              <a:spcBef>
                <a:spcPts val="0"/>
              </a:spcBef>
              <a:buClr>
                <a:srgbClr val="000000"/>
              </a:buClr>
              <a:buSzPts val="1200"/>
            </a:pPr>
            <a:r>
              <a:rPr lang="en-US" sz="1800">
                <a:solidFill>
                  <a:srgbClr val="3C4043"/>
                </a:solidFill>
                <a:highlight>
                  <a:srgbClr val="FFFFFF"/>
                </a:highlight>
                <a:latin typeface="Roboto" panose="02000000000000000000"/>
                <a:ea typeface="Roboto" panose="02000000000000000000"/>
                <a:sym typeface="Muli"/>
              </a:rPr>
              <a:t>Setup Audit Trail tracks the recent setup and configuration changes that administrators and other users with “Customize Application” access have made to your organisation.</a:t>
            </a: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pP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pPr>
            <a:r>
              <a:rPr lang="en-US" sz="1800">
                <a:solidFill>
                  <a:srgbClr val="3C4043"/>
                </a:solidFill>
                <a:highlight>
                  <a:srgbClr val="FFFFFF"/>
                </a:highlight>
                <a:latin typeface="Roboto" panose="02000000000000000000"/>
                <a:ea typeface="Roboto" panose="02000000000000000000"/>
                <a:sym typeface="Muli"/>
              </a:rPr>
              <a:t>It lists the 20 most recent setup changes by default, and you can download a file with your organisation’s full setup history — up to the last 6 months.</a:t>
            </a: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pP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pPr>
            <a:r>
              <a:rPr lang="en-US" sz="1800">
                <a:solidFill>
                  <a:srgbClr val="3C4043"/>
                </a:solidFill>
                <a:highlight>
                  <a:srgbClr val="FFFFFF"/>
                </a:highlight>
                <a:latin typeface="Roboto" panose="02000000000000000000"/>
                <a:ea typeface="Roboto" panose="02000000000000000000"/>
                <a:sym typeface="Muli"/>
              </a:rPr>
              <a:t>Each entry captures the date and time of the change, the name of the user who made it, and a plain-language description of the action performed.</a:t>
            </a: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pP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pPr>
            <a:r>
              <a:rPr lang="en-US" sz="1800">
                <a:solidFill>
                  <a:srgbClr val="3C4043"/>
                </a:solidFill>
                <a:highlight>
                  <a:srgbClr val="FFFFFF"/>
                </a:highlight>
                <a:latin typeface="Roboto" panose="02000000000000000000"/>
                <a:ea typeface="Roboto" panose="02000000000000000000"/>
                <a:sym typeface="Muli"/>
              </a:rPr>
              <a:t>It’s primarily used to troubleshoot unexpected configuration issues, spot unauthorised changes, and support compliance and security reviews.</a:t>
            </a: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pP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pPr>
            <a:r>
              <a:rPr lang="en-US" sz="1800">
                <a:solidFill>
                  <a:srgbClr val="3C4043"/>
                </a:solidFill>
                <a:highlight>
                  <a:srgbClr val="FFFFFF"/>
                </a:highlight>
                <a:latin typeface="Roboto" panose="02000000000000000000"/>
                <a:ea typeface="Roboto" panose="02000000000000000000"/>
                <a:sym typeface="Muli"/>
              </a:rPr>
              <a:t>Steps to view Setup Audit Trail:</a:t>
            </a:r>
            <a:endParaRPr lang="en-US" sz="1800">
              <a:solidFill>
                <a:srgbClr val="3C4043"/>
              </a:solidFill>
              <a:highlight>
                <a:srgbClr val="FFFFFF"/>
              </a:highlight>
              <a:latin typeface="Roboto" panose="02000000000000000000"/>
              <a:ea typeface="Roboto" panose="02000000000000000000"/>
              <a:sym typeface="Muli"/>
            </a:endParaRPr>
          </a:p>
          <a:p>
            <a:pPr marL="285750" lvl="0" indent="-285750">
              <a:lnSpc>
                <a:spcPct val="100000"/>
              </a:lnSpc>
              <a:spcBef>
                <a:spcPts val="0"/>
              </a:spcBef>
              <a:buClr>
                <a:srgbClr val="000000"/>
              </a:buClr>
              <a:buSzPts val="1200"/>
            </a:pPr>
            <a:r>
              <a:rPr lang="en-US" sz="1800">
                <a:solidFill>
                  <a:srgbClr val="3C4043"/>
                </a:solidFill>
                <a:highlight>
                  <a:srgbClr val="FFFFFF"/>
                </a:highlight>
                <a:latin typeface="Roboto" panose="02000000000000000000"/>
                <a:ea typeface="Roboto" panose="02000000000000000000"/>
                <a:sym typeface="Muli"/>
              </a:rPr>
              <a:t>1. From Setup, enter Audit Trail in the Quick Find box.</a:t>
            </a:r>
            <a:br>
              <a:rPr lang="en-US" sz="1800">
                <a:solidFill>
                  <a:srgbClr val="3C4043"/>
                </a:solidFill>
                <a:highlight>
                  <a:srgbClr val="FFFFFF"/>
                </a:highlight>
                <a:latin typeface="Roboto" panose="02000000000000000000"/>
                <a:ea typeface="Roboto" panose="02000000000000000000"/>
                <a:sym typeface="Muli"/>
              </a:rPr>
            </a:br>
            <a:r>
              <a:rPr lang="en-US" sz="1800">
                <a:solidFill>
                  <a:srgbClr val="3C4043"/>
                </a:solidFill>
                <a:highlight>
                  <a:srgbClr val="FFFFFF"/>
                </a:highlight>
                <a:latin typeface="Roboto" panose="02000000000000000000"/>
                <a:ea typeface="Roboto" panose="02000000000000000000"/>
                <a:sym typeface="Muli"/>
              </a:rPr>
              <a:t>2. Select View Setup Audit Trail.</a:t>
            </a:r>
            <a:br>
              <a:rPr lang="en-US" sz="1800">
                <a:solidFill>
                  <a:srgbClr val="3C4043"/>
                </a:solidFill>
                <a:highlight>
                  <a:srgbClr val="FFFFFF"/>
                </a:highlight>
                <a:latin typeface="Roboto" panose="02000000000000000000"/>
                <a:ea typeface="Roboto" panose="02000000000000000000"/>
                <a:sym typeface="Muli"/>
              </a:rPr>
            </a:br>
            <a:r>
              <a:rPr lang="en-US" sz="1800">
                <a:solidFill>
                  <a:srgbClr val="3C4043"/>
                </a:solidFill>
                <a:highlight>
                  <a:srgbClr val="FFFFFF"/>
                </a:highlight>
                <a:latin typeface="Roboto" panose="02000000000000000000"/>
                <a:ea typeface="Roboto" panose="02000000000000000000"/>
                <a:sym typeface="Muli"/>
              </a:rPr>
              <a:t>3. Click Download to export the full history as a CSV file.</a:t>
            </a:r>
            <a:endParaRPr lang="en-US" sz="1800">
              <a:solidFill>
                <a:srgbClr val="3C4043"/>
              </a:solidFill>
              <a:highlight>
                <a:srgbClr val="FFFFFF"/>
              </a:highlight>
              <a:latin typeface="Roboto" panose="02000000000000000000"/>
              <a:ea typeface="Roboto" panose="02000000000000000000"/>
              <a:sym typeface="Mul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9"/>
          <p:cNvSpPr txBox="1">
            <a:spLocks noGrp="1"/>
          </p:cNvSpPr>
          <p:nvPr>
            <p:ph type="body" idx="1"/>
          </p:nvPr>
        </p:nvSpPr>
        <p:spPr>
          <a:xfrm>
            <a:off x="803275" y="1175107"/>
            <a:ext cx="4852942" cy="762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3F3F3F"/>
              </a:buClr>
              <a:buSzPts val="7200"/>
              <a:buNone/>
            </a:pPr>
            <a:r>
              <a:rPr lang="en-US"/>
              <a:t>Thank You</a:t>
            </a:r>
            <a:endParaRPr lang="en-US"/>
          </a:p>
        </p:txBody>
      </p:sp>
    </p:spTree>
  </p:cSld>
  <p:clrMapOvr>
    <a:masterClrMapping/>
  </p:clrMapOvr>
</p:sld>
</file>

<file path=ppt/theme/theme1.xml><?xml version="1.0" encoding="utf-8"?>
<a:theme xmlns:a="http://schemas.openxmlformats.org/drawingml/2006/main" name="Cover and End Slide Master">
  <a:themeElements>
    <a:clrScheme name="Test1">
      <a:dk1>
        <a:srgbClr val="000000"/>
      </a:dk1>
      <a:lt1>
        <a:srgbClr val="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Test1">
      <a:dk1>
        <a:srgbClr val="000000"/>
      </a:dk1>
      <a:lt1>
        <a:srgbClr val="FFFFFF"/>
      </a:lt1>
      <a:dk2>
        <a:srgbClr val="44546A"/>
      </a:dk2>
      <a:lt2>
        <a:srgbClr val="E7E6E6"/>
      </a:lt2>
      <a:accent1>
        <a:srgbClr val="3282BE"/>
      </a:accent1>
      <a:accent2>
        <a:srgbClr val="28608C"/>
      </a:accent2>
      <a:accent3>
        <a:srgbClr val="262626"/>
      </a:accent3>
      <a:accent4>
        <a:srgbClr val="3282BE"/>
      </a:accent4>
      <a:accent5>
        <a:srgbClr val="28608C"/>
      </a:accent5>
      <a:accent6>
        <a:srgbClr val="262626"/>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472838459BBD64385CD2F40386C567F" ma:contentTypeVersion="13" ma:contentTypeDescription="Create a new document." ma:contentTypeScope="" ma:versionID="a1e738963b02d2357a25c24de22c504c">
  <xsd:schema xmlns:xsd="http://www.w3.org/2001/XMLSchema" xmlns:xs="http://www.w3.org/2001/XMLSchema" xmlns:p="http://schemas.microsoft.com/office/2006/metadata/properties" xmlns:ns2="0dab33a2-3426-4df1-aeb3-da106cc11362" xmlns:ns3="b7344c0c-05a4-4c29-b46a-b10958ceeffc" targetNamespace="http://schemas.microsoft.com/office/2006/metadata/properties" ma:root="true" ma:fieldsID="b5b1afaab406d47f6c6a7130c3b1fa6b" ns2:_="" ns3:_="">
    <xsd:import namespace="0dab33a2-3426-4df1-aeb3-da106cc11362"/>
    <xsd:import namespace="b7344c0c-05a4-4c29-b46a-b10958ceef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ab33a2-3426-4df1-aeb3-da106cc113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ab39e78-2f50-40ad-9103-f4aa2192ce9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344c0c-05a4-4c29-b46a-b10958ceeffc"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88ba81c-112d-44cd-a1c5-92790c1b0ece}" ma:internalName="TaxCatchAll" ma:showField="CatchAllData" ma:web="b7344c0c-05a4-4c29-b46a-b10958ceeff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dab33a2-3426-4df1-aeb3-da106cc11362">
      <Terms xmlns="http://schemas.microsoft.com/office/infopath/2007/PartnerControls"/>
    </lcf76f155ced4ddcb4097134ff3c332f>
    <TaxCatchAll xmlns="b7344c0c-05a4-4c29-b46a-b10958ceeffc" xsi:nil="true"/>
  </documentManagement>
</p:properties>
</file>

<file path=customXml/itemProps1.xml><?xml version="1.0" encoding="utf-8"?>
<ds:datastoreItem xmlns:ds="http://schemas.openxmlformats.org/officeDocument/2006/customXml" ds:itemID="{BC997C84-EA0B-4C39-928A-FF3916D7BE4D}">
  <ds:schemaRefs/>
</ds:datastoreItem>
</file>

<file path=customXml/itemProps2.xml><?xml version="1.0" encoding="utf-8"?>
<ds:datastoreItem xmlns:ds="http://schemas.openxmlformats.org/officeDocument/2006/customXml" ds:itemID="{A20840F8-CC15-433B-93CF-C804FDC3AF75}">
  <ds:schemaRefs/>
</ds:datastoreItem>
</file>

<file path=customXml/itemProps3.xml><?xml version="1.0" encoding="utf-8"?>
<ds:datastoreItem xmlns:ds="http://schemas.openxmlformats.org/officeDocument/2006/customXml" ds:itemID="{4C831C96-9C57-44DA-8748-7C34A3DD15DC}">
  <ds:schemaRefs/>
</ds:datastoreItem>
</file>

<file path=docProps/app.xml><?xml version="1.0" encoding="utf-8"?>
<Properties xmlns="http://schemas.openxmlformats.org/officeDocument/2006/extended-properties" xmlns:vt="http://schemas.openxmlformats.org/officeDocument/2006/docPropsVTypes">
  <TotalTime>0</TotalTime>
  <Words>9534</Words>
  <Application>WPS Presentation</Application>
  <PresentationFormat>Widescreen</PresentationFormat>
  <Paragraphs>430</Paragraphs>
  <Slides>25</Slides>
  <Notes>20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25</vt:i4>
      </vt:variant>
    </vt:vector>
  </HeadingPairs>
  <TitlesOfParts>
    <vt:vector size="39" baseType="lpstr">
      <vt:lpstr>Arial</vt:lpstr>
      <vt:lpstr>SimSun</vt:lpstr>
      <vt:lpstr>Wingdings</vt:lpstr>
      <vt:lpstr>Arial</vt:lpstr>
      <vt:lpstr>Calibri</vt:lpstr>
      <vt:lpstr>Roboto</vt:lpstr>
      <vt:lpstr>Nixie One</vt:lpstr>
      <vt:lpstr>Liberation Mono</vt:lpstr>
      <vt:lpstr>Muli</vt:lpstr>
      <vt:lpstr>Microsoft YaHei</vt:lpstr>
      <vt:lpstr>Arial Unicode MS</vt:lpstr>
      <vt:lpstr>Segoe UI</vt:lpstr>
      <vt:lpstr>Cover and End Slide Master</vt:lpstr>
      <vt:lpstr>Contents Slide Master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Sapna  Shetty</dc:creator>
  <cp:lastModifiedBy>WPS_1721047175</cp:lastModifiedBy>
  <cp:revision>2</cp:revision>
  <dcterms:created xsi:type="dcterms:W3CDTF">2026-08-12T14:51:10Z</dcterms:created>
  <dcterms:modified xsi:type="dcterms:W3CDTF">2026-08-12T14:52:46Z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0x010100F472838459BBD64385CD2F40386C567F</vt:lpwstr>
  </property>
  <property fmtid="{D5CDD505-2E9C-101B-9397-08002B2CF9AE}" pid="3" name="ICV">
    <vt:lpwstr>1A2270613F104F15A1D306D5C60FEBDA_12</vt:lpwstr>
  </property>
  <property fmtid="{D5CDD505-2E9C-101B-9397-08002B2CF9AE}" pid="4" name="KSOProductBuildVer">
    <vt:lpwstr>1033-12.1.0.28032</vt:lpwstr>
  </property>
</Properties>
</file>