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3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6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CE1490-58BE-2A38-F5A7-F7B8206C0FE4}" v="2" dt="2022-10-31T11:10:30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customXml" Target="../customXml/item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customXml" Target="../customXml/item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heme" Target="theme/theme1.xml"/><Relationship Id="rId30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9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4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4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9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9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3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4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4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4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7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8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8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8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4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3"/>
          <p:cNvGrpSpPr/>
          <p:nvPr/>
        </p:nvGrpSpPr>
        <p:grpSpPr>
          <a:xfrm>
            <a:off x="365760" y="3429000"/>
            <a:ext cx="6191640" cy="198360"/>
            <a:chOff x="365760" y="3429000"/>
            <a:chExt cx="6191640" cy="198360"/>
          </a:xfrm>
        </p:grpSpPr>
        <p:sp>
          <p:nvSpPr>
            <p:cNvPr id="13" name="Rectangle 5"/>
            <p:cNvSpPr/>
            <p:nvPr/>
          </p:nvSpPr>
          <p:spPr>
            <a:xfrm>
              <a:off x="365760" y="3429000"/>
              <a:ext cx="1235520" cy="198360"/>
            </a:xfrm>
            <a:prstGeom prst="rect">
              <a:avLst/>
            </a:prstGeom>
            <a:solidFill>
              <a:srgbClr val="3282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" name="Rectangle 7"/>
            <p:cNvSpPr/>
            <p:nvPr/>
          </p:nvSpPr>
          <p:spPr>
            <a:xfrm>
              <a:off x="1604880" y="3429000"/>
              <a:ext cx="1235520" cy="198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" name="Rectangle 8"/>
            <p:cNvSpPr/>
            <p:nvPr/>
          </p:nvSpPr>
          <p:spPr>
            <a:xfrm>
              <a:off x="2843640" y="3429000"/>
              <a:ext cx="1235520" cy="19836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" name="Rectangle 9"/>
            <p:cNvSpPr/>
            <p:nvPr/>
          </p:nvSpPr>
          <p:spPr>
            <a:xfrm>
              <a:off x="4082760" y="3429000"/>
              <a:ext cx="1235520" cy="1983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" name="Rectangle 10"/>
            <p:cNvSpPr/>
            <p:nvPr/>
          </p:nvSpPr>
          <p:spPr>
            <a:xfrm>
              <a:off x="5321880" y="3429000"/>
              <a:ext cx="1235520" cy="1983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6" name="Picture 4"/>
          <p:cNvPicPr/>
          <p:nvPr/>
        </p:nvPicPr>
        <p:blipFill>
          <a:blip r:embed="rId14"/>
          <a:srcRect l="43319" t="1158"/>
          <a:stretch/>
        </p:blipFill>
        <p:spPr>
          <a:xfrm>
            <a:off x="6560640" y="1332360"/>
            <a:ext cx="5627880" cy="5547960"/>
          </a:xfrm>
          <a:prstGeom prst="rect">
            <a:avLst/>
          </a:prstGeom>
          <a:ln w="0">
            <a:noFill/>
          </a:ln>
        </p:spPr>
      </p:pic>
      <p:sp>
        <p:nvSpPr>
          <p:cNvPr id="7" name="Rectangle 1"/>
          <p:cNvSpPr/>
          <p:nvPr/>
        </p:nvSpPr>
        <p:spPr>
          <a:xfrm>
            <a:off x="7929000" y="3630960"/>
            <a:ext cx="4019760" cy="11466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" name="Picture 11"/>
          <p:cNvPicPr/>
          <p:nvPr/>
        </p:nvPicPr>
        <p:blipFill>
          <a:blip r:embed="rId15"/>
          <a:stretch/>
        </p:blipFill>
        <p:spPr>
          <a:xfrm>
            <a:off x="8168760" y="4016160"/>
            <a:ext cx="4019760" cy="761400"/>
          </a:xfrm>
          <a:prstGeom prst="rect">
            <a:avLst/>
          </a:prstGeom>
          <a:ln w="0">
            <a:noFill/>
          </a:ln>
        </p:spPr>
      </p:pic>
      <p:pic>
        <p:nvPicPr>
          <p:cNvPr id="9" name="Picture 13" descr="A picture containing drawing&#10;&#10;Description automatically generated"/>
          <p:cNvPicPr/>
          <p:nvPr/>
        </p:nvPicPr>
        <p:blipFill>
          <a:blip r:embed="rId16"/>
          <a:stretch/>
        </p:blipFill>
        <p:spPr>
          <a:xfrm>
            <a:off x="9808920" y="2865960"/>
            <a:ext cx="739440" cy="1146600"/>
          </a:xfrm>
          <a:prstGeom prst="rect">
            <a:avLst/>
          </a:prstGeom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IN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2"/>
          <p:cNvGrpSpPr/>
          <p:nvPr/>
        </p:nvGrpSpPr>
        <p:grpSpPr>
          <a:xfrm>
            <a:off x="3907800" y="1063800"/>
            <a:ext cx="4372560" cy="73440"/>
            <a:chOff x="3907800" y="1063800"/>
            <a:chExt cx="4372560" cy="73440"/>
          </a:xfrm>
        </p:grpSpPr>
        <p:sp>
          <p:nvSpPr>
            <p:cNvPr id="49" name="Rectangle 3"/>
            <p:cNvSpPr/>
            <p:nvPr/>
          </p:nvSpPr>
          <p:spPr>
            <a:xfrm>
              <a:off x="3907800" y="1063800"/>
              <a:ext cx="871560" cy="73440"/>
            </a:xfrm>
            <a:prstGeom prst="rect">
              <a:avLst/>
            </a:prstGeom>
            <a:solidFill>
              <a:srgbClr val="3282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0" name="Rectangle 4"/>
            <p:cNvSpPr/>
            <p:nvPr/>
          </p:nvSpPr>
          <p:spPr>
            <a:xfrm>
              <a:off x="4783320" y="1063800"/>
              <a:ext cx="871560" cy="73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1" name="Rectangle 5"/>
            <p:cNvSpPr/>
            <p:nvPr/>
          </p:nvSpPr>
          <p:spPr>
            <a:xfrm>
              <a:off x="5658480" y="1063800"/>
              <a:ext cx="871560" cy="734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2" name="Rectangle 6"/>
            <p:cNvSpPr/>
            <p:nvPr/>
          </p:nvSpPr>
          <p:spPr>
            <a:xfrm>
              <a:off x="6533640" y="1063800"/>
              <a:ext cx="871560" cy="73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3" name="Rectangle 7"/>
            <p:cNvSpPr/>
            <p:nvPr/>
          </p:nvSpPr>
          <p:spPr>
            <a:xfrm>
              <a:off x="7408800" y="1063800"/>
              <a:ext cx="871560" cy="734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54" name="Group 13"/>
          <p:cNvGrpSpPr/>
          <p:nvPr/>
        </p:nvGrpSpPr>
        <p:grpSpPr>
          <a:xfrm>
            <a:off x="-5040" y="6547320"/>
            <a:ext cx="12023640" cy="379800"/>
            <a:chOff x="-5040" y="6547320"/>
            <a:chExt cx="12023640" cy="379800"/>
          </a:xfrm>
        </p:grpSpPr>
        <p:grpSp>
          <p:nvGrpSpPr>
            <p:cNvPr id="55" name="Group 19"/>
            <p:cNvGrpSpPr/>
            <p:nvPr/>
          </p:nvGrpSpPr>
          <p:grpSpPr>
            <a:xfrm>
              <a:off x="-5040" y="6548040"/>
              <a:ext cx="9749880" cy="331920"/>
              <a:chOff x="-5040" y="6548040"/>
              <a:chExt cx="9749880" cy="331920"/>
            </a:xfrm>
          </p:grpSpPr>
          <p:sp>
            <p:nvSpPr>
              <p:cNvPr id="56" name="Rectangle 21"/>
              <p:cNvSpPr/>
              <p:nvPr/>
            </p:nvSpPr>
            <p:spPr>
              <a:xfrm>
                <a:off x="-5040" y="6548040"/>
                <a:ext cx="2434680" cy="3319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7" name="Rectangle 22"/>
              <p:cNvSpPr/>
              <p:nvPr/>
            </p:nvSpPr>
            <p:spPr>
              <a:xfrm>
                <a:off x="2433600" y="6548040"/>
                <a:ext cx="2434680" cy="33192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8" name="Rectangle 23"/>
              <p:cNvSpPr/>
              <p:nvPr/>
            </p:nvSpPr>
            <p:spPr>
              <a:xfrm>
                <a:off x="4871880" y="6548040"/>
                <a:ext cx="2434680" cy="33192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9" name="Rectangle 24"/>
              <p:cNvSpPr/>
              <p:nvPr/>
            </p:nvSpPr>
            <p:spPr>
              <a:xfrm>
                <a:off x="7310160" y="6548040"/>
                <a:ext cx="2434680" cy="33192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pic>
          <p:nvPicPr>
            <p:cNvPr id="60" name="Picture 8"/>
            <p:cNvPicPr/>
            <p:nvPr/>
          </p:nvPicPr>
          <p:blipFill>
            <a:blip r:embed="rId14"/>
            <a:stretch/>
          </p:blipFill>
          <p:spPr>
            <a:xfrm>
              <a:off x="10006200" y="6547320"/>
              <a:ext cx="2012400" cy="3798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IN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4"/>
          <p:cNvGrpSpPr/>
          <p:nvPr/>
        </p:nvGrpSpPr>
        <p:grpSpPr>
          <a:xfrm>
            <a:off x="3907800" y="1063800"/>
            <a:ext cx="4372560" cy="73440"/>
            <a:chOff x="3907800" y="1063800"/>
            <a:chExt cx="4372560" cy="73440"/>
          </a:xfrm>
        </p:grpSpPr>
        <p:sp>
          <p:nvSpPr>
            <p:cNvPr id="100" name="Rectangle 5"/>
            <p:cNvSpPr/>
            <p:nvPr/>
          </p:nvSpPr>
          <p:spPr>
            <a:xfrm>
              <a:off x="3907800" y="1063800"/>
              <a:ext cx="871560" cy="73440"/>
            </a:xfrm>
            <a:prstGeom prst="rect">
              <a:avLst/>
            </a:prstGeom>
            <a:solidFill>
              <a:srgbClr val="3282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1" name="Rectangle 6"/>
            <p:cNvSpPr/>
            <p:nvPr/>
          </p:nvSpPr>
          <p:spPr>
            <a:xfrm>
              <a:off x="4783320" y="1063800"/>
              <a:ext cx="871560" cy="73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2" name="Rectangle 7"/>
            <p:cNvSpPr/>
            <p:nvPr/>
          </p:nvSpPr>
          <p:spPr>
            <a:xfrm>
              <a:off x="5658480" y="1063800"/>
              <a:ext cx="871560" cy="734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3" name="Rectangle 8"/>
            <p:cNvSpPr/>
            <p:nvPr/>
          </p:nvSpPr>
          <p:spPr>
            <a:xfrm>
              <a:off x="6533640" y="1063800"/>
              <a:ext cx="871560" cy="73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4" name="Rectangle 9"/>
            <p:cNvSpPr/>
            <p:nvPr/>
          </p:nvSpPr>
          <p:spPr>
            <a:xfrm>
              <a:off x="7408800" y="1063800"/>
              <a:ext cx="871560" cy="734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05" name="Group 17"/>
          <p:cNvGrpSpPr/>
          <p:nvPr/>
        </p:nvGrpSpPr>
        <p:grpSpPr>
          <a:xfrm>
            <a:off x="-5040" y="6547320"/>
            <a:ext cx="12023640" cy="379800"/>
            <a:chOff x="-5040" y="6547320"/>
            <a:chExt cx="12023640" cy="379800"/>
          </a:xfrm>
        </p:grpSpPr>
        <p:grpSp>
          <p:nvGrpSpPr>
            <p:cNvPr id="106" name="Group 18"/>
            <p:cNvGrpSpPr/>
            <p:nvPr/>
          </p:nvGrpSpPr>
          <p:grpSpPr>
            <a:xfrm>
              <a:off x="-5040" y="6548040"/>
              <a:ext cx="9749880" cy="331920"/>
              <a:chOff x="-5040" y="6548040"/>
              <a:chExt cx="9749880" cy="331920"/>
            </a:xfrm>
          </p:grpSpPr>
          <p:sp>
            <p:nvSpPr>
              <p:cNvPr id="107" name="Rectangle 20"/>
              <p:cNvSpPr/>
              <p:nvPr/>
            </p:nvSpPr>
            <p:spPr>
              <a:xfrm>
                <a:off x="-5040" y="6548040"/>
                <a:ext cx="2434680" cy="3319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8" name="Rectangle 21"/>
              <p:cNvSpPr/>
              <p:nvPr/>
            </p:nvSpPr>
            <p:spPr>
              <a:xfrm>
                <a:off x="2433600" y="6548040"/>
                <a:ext cx="2434680" cy="33192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09" name="Rectangle 22"/>
              <p:cNvSpPr/>
              <p:nvPr/>
            </p:nvSpPr>
            <p:spPr>
              <a:xfrm>
                <a:off x="4871880" y="6548040"/>
                <a:ext cx="2434680" cy="33192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10" name="Rectangle 23"/>
              <p:cNvSpPr/>
              <p:nvPr/>
            </p:nvSpPr>
            <p:spPr>
              <a:xfrm>
                <a:off x="7310160" y="6548040"/>
                <a:ext cx="2434680" cy="33192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pic>
          <p:nvPicPr>
            <p:cNvPr id="111" name="Picture 19"/>
            <p:cNvPicPr/>
            <p:nvPr/>
          </p:nvPicPr>
          <p:blipFill>
            <a:blip r:embed="rId14"/>
            <a:stretch/>
          </p:blipFill>
          <p:spPr>
            <a:xfrm>
              <a:off x="10006200" y="6547320"/>
              <a:ext cx="2012400" cy="3798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IN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1"/>
          <p:cNvPicPr/>
          <p:nvPr/>
        </p:nvPicPr>
        <p:blipFill>
          <a:blip r:embed="rId14"/>
          <a:srcRect l="45170"/>
          <a:stretch/>
        </p:blipFill>
        <p:spPr>
          <a:xfrm>
            <a:off x="5512680" y="-11880"/>
            <a:ext cx="6675840" cy="6878520"/>
          </a:xfrm>
          <a:prstGeom prst="rect">
            <a:avLst/>
          </a:prstGeom>
          <a:ln w="0">
            <a:noFill/>
          </a:ln>
        </p:spPr>
      </p:pic>
      <p:pic>
        <p:nvPicPr>
          <p:cNvPr id="151" name="Picture 3"/>
          <p:cNvPicPr/>
          <p:nvPr/>
        </p:nvPicPr>
        <p:blipFill>
          <a:blip r:embed="rId14"/>
          <a:srcRect l="1314" t="2220" r="55366" b="44273"/>
          <a:stretch/>
        </p:blipFill>
        <p:spPr>
          <a:xfrm>
            <a:off x="7890120" y="2416680"/>
            <a:ext cx="3797640" cy="2648160"/>
          </a:xfrm>
          <a:prstGeom prst="rect">
            <a:avLst/>
          </a:prstGeom>
          <a:ln w="0">
            <a:noFill/>
          </a:ln>
        </p:spPr>
      </p:pic>
      <p:grpSp>
        <p:nvGrpSpPr>
          <p:cNvPr id="152" name="Group 19"/>
          <p:cNvGrpSpPr/>
          <p:nvPr/>
        </p:nvGrpSpPr>
        <p:grpSpPr>
          <a:xfrm>
            <a:off x="-5040" y="6547320"/>
            <a:ext cx="12023640" cy="379800"/>
            <a:chOff x="-5040" y="6547320"/>
            <a:chExt cx="12023640" cy="379800"/>
          </a:xfrm>
        </p:grpSpPr>
        <p:grpSp>
          <p:nvGrpSpPr>
            <p:cNvPr id="153" name="Group 20"/>
            <p:cNvGrpSpPr/>
            <p:nvPr/>
          </p:nvGrpSpPr>
          <p:grpSpPr>
            <a:xfrm>
              <a:off x="-5040" y="6548040"/>
              <a:ext cx="9749880" cy="331920"/>
              <a:chOff x="-5040" y="6548040"/>
              <a:chExt cx="9749880" cy="331920"/>
            </a:xfrm>
          </p:grpSpPr>
          <p:sp>
            <p:nvSpPr>
              <p:cNvPr id="154" name="Rectangle 22"/>
              <p:cNvSpPr/>
              <p:nvPr/>
            </p:nvSpPr>
            <p:spPr>
              <a:xfrm>
                <a:off x="-5040" y="6548040"/>
                <a:ext cx="2434680" cy="3319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5" name="Rectangle 23"/>
              <p:cNvSpPr/>
              <p:nvPr/>
            </p:nvSpPr>
            <p:spPr>
              <a:xfrm>
                <a:off x="2433600" y="6548040"/>
                <a:ext cx="2434680" cy="33192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6" name="Rectangle 24"/>
              <p:cNvSpPr/>
              <p:nvPr/>
            </p:nvSpPr>
            <p:spPr>
              <a:xfrm>
                <a:off x="4871880" y="6548040"/>
                <a:ext cx="2434680" cy="33192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57" name="Rectangle 25"/>
              <p:cNvSpPr/>
              <p:nvPr/>
            </p:nvSpPr>
            <p:spPr>
              <a:xfrm>
                <a:off x="7310160" y="6548040"/>
                <a:ext cx="2434680" cy="33192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pic>
          <p:nvPicPr>
            <p:cNvPr id="158" name="Picture 21"/>
            <p:cNvPicPr/>
            <p:nvPr/>
          </p:nvPicPr>
          <p:blipFill>
            <a:blip r:embed="rId15"/>
            <a:stretch/>
          </p:blipFill>
          <p:spPr>
            <a:xfrm>
              <a:off x="10006200" y="6547320"/>
              <a:ext cx="2012400" cy="3798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IN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roup 26"/>
          <p:cNvGrpSpPr/>
          <p:nvPr/>
        </p:nvGrpSpPr>
        <p:grpSpPr>
          <a:xfrm>
            <a:off x="-5040" y="6547320"/>
            <a:ext cx="12023640" cy="379800"/>
            <a:chOff x="-5040" y="6547320"/>
            <a:chExt cx="12023640" cy="379800"/>
          </a:xfrm>
        </p:grpSpPr>
        <p:grpSp>
          <p:nvGrpSpPr>
            <p:cNvPr id="198" name="Group 27"/>
            <p:cNvGrpSpPr/>
            <p:nvPr/>
          </p:nvGrpSpPr>
          <p:grpSpPr>
            <a:xfrm>
              <a:off x="-5040" y="6548040"/>
              <a:ext cx="9749880" cy="331920"/>
              <a:chOff x="-5040" y="6548040"/>
              <a:chExt cx="9749880" cy="331920"/>
            </a:xfrm>
          </p:grpSpPr>
          <p:sp>
            <p:nvSpPr>
              <p:cNvPr id="199" name="Rectangle 29"/>
              <p:cNvSpPr/>
              <p:nvPr/>
            </p:nvSpPr>
            <p:spPr>
              <a:xfrm>
                <a:off x="-5040" y="6548040"/>
                <a:ext cx="2434680" cy="3319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00" name="Rectangle 30"/>
              <p:cNvSpPr/>
              <p:nvPr/>
            </p:nvSpPr>
            <p:spPr>
              <a:xfrm>
                <a:off x="2433600" y="6548040"/>
                <a:ext cx="2434680" cy="33192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01" name="Rectangle 31"/>
              <p:cNvSpPr/>
              <p:nvPr/>
            </p:nvSpPr>
            <p:spPr>
              <a:xfrm>
                <a:off x="4871880" y="6548040"/>
                <a:ext cx="2434680" cy="33192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02" name="Rectangle 32"/>
              <p:cNvSpPr/>
              <p:nvPr/>
            </p:nvSpPr>
            <p:spPr>
              <a:xfrm>
                <a:off x="7310160" y="6548040"/>
                <a:ext cx="2434680" cy="33192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pic>
          <p:nvPicPr>
            <p:cNvPr id="203" name="Picture 28"/>
            <p:cNvPicPr/>
            <p:nvPr/>
          </p:nvPicPr>
          <p:blipFill>
            <a:blip r:embed="rId14"/>
            <a:stretch/>
          </p:blipFill>
          <p:spPr>
            <a:xfrm>
              <a:off x="10006200" y="6547320"/>
              <a:ext cx="2012400" cy="3798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IN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Seventh Outline Level</a:t>
            </a:r>
          </a:p>
        </p:txBody>
      </p:sp>
      <p:sp>
        <p:nvSpPr>
          <p:cNvPr id="20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Picture 2"/>
          <p:cNvPicPr/>
          <p:nvPr/>
        </p:nvPicPr>
        <p:blipFill>
          <a:blip r:embed="rId14"/>
          <a:srcRect t="552" r="566"/>
          <a:stretch/>
        </p:blipFill>
        <p:spPr>
          <a:xfrm>
            <a:off x="0" y="-10080"/>
            <a:ext cx="12188520" cy="6873840"/>
          </a:xfrm>
          <a:prstGeom prst="rect">
            <a:avLst/>
          </a:prstGeom>
          <a:ln w="0">
            <a:noFill/>
          </a:ln>
        </p:spPr>
      </p:pic>
      <p:pic>
        <p:nvPicPr>
          <p:cNvPr id="244" name="Picture 1"/>
          <p:cNvPicPr/>
          <p:nvPr/>
        </p:nvPicPr>
        <p:blipFill>
          <a:blip r:embed="rId14"/>
          <a:srcRect t="31407" r="51670" b="50000"/>
          <a:stretch/>
        </p:blipFill>
        <p:spPr>
          <a:xfrm>
            <a:off x="803520" y="1003320"/>
            <a:ext cx="4235040" cy="917280"/>
          </a:xfrm>
          <a:prstGeom prst="rect">
            <a:avLst/>
          </a:prstGeom>
          <a:ln w="0">
            <a:noFill/>
          </a:ln>
        </p:spPr>
      </p:pic>
      <p:pic>
        <p:nvPicPr>
          <p:cNvPr id="245" name="Picture 6" descr="A close up of a sign&#10;&#10;Description automatically generated"/>
          <p:cNvPicPr/>
          <p:nvPr/>
        </p:nvPicPr>
        <p:blipFill>
          <a:blip r:embed="rId15"/>
          <a:stretch/>
        </p:blipFill>
        <p:spPr>
          <a:xfrm>
            <a:off x="894600" y="3448440"/>
            <a:ext cx="3742920" cy="1093680"/>
          </a:xfrm>
          <a:prstGeom prst="rect">
            <a:avLst/>
          </a:prstGeom>
          <a:ln w="0">
            <a:noFill/>
          </a:ln>
        </p:spPr>
      </p:pic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IN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unofficialsf.com/the-new-converttoflow-app-migrates-most-of-your-process-builder-processes/" TargetMode="Externa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/>
          </p:nvPr>
        </p:nvSpPr>
        <p:spPr>
          <a:xfrm>
            <a:off x="365760" y="2749320"/>
            <a:ext cx="6191280" cy="656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404040"/>
                </a:solidFill>
                <a:latin typeface="Calibri"/>
              </a:rPr>
              <a:t>Migrate To Flow</a:t>
            </a:r>
            <a:endParaRPr lang="en-IN" sz="4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/>
          </p:nvPr>
        </p:nvSpPr>
        <p:spPr>
          <a:xfrm>
            <a:off x="374040" y="310680"/>
            <a:ext cx="11440440" cy="623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0" strike="noStrike" spc="-1">
                <a:solidFill>
                  <a:srgbClr val="28608C"/>
                </a:solidFill>
                <a:latin typeface="Calibri"/>
              </a:rPr>
              <a:t>AGENDA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374040" y="1383840"/>
            <a:ext cx="11519280" cy="4831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IN" sz="32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IN" sz="32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Retirement Plan For Workflow Rule &amp; Process Builder</a:t>
            </a:r>
            <a:endParaRPr lang="en-IN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Why Do We Need Flow?</a:t>
            </a:r>
            <a:endParaRPr lang="en-IN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Approaches for the Migration Process</a:t>
            </a:r>
            <a:endParaRPr lang="en-IN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Migrate To Flows</a:t>
            </a:r>
            <a:endParaRPr lang="en-IN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Manual Conversion Methods</a:t>
            </a:r>
            <a:endParaRPr lang="en-IN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Process Builder Migration</a:t>
            </a:r>
            <a:endParaRPr lang="en-IN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/>
          </p:nvPr>
        </p:nvSpPr>
        <p:spPr>
          <a:xfrm>
            <a:off x="378000" y="313560"/>
            <a:ext cx="11401200" cy="59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0" strike="noStrike" spc="-1">
                <a:solidFill>
                  <a:srgbClr val="28608C"/>
                </a:solidFill>
                <a:latin typeface="Calibri"/>
              </a:rPr>
              <a:t>Retirement Timeline</a:t>
            </a:r>
            <a:endParaRPr lang="en-IN" sz="4000" b="0" strike="noStrike" spc="-1">
              <a:latin typeface="Arial"/>
            </a:endParaRPr>
          </a:p>
        </p:txBody>
      </p:sp>
      <p:pic>
        <p:nvPicPr>
          <p:cNvPr id="288" name="Picture 287"/>
          <p:cNvPicPr/>
          <p:nvPr/>
        </p:nvPicPr>
        <p:blipFill>
          <a:blip r:embed="rId2"/>
          <a:stretch/>
        </p:blipFill>
        <p:spPr>
          <a:xfrm>
            <a:off x="900000" y="1440000"/>
            <a:ext cx="11158200" cy="4858200"/>
          </a:xfrm>
          <a:prstGeom prst="rect">
            <a:avLst/>
          </a:prstGeom>
          <a:ln w="0">
            <a:noFill/>
          </a:ln>
        </p:spPr>
      </p:pic>
      <p:sp>
        <p:nvSpPr>
          <p:cNvPr id="289" name="Rectangle 288"/>
          <p:cNvSpPr/>
          <p:nvPr/>
        </p:nvSpPr>
        <p:spPr>
          <a:xfrm>
            <a:off x="900000" y="1620000"/>
            <a:ext cx="3059640" cy="34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Migrate To Flow Tool</a:t>
            </a:r>
            <a:endParaRPr lang="en-IN" sz="1800" b="0" strike="noStrike" spc="-1">
              <a:latin typeface="Arial"/>
            </a:endParaRPr>
          </a:p>
        </p:txBody>
      </p:sp>
      <p:sp>
        <p:nvSpPr>
          <p:cNvPr id="290" name="Rectangle 289"/>
          <p:cNvSpPr/>
          <p:nvPr/>
        </p:nvSpPr>
        <p:spPr>
          <a:xfrm>
            <a:off x="796320" y="1993680"/>
            <a:ext cx="3415320" cy="34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Support Workflow Rules</a:t>
            </a:r>
            <a:endParaRPr lang="en-IN" sz="1800" b="0" strike="noStrike" spc="-1">
              <a:latin typeface="Arial"/>
            </a:endParaRPr>
          </a:p>
        </p:txBody>
      </p:sp>
      <p:sp>
        <p:nvSpPr>
          <p:cNvPr id="291" name="Straight Connector 290"/>
          <p:cNvSpPr/>
          <p:nvPr/>
        </p:nvSpPr>
        <p:spPr>
          <a:xfrm>
            <a:off x="1800000" y="2340000"/>
            <a:ext cx="360" cy="900000"/>
          </a:xfrm>
          <a:prstGeom prst="line">
            <a:avLst/>
          </a:prstGeom>
          <a:ln w="0" cap="rnd">
            <a:solidFill>
              <a:srgbClr val="1111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2" name="Rectangle 291"/>
          <p:cNvSpPr/>
          <p:nvPr/>
        </p:nvSpPr>
        <p:spPr>
          <a:xfrm>
            <a:off x="1741680" y="4860000"/>
            <a:ext cx="2396520" cy="60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IN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Turn off Create New </a:t>
            </a:r>
            <a:endParaRPr lang="en-IN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IN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Workflow Rules</a:t>
            </a:r>
            <a:endParaRPr lang="en-IN" sz="1800" b="0" strike="noStrike" spc="-1">
              <a:latin typeface="Arial"/>
            </a:endParaRPr>
          </a:p>
        </p:txBody>
      </p:sp>
      <p:sp>
        <p:nvSpPr>
          <p:cNvPr id="293" name="Straight Connector 292"/>
          <p:cNvSpPr/>
          <p:nvPr/>
        </p:nvSpPr>
        <p:spPr>
          <a:xfrm>
            <a:off x="3780000" y="4140000"/>
            <a:ext cx="360" cy="720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4" name="Rectangle 293"/>
          <p:cNvSpPr/>
          <p:nvPr/>
        </p:nvSpPr>
        <p:spPr>
          <a:xfrm>
            <a:off x="4212000" y="1620000"/>
            <a:ext cx="3527640" cy="7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IN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Migrate to Flow Tool </a:t>
            </a:r>
            <a:endParaRPr lang="en-IN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IN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Supports Process Builder</a:t>
            </a:r>
            <a:endParaRPr lang="en-IN" sz="1800" b="0" strike="noStrike" spc="-1">
              <a:latin typeface="Arial"/>
            </a:endParaRPr>
          </a:p>
        </p:txBody>
      </p:sp>
      <p:sp>
        <p:nvSpPr>
          <p:cNvPr id="295" name="Straight Connector 294"/>
          <p:cNvSpPr/>
          <p:nvPr/>
        </p:nvSpPr>
        <p:spPr>
          <a:xfrm flipV="1">
            <a:off x="5220000" y="2340000"/>
            <a:ext cx="360" cy="900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6" name="Straight Connector 295"/>
          <p:cNvSpPr/>
          <p:nvPr/>
        </p:nvSpPr>
        <p:spPr>
          <a:xfrm>
            <a:off x="7020000" y="4140000"/>
            <a:ext cx="360" cy="720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7" name="Rectangle 296"/>
          <p:cNvSpPr/>
          <p:nvPr/>
        </p:nvSpPr>
        <p:spPr>
          <a:xfrm>
            <a:off x="5161680" y="4977720"/>
            <a:ext cx="2396520" cy="60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IN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Turn off Create New </a:t>
            </a:r>
            <a:endParaRPr lang="en-IN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IN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Process Builder</a:t>
            </a:r>
            <a:endParaRPr lang="en-IN" sz="1800" b="0" strike="noStrike" spc="-1">
              <a:latin typeface="Arial"/>
            </a:endParaRPr>
          </a:p>
        </p:txBody>
      </p:sp>
      <p:sp>
        <p:nvSpPr>
          <p:cNvPr id="298" name="Rectangle 297"/>
          <p:cNvSpPr/>
          <p:nvPr/>
        </p:nvSpPr>
        <p:spPr>
          <a:xfrm>
            <a:off x="8280000" y="1620000"/>
            <a:ext cx="3778200" cy="60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IN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End of Support for WFR/PB</a:t>
            </a:r>
            <a:endParaRPr lang="en-IN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en-IN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Estimated 2025</a:t>
            </a:r>
            <a:endParaRPr lang="en-IN" sz="1800" b="0" strike="noStrike" spc="-1">
              <a:latin typeface="Arial"/>
            </a:endParaRPr>
          </a:p>
        </p:txBody>
      </p:sp>
      <p:sp>
        <p:nvSpPr>
          <p:cNvPr id="299" name="Straight Connector 298"/>
          <p:cNvSpPr/>
          <p:nvPr/>
        </p:nvSpPr>
        <p:spPr>
          <a:xfrm>
            <a:off x="9360000" y="2222280"/>
            <a:ext cx="360" cy="10177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/>
          </p:nvPr>
        </p:nvSpPr>
        <p:spPr>
          <a:xfrm>
            <a:off x="374040" y="310680"/>
            <a:ext cx="11440440" cy="623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0" strike="noStrike" spc="-1">
                <a:solidFill>
                  <a:srgbClr val="28608C"/>
                </a:solidFill>
                <a:latin typeface="Calibri"/>
              </a:rPr>
              <a:t>Why Do We Need Flow?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/>
          </p:nvPr>
        </p:nvSpPr>
        <p:spPr>
          <a:xfrm>
            <a:off x="374040" y="1383840"/>
            <a:ext cx="11519280" cy="4831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IN" sz="32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IN" sz="32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Performance tests conducted by Salesforce indicates that Before save flows   can improve performance by 10-20 times over Workflows or Process Builders</a:t>
            </a:r>
            <a:endParaRPr lang="en-IN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Workflow rules and Process Builders use different runtime environment will never match flow’s faster performance and lower resource consumption</a:t>
            </a:r>
            <a:endParaRPr lang="en-IN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Salesforce efforts on Flow performance, debugging, management and deployment will not benefit either Workflow or Process Builder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302" name="Rectangle 301"/>
          <p:cNvSpPr/>
          <p:nvPr/>
        </p:nvSpPr>
        <p:spPr>
          <a:xfrm>
            <a:off x="529200" y="1620000"/>
            <a:ext cx="2890080" cy="45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3200" b="1" strike="noStrike" spc="-1">
                <a:solidFill>
                  <a:srgbClr val="404040"/>
                </a:solidFill>
                <a:latin typeface="Calibri"/>
                <a:ea typeface="DejaVu Sans"/>
              </a:rPr>
              <a:t>Performance</a:t>
            </a: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/>
          </p:nvPr>
        </p:nvSpPr>
        <p:spPr>
          <a:xfrm>
            <a:off x="374040" y="310680"/>
            <a:ext cx="11440440" cy="623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0" strike="noStrike" spc="-1">
                <a:solidFill>
                  <a:srgbClr val="28608C"/>
                </a:solidFill>
                <a:latin typeface="Calibri"/>
              </a:rPr>
              <a:t>Why Do We Need Flow?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374040" y="1383840"/>
            <a:ext cx="11519280" cy="4831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IN" sz="32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IN" sz="32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Salesforce Flow includes a multitude of functionality that Workflow Rules and even Process Builder can’t do</a:t>
            </a:r>
            <a:endParaRPr lang="en-IN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Flow is the only declarative tool that offers the ability to handle multiple records at once in a collection( or List in Apex terminology)</a:t>
            </a:r>
            <a:endParaRPr lang="en-IN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Flow supports looping , which means that a Collection of variables or records can be iteratively processed one-by-one 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305" name="Rectangle 304"/>
          <p:cNvSpPr/>
          <p:nvPr/>
        </p:nvSpPr>
        <p:spPr>
          <a:xfrm>
            <a:off x="493920" y="1620000"/>
            <a:ext cx="3465360" cy="45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3200" b="1" strike="noStrike" spc="-1">
                <a:solidFill>
                  <a:srgbClr val="404040"/>
                </a:solidFill>
                <a:latin typeface="Calibri"/>
                <a:ea typeface="DejaVu Sans"/>
              </a:rPr>
              <a:t>Functionality</a:t>
            </a: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/>
          </p:nvPr>
        </p:nvSpPr>
        <p:spPr>
          <a:xfrm>
            <a:off x="374040" y="310680"/>
            <a:ext cx="11440440" cy="623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0" strike="noStrike" spc="-1">
                <a:solidFill>
                  <a:srgbClr val="28608C"/>
                </a:solidFill>
                <a:latin typeface="Calibri"/>
              </a:rPr>
              <a:t>Why Do We Need Flow?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374040" y="1383840"/>
            <a:ext cx="11519280" cy="4831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IN" sz="32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IN" sz="32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According to Salesforce, Flow is far better architectured to meet the increasing functionality and extensibility requirements of Salesforce users</a:t>
            </a:r>
            <a:endParaRPr lang="en-IN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IN" sz="2800" b="0" strike="noStrike" spc="-1">
              <a:latin typeface="Arial"/>
            </a:endParaRPr>
          </a:p>
        </p:txBody>
      </p:sp>
      <p:sp>
        <p:nvSpPr>
          <p:cNvPr id="308" name="Rectangle 307"/>
          <p:cNvSpPr/>
          <p:nvPr/>
        </p:nvSpPr>
        <p:spPr>
          <a:xfrm>
            <a:off x="518400" y="1620000"/>
            <a:ext cx="2359440" cy="45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3200" b="1" strike="noStrike" spc="-1">
                <a:solidFill>
                  <a:srgbClr val="404040"/>
                </a:solidFill>
                <a:latin typeface="Calibri"/>
                <a:ea typeface="DejaVu Sans"/>
              </a:rPr>
              <a:t>Architecture </a:t>
            </a: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/>
          </p:nvPr>
        </p:nvSpPr>
        <p:spPr>
          <a:xfrm>
            <a:off x="374040" y="310680"/>
            <a:ext cx="11440440" cy="623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0" strike="noStrike" spc="-1">
                <a:solidFill>
                  <a:srgbClr val="28608C"/>
                </a:solidFill>
                <a:latin typeface="Calibri"/>
              </a:rPr>
              <a:t>Why Do We Need Flow?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374040" y="1383840"/>
            <a:ext cx="11519280" cy="4831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IN" sz="32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IN" sz="32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Salesforce has announced that the future for no-code automation is Flow-this means that development of new features will be largely around Flow</a:t>
            </a:r>
            <a:endParaRPr lang="en-IN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Any improvements Salesforce makes to Flow – such as debugging improvements, manageability improvements etc. - will not benefit Workflow Rules and Process Builders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311" name="Rectangle 310"/>
          <p:cNvSpPr/>
          <p:nvPr/>
        </p:nvSpPr>
        <p:spPr>
          <a:xfrm>
            <a:off x="657000" y="1620000"/>
            <a:ext cx="6002280" cy="45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3200" b="1" strike="noStrike" spc="-1">
                <a:solidFill>
                  <a:srgbClr val="404040"/>
                </a:solidFill>
                <a:latin typeface="Calibri"/>
                <a:ea typeface="DejaVu Sans"/>
              </a:rPr>
              <a:t>Future Development</a:t>
            </a: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/>
          </p:nvPr>
        </p:nvSpPr>
        <p:spPr>
          <a:xfrm>
            <a:off x="-1080000" y="273240"/>
            <a:ext cx="11440440" cy="623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                         </a:t>
            </a:r>
            <a:r>
              <a:rPr lang="en-US" sz="4000" b="0" strike="noStrike" spc="-1">
                <a:solidFill>
                  <a:srgbClr val="5983B0"/>
                </a:solidFill>
                <a:latin typeface="Calibri"/>
              </a:rPr>
              <a:t>        Approaches for the Migration Process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374040" y="1383840"/>
            <a:ext cx="11519280" cy="1495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Wingdings" charset="2"/>
              <a:buChar char=""/>
            </a:pPr>
            <a:r>
              <a:rPr lang="en-US" sz="3200" b="1" strike="noStrike" spc="-1">
                <a:solidFill>
                  <a:srgbClr val="00A933"/>
                </a:solidFill>
                <a:latin typeface="Calibri"/>
              </a:rPr>
              <a:t>Approach#1</a:t>
            </a:r>
            <a:endParaRPr lang="en-IN" sz="32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Manual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314" name="Content Placeholder 9"/>
          <p:cNvSpPr/>
          <p:nvPr/>
        </p:nvSpPr>
        <p:spPr>
          <a:xfrm>
            <a:off x="360000" y="2880000"/>
            <a:ext cx="11519280" cy="185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Wingdings" charset="2"/>
              <a:buChar char=""/>
            </a:pPr>
            <a:r>
              <a:rPr lang="en-US" sz="3200" b="1" strike="noStrike" spc="-1">
                <a:solidFill>
                  <a:srgbClr val="00A933"/>
                </a:solidFill>
                <a:latin typeface="Calibri"/>
                <a:ea typeface="DejaVu Sans"/>
              </a:rPr>
              <a:t>Approach#2</a:t>
            </a:r>
            <a:endParaRPr lang="en-IN" sz="32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  <a:ea typeface="DejaVu Sans"/>
              </a:rPr>
              <a:t>‘Migrate To Flow’ tool</a:t>
            </a:r>
            <a:endParaRPr lang="en-IN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Picture 314"/>
          <p:cNvPicPr/>
          <p:nvPr/>
        </p:nvPicPr>
        <p:blipFill>
          <a:blip r:embed="rId2"/>
          <a:stretch/>
        </p:blipFill>
        <p:spPr>
          <a:xfrm>
            <a:off x="7560000" y="1800000"/>
            <a:ext cx="4496760" cy="3631320"/>
          </a:xfrm>
          <a:prstGeom prst="rect">
            <a:avLst/>
          </a:prstGeom>
          <a:ln w="0">
            <a:noFill/>
          </a:ln>
        </p:spPr>
      </p:pic>
      <p:sp>
        <p:nvSpPr>
          <p:cNvPr id="316" name="Rectangle 315"/>
          <p:cNvSpPr/>
          <p:nvPr/>
        </p:nvSpPr>
        <p:spPr>
          <a:xfrm>
            <a:off x="712080" y="2105640"/>
            <a:ext cx="3965760" cy="18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4400" b="1" strike="noStrike" spc="-1">
                <a:solidFill>
                  <a:srgbClr val="5983B0"/>
                </a:solidFill>
                <a:latin typeface="Calibri"/>
                <a:ea typeface="DejaVu Sans"/>
              </a:rPr>
              <a:t>Migrate </a:t>
            </a:r>
            <a:endParaRPr lang="en-IN" sz="4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4400" b="1" strike="noStrike" spc="-1">
                <a:solidFill>
                  <a:srgbClr val="5983B0"/>
                </a:solidFill>
                <a:latin typeface="Calibri"/>
                <a:ea typeface="DejaVu Sans"/>
              </a:rPr>
              <a:t>Workflow Rules </a:t>
            </a:r>
            <a:endParaRPr lang="en-IN" sz="4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4400" b="1" strike="noStrike" spc="-1">
                <a:solidFill>
                  <a:srgbClr val="5983B0"/>
                </a:solidFill>
                <a:latin typeface="Calibri"/>
                <a:ea typeface="DejaVu Sans"/>
              </a:rPr>
              <a:t>To Flows</a:t>
            </a:r>
            <a:endParaRPr lang="en-IN" sz="4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/>
          </p:nvPr>
        </p:nvSpPr>
        <p:spPr>
          <a:xfrm>
            <a:off x="378000" y="313560"/>
            <a:ext cx="11401200" cy="59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0" strike="noStrike" spc="-1">
                <a:solidFill>
                  <a:srgbClr val="28608C"/>
                </a:solidFill>
                <a:latin typeface="Calibri"/>
              </a:rPr>
              <a:t>Find Migrate to Flow Tool</a:t>
            </a:r>
            <a:endParaRPr lang="en-IN" sz="4000" b="0" strike="noStrike" spc="-1">
              <a:latin typeface="Arial"/>
            </a:endParaRPr>
          </a:p>
        </p:txBody>
      </p:sp>
      <p:pic>
        <p:nvPicPr>
          <p:cNvPr id="318" name="Picture 317"/>
          <p:cNvPicPr/>
          <p:nvPr/>
        </p:nvPicPr>
        <p:blipFill>
          <a:blip r:embed="rId2"/>
          <a:stretch/>
        </p:blipFill>
        <p:spPr>
          <a:xfrm>
            <a:off x="360000" y="1800000"/>
            <a:ext cx="11654280" cy="406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1" strike="noStrike" spc="-1">
                <a:solidFill>
                  <a:srgbClr val="5983B0"/>
                </a:solidFill>
                <a:latin typeface="Calibri"/>
              </a:rPr>
              <a:t>Migrate To Flow Tool Considerations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2944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1" strike="noStrike" spc="-1">
                <a:latin typeface="Calibri"/>
              </a:rPr>
              <a:t>The Migrate to Flow tool supports workflow rules that contain these items.</a:t>
            </a:r>
            <a:endParaRPr lang="en-IN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lang="en-IN" sz="18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lang="en-IN" sz="1800" b="0" strike="noStrike" spc="-1">
                <a:latin typeface="Calibri"/>
              </a:rPr>
              <a:t>Field-based criteria</a:t>
            </a:r>
            <a:endParaRPr lang="en-IN" sz="18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lang="en-IN" sz="1800" b="0" strike="noStrike" spc="-1">
                <a:latin typeface="Calibri"/>
              </a:rPr>
              <a:t>Field updates</a:t>
            </a:r>
            <a:endParaRPr lang="en-IN" sz="18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lang="en-IN" sz="1800" b="0" strike="noStrike" spc="-1">
                <a:latin typeface="Calibri"/>
              </a:rPr>
              <a:t>Email alerts</a:t>
            </a:r>
            <a:endParaRPr lang="en-IN" sz="18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lang="en-IN" sz="1800" b="0" strike="noStrike" spc="-1">
                <a:latin typeface="Calibri"/>
              </a:rPr>
              <a:t>Outbound messages</a:t>
            </a:r>
            <a:endParaRPr lang="en-IN" sz="18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lang="en-IN" sz="1800" b="0" strike="noStrike" spc="-1">
                <a:latin typeface="Calibri"/>
              </a:rPr>
              <a:t>Time-dependent workflow actions</a:t>
            </a:r>
            <a:endParaRPr lang="en-IN" sz="18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lang="en-IN" sz="1800" b="0" strike="noStrike" spc="-1">
                <a:latin typeface="Calibri"/>
              </a:rPr>
              <a:t>Equal to null</a:t>
            </a:r>
            <a:endParaRPr lang="en-IN" sz="18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lang="en-IN" sz="1800" b="0" strike="noStrike" spc="-1">
                <a:latin typeface="Calibri"/>
              </a:rPr>
              <a:t>Not equal to null</a:t>
            </a:r>
            <a:endParaRPr lang="en-IN" sz="18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lang="en-IN" sz="1800" b="0" strike="noStrike" spc="-1">
                <a:latin typeface="Calibri"/>
              </a:rPr>
              <a:t>Rule criteria formula</a:t>
            </a:r>
            <a:endParaRPr lang="en-IN" sz="1800" b="0" strike="noStrike" spc="-1"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/>
          </p:nvPr>
        </p:nvSpPr>
        <p:spPr>
          <a:xfrm>
            <a:off x="6120000" y="1620000"/>
            <a:ext cx="539892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8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1" strike="noStrike" spc="-1">
                <a:latin typeface="Calibri"/>
              </a:rPr>
              <a:t>Workflow rules that contain the following can't migrate with the Migrate to Flow tool.</a:t>
            </a:r>
            <a:endParaRPr lang="en-IN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lang="en-IN" sz="18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lang="en-IN" sz="1800" b="0" strike="noStrike" spc="-1">
                <a:latin typeface="Calibri"/>
              </a:rPr>
              <a:t>Criteria with no defined workflow actions</a:t>
            </a:r>
            <a:endParaRPr lang="en-IN" sz="18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lang="en-IN" sz="1800" b="0" strike="noStrike" spc="-1">
                <a:latin typeface="Calibri"/>
              </a:rPr>
              <a:t>Global variable fields</a:t>
            </a:r>
            <a:endParaRPr lang="en-IN" sz="18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lang="en-IN" sz="1800" b="0" strike="noStrike" spc="-1">
                <a:latin typeface="Calibri"/>
              </a:rPr>
              <a:t>Fields on related records</a:t>
            </a:r>
            <a:endParaRPr lang="en-IN" sz="18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lang="en-IN" sz="1800" b="0" strike="noStrike" spc="-1">
                <a:latin typeface="Calibri"/>
              </a:rPr>
              <a:t>Record types</a:t>
            </a:r>
            <a:endParaRPr lang="en-IN" sz="18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lang="en-IN" sz="1800" b="0" strike="noStrike" spc="-1">
                <a:latin typeface="Calibri"/>
              </a:rPr>
              <a:t>The does not contain, includes, excludes, or within operators</a:t>
            </a:r>
            <a:endParaRPr lang="en-IN" sz="18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lang="en-IN" sz="1800" b="0" strike="noStrike" spc="-1">
                <a:latin typeface="Calibri"/>
              </a:rPr>
              <a:t>The greater than, greater or equal, less than, less or equal operators on picklist fields</a:t>
            </a:r>
            <a:endParaRPr lang="en-IN" sz="18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lang="en-IN" sz="1800" b="0" strike="noStrike" spc="-1">
                <a:latin typeface="Calibri"/>
              </a:rPr>
              <a:t>Task Creation action</a:t>
            </a:r>
            <a:endParaRPr lang="en-IN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/>
          </p:nvPr>
        </p:nvSpPr>
        <p:spPr>
          <a:xfrm>
            <a:off x="378000" y="313560"/>
            <a:ext cx="11401200" cy="59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0" strike="noStrike" spc="-1">
                <a:solidFill>
                  <a:srgbClr val="28608C"/>
                </a:solidFill>
                <a:latin typeface="Calibri"/>
              </a:rPr>
              <a:t>Equivalent Features in Flows and Workflow Rules</a:t>
            </a:r>
            <a:endParaRPr lang="en-IN" sz="4000" b="0" strike="noStrike" spc="-1">
              <a:latin typeface="Arial"/>
            </a:endParaRPr>
          </a:p>
        </p:txBody>
      </p:sp>
      <p:pic>
        <p:nvPicPr>
          <p:cNvPr id="323" name="Picture 322"/>
          <p:cNvPicPr/>
          <p:nvPr/>
        </p:nvPicPr>
        <p:blipFill>
          <a:blip r:embed="rId2"/>
          <a:stretch/>
        </p:blipFill>
        <p:spPr>
          <a:xfrm>
            <a:off x="227880" y="2162520"/>
            <a:ext cx="5168880" cy="3054240"/>
          </a:xfrm>
          <a:prstGeom prst="rect">
            <a:avLst/>
          </a:prstGeom>
          <a:ln w="0">
            <a:noFill/>
          </a:ln>
        </p:spPr>
      </p:pic>
      <p:pic>
        <p:nvPicPr>
          <p:cNvPr id="324" name="Picture 323"/>
          <p:cNvPicPr/>
          <p:nvPr/>
        </p:nvPicPr>
        <p:blipFill>
          <a:blip r:embed="rId3"/>
          <a:stretch/>
        </p:blipFill>
        <p:spPr>
          <a:xfrm>
            <a:off x="5753160" y="2160000"/>
            <a:ext cx="3063600" cy="3921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/>
          </p:nvPr>
        </p:nvSpPr>
        <p:spPr>
          <a:xfrm>
            <a:off x="378000" y="313560"/>
            <a:ext cx="11401200" cy="59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0" strike="noStrike" spc="-1">
                <a:solidFill>
                  <a:srgbClr val="28608C"/>
                </a:solidFill>
                <a:latin typeface="Calibri"/>
              </a:rPr>
              <a:t>Equivalent Features in Flows and Workflow Rules</a:t>
            </a:r>
            <a:endParaRPr lang="en-IN" sz="4000" b="0" strike="noStrike" spc="-1">
              <a:latin typeface="Arial"/>
            </a:endParaRPr>
          </a:p>
        </p:txBody>
      </p:sp>
      <p:graphicFrame>
        <p:nvGraphicFramePr>
          <p:cNvPr id="326" name="Table 325"/>
          <p:cNvGraphicFramePr/>
          <p:nvPr/>
        </p:nvGraphicFramePr>
        <p:xfrm>
          <a:off x="2448360" y="2180520"/>
          <a:ext cx="6056280" cy="2637360"/>
        </p:xfrm>
        <a:graphic>
          <a:graphicData uri="http://schemas.openxmlformats.org/drawingml/2006/table">
            <a:tbl>
              <a:tblPr/>
              <a:tblGrid>
                <a:gridCol w="246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9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9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1" strike="noStrike" spc="-1">
                          <a:solidFill>
                            <a:srgbClr val="FFFF00"/>
                          </a:solidFill>
                          <a:latin typeface="Arial"/>
                        </a:rPr>
                        <a:t>Workflow Rules</a:t>
                      </a:r>
                      <a:endParaRPr lang="en-IN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99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1" strike="noStrike" spc="-1">
                          <a:solidFill>
                            <a:srgbClr val="FFFF00"/>
                          </a:solidFill>
                          <a:latin typeface="Arial"/>
                        </a:rPr>
                        <a:t>Flow</a:t>
                      </a:r>
                      <a:endParaRPr lang="en-IN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9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Rule Criteria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Start Element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Field Update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Update Record Element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Task Creation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Create Record Element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/>
          </p:nvPr>
        </p:nvSpPr>
        <p:spPr>
          <a:xfrm>
            <a:off x="378000" y="313560"/>
            <a:ext cx="11401200" cy="59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0" strike="noStrike" spc="-1">
                <a:solidFill>
                  <a:srgbClr val="28608C"/>
                </a:solidFill>
                <a:latin typeface="Calibri"/>
              </a:rPr>
              <a:t>Operators</a:t>
            </a:r>
            <a:endParaRPr lang="en-IN" sz="4000" b="0" strike="noStrike" spc="-1">
              <a:latin typeface="Arial"/>
            </a:endParaRPr>
          </a:p>
        </p:txBody>
      </p:sp>
      <p:graphicFrame>
        <p:nvGraphicFramePr>
          <p:cNvPr id="328" name="Table 327"/>
          <p:cNvGraphicFramePr/>
          <p:nvPr/>
        </p:nvGraphicFramePr>
        <p:xfrm>
          <a:off x="1819800" y="1454760"/>
          <a:ext cx="8204400" cy="4860000"/>
        </p:xfrm>
        <a:graphic>
          <a:graphicData uri="http://schemas.openxmlformats.org/drawingml/2006/table">
            <a:tbl>
              <a:tblPr/>
              <a:tblGrid>
                <a:gridCol w="3711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1" strike="noStrike" spc="-1">
                          <a:solidFill>
                            <a:srgbClr val="FFFF00"/>
                          </a:solidFill>
                          <a:latin typeface="Arial"/>
                        </a:rPr>
                        <a:t>Workflow Rule</a:t>
                      </a:r>
                      <a:endParaRPr lang="en-IN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99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1" strike="noStrike" spc="-1">
                          <a:solidFill>
                            <a:srgbClr val="FFFF00"/>
                          </a:solidFill>
                          <a:latin typeface="Arial"/>
                        </a:rPr>
                        <a:t>Flow</a:t>
                      </a:r>
                      <a:endParaRPr lang="en-IN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99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Does not contain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N/A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Equals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Equals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Excludes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N/A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Greater or equal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Greater than or equal(only number fields)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Greater than 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Greater than(only number fields)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includes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N/A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Less or equal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Less than or equal(only number fields)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2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Less than 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Less than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2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N/A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Ends with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9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N/A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IN" sz="1800" b="0" strike="noStrike" spc="-1">
                          <a:latin typeface="Arial"/>
                        </a:rPr>
                        <a:t>Is Null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/>
          </p:nvPr>
        </p:nvSpPr>
        <p:spPr>
          <a:xfrm>
            <a:off x="378000" y="1450080"/>
            <a:ext cx="11401920" cy="487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Certain features are unsupported by the Migrate to Flow tool, but you can manually convert them.</a:t>
            </a:r>
            <a:endParaRPr lang="en-IN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To manually convert workflow rules with unsupported use cases in entry criteria, use the Decision element.</a:t>
            </a:r>
            <a:endParaRPr lang="en-IN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    1. Create a Decision element inside the Flow as the first step.</a:t>
            </a:r>
            <a:endParaRPr lang="en-IN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    2. Recreate the workflow rule steps with the condition builder.</a:t>
            </a:r>
            <a:endParaRPr lang="en-IN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Note: With this method, the flow will always run and check on the decision after entering. This method can impact performance or prevent time-based workflow triggers from migrating.</a:t>
            </a:r>
            <a:endParaRPr lang="en-IN" sz="2800" b="0" strike="noStrike" spc="-1"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378000" y="313560"/>
            <a:ext cx="11401200" cy="59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0" strike="noStrike" spc="-1">
                <a:solidFill>
                  <a:srgbClr val="28608C"/>
                </a:solidFill>
                <a:latin typeface="Calibri"/>
              </a:rPr>
              <a:t>Manual Conversion Methods</a:t>
            </a:r>
            <a:endParaRPr lang="en-IN" sz="4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/>
          </p:nvPr>
        </p:nvSpPr>
        <p:spPr>
          <a:xfrm>
            <a:off x="378000" y="1450080"/>
            <a:ext cx="11401920" cy="487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To manually convert workflow rules that use the ‘does not contain’ operator, use custom condition logic. </a:t>
            </a:r>
            <a:endParaRPr lang="en-IN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For example, create a condition that uses the ‘Contains’ operator in the first condition, and in the condition logic, enter NOT 1.</a:t>
            </a:r>
            <a:endParaRPr lang="en-IN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To manually convert workflow rules that use tasks, use the Create Records option and create a record of the Task object.</a:t>
            </a:r>
            <a:endParaRPr lang="en-IN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404040"/>
                </a:solidFill>
                <a:latin typeface="Calibri"/>
              </a:rPr>
              <a:t>Flows support workflow actions for Email Alerts and Outbound Messages. To add these workflow actions to a flow, use the ‘Action’ element.</a:t>
            </a:r>
            <a:endParaRPr lang="en-IN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lang="en-IN" sz="2800" b="0" strike="noStrike" spc="-1"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378000" y="313560"/>
            <a:ext cx="11401200" cy="59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0" strike="noStrike" spc="-1">
                <a:solidFill>
                  <a:srgbClr val="28608C"/>
                </a:solidFill>
                <a:latin typeface="Calibri"/>
              </a:rPr>
              <a:t>Manual Conversion Methods</a:t>
            </a:r>
            <a:endParaRPr lang="en-IN" sz="4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/>
          </p:nvPr>
        </p:nvSpPr>
        <p:spPr>
          <a:xfrm>
            <a:off x="378000" y="1450080"/>
            <a:ext cx="11401920" cy="1429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Calibri"/>
              </a:rPr>
              <a:t>ConvertToFlow Tool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Calibri"/>
              </a:rPr>
              <a:t>Manual</a:t>
            </a: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378000" y="313560"/>
            <a:ext cx="11401200" cy="59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000" b="0" strike="noStrike" spc="-1">
                <a:solidFill>
                  <a:srgbClr val="28608C"/>
                </a:solidFill>
                <a:latin typeface="Calibri"/>
              </a:rPr>
              <a:t>Process Builder Migration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540000" y="3079800"/>
            <a:ext cx="5580000" cy="100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IN" sz="2400" b="0" strike="noStrike" spc="-1">
              <a:latin typeface="Calibri"/>
            </a:endParaRPr>
          </a:p>
          <a:p>
            <a:r>
              <a:rPr lang="en-IN" sz="2400" b="0" strike="noStrike" spc="-1">
                <a:latin typeface="Calibri"/>
                <a:hlinkClick r:id="rId2"/>
              </a:rPr>
              <a:t>https://unofficialsf.com/the-new-converttoflow-app-migrates-most-of-your-process-builder-processes/</a:t>
            </a:r>
            <a:endParaRPr lang="en-IN" sz="2400" b="0" strike="noStrike" spc="-1"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/>
          </p:nvPr>
        </p:nvSpPr>
        <p:spPr>
          <a:xfrm>
            <a:off x="803160" y="1175040"/>
            <a:ext cx="4849200" cy="75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7200" b="0" strike="noStrike" spc="-1">
                <a:solidFill>
                  <a:srgbClr val="404040"/>
                </a:solidFill>
                <a:latin typeface="Calibri"/>
              </a:rPr>
              <a:t>Thank You!</a:t>
            </a:r>
            <a:endParaRPr lang="en-IN" sz="7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82BE"/>
      </a:accent1>
      <a:accent2>
        <a:srgbClr val="28608C"/>
      </a:accent2>
      <a:accent3>
        <a:srgbClr val="262626"/>
      </a:accent3>
      <a:accent4>
        <a:srgbClr val="3282BE"/>
      </a:accent4>
      <a:accent5>
        <a:srgbClr val="28608C"/>
      </a:accent5>
      <a:accent6>
        <a:srgbClr val="262626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82BE"/>
      </a:accent1>
      <a:accent2>
        <a:srgbClr val="28608C"/>
      </a:accent2>
      <a:accent3>
        <a:srgbClr val="262626"/>
      </a:accent3>
      <a:accent4>
        <a:srgbClr val="3282BE"/>
      </a:accent4>
      <a:accent5>
        <a:srgbClr val="28608C"/>
      </a:accent5>
      <a:accent6>
        <a:srgbClr val="262626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82BE"/>
      </a:accent1>
      <a:accent2>
        <a:srgbClr val="28608C"/>
      </a:accent2>
      <a:accent3>
        <a:srgbClr val="262626"/>
      </a:accent3>
      <a:accent4>
        <a:srgbClr val="3282BE"/>
      </a:accent4>
      <a:accent5>
        <a:srgbClr val="28608C"/>
      </a:accent5>
      <a:accent6>
        <a:srgbClr val="262626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82BE"/>
      </a:accent1>
      <a:accent2>
        <a:srgbClr val="28608C"/>
      </a:accent2>
      <a:accent3>
        <a:srgbClr val="262626"/>
      </a:accent3>
      <a:accent4>
        <a:srgbClr val="3282BE"/>
      </a:accent4>
      <a:accent5>
        <a:srgbClr val="28608C"/>
      </a:accent5>
      <a:accent6>
        <a:srgbClr val="262626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82BE"/>
      </a:accent1>
      <a:accent2>
        <a:srgbClr val="28608C"/>
      </a:accent2>
      <a:accent3>
        <a:srgbClr val="262626"/>
      </a:accent3>
      <a:accent4>
        <a:srgbClr val="3282BE"/>
      </a:accent4>
      <a:accent5>
        <a:srgbClr val="28608C"/>
      </a:accent5>
      <a:accent6>
        <a:srgbClr val="262626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82BE"/>
      </a:accent1>
      <a:accent2>
        <a:srgbClr val="28608C"/>
      </a:accent2>
      <a:accent3>
        <a:srgbClr val="262626"/>
      </a:accent3>
      <a:accent4>
        <a:srgbClr val="3282BE"/>
      </a:accent4>
      <a:accent5>
        <a:srgbClr val="28608C"/>
      </a:accent5>
      <a:accent6>
        <a:srgbClr val="262626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72838459BBD64385CD2F40386C567F" ma:contentTypeVersion="13" ma:contentTypeDescription="Create a new document." ma:contentTypeScope="" ma:versionID="a1e738963b02d2357a25c24de22c504c">
  <xsd:schema xmlns:xsd="http://www.w3.org/2001/XMLSchema" xmlns:xs="http://www.w3.org/2001/XMLSchema" xmlns:p="http://schemas.microsoft.com/office/2006/metadata/properties" xmlns:ns2="0dab33a2-3426-4df1-aeb3-da106cc11362" xmlns:ns3="b7344c0c-05a4-4c29-b46a-b10958ceeffc" targetNamespace="http://schemas.microsoft.com/office/2006/metadata/properties" ma:root="true" ma:fieldsID="b5b1afaab406d47f6c6a7130c3b1fa6b" ns2:_="" ns3:_="">
    <xsd:import namespace="0dab33a2-3426-4df1-aeb3-da106cc11362"/>
    <xsd:import namespace="b7344c0c-05a4-4c29-b46a-b10958ceef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ab33a2-3426-4df1-aeb3-da106cc113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9ab39e78-2f50-40ad-9103-f4aa2192ce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344c0c-05a4-4c29-b46a-b10958ceeff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688ba81c-112d-44cd-a1c5-92790c1b0ece}" ma:internalName="TaxCatchAll" ma:showField="CatchAllData" ma:web="b7344c0c-05a4-4c29-b46a-b10958ceef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dab33a2-3426-4df1-aeb3-da106cc11362">
      <Terms xmlns="http://schemas.microsoft.com/office/infopath/2007/PartnerControls"/>
    </lcf76f155ced4ddcb4097134ff3c332f>
    <TaxCatchAll xmlns="b7344c0c-05a4-4c29-b46a-b10958ceeffc" xsi:nil="true"/>
  </documentManagement>
</p:properties>
</file>

<file path=customXml/itemProps1.xml><?xml version="1.0" encoding="utf-8"?>
<ds:datastoreItem xmlns:ds="http://schemas.openxmlformats.org/officeDocument/2006/customXml" ds:itemID="{C4E25F9B-DCF7-4FA6-8019-C36BEC76B3AF}"/>
</file>

<file path=customXml/itemProps2.xml><?xml version="1.0" encoding="utf-8"?>
<ds:datastoreItem xmlns:ds="http://schemas.openxmlformats.org/officeDocument/2006/customXml" ds:itemID="{8239654C-F4C6-418D-8E0B-39319851F599}"/>
</file>

<file path=customXml/itemProps3.xml><?xml version="1.0" encoding="utf-8"?>
<ds:datastoreItem xmlns:ds="http://schemas.openxmlformats.org/officeDocument/2006/customXml" ds:itemID="{83797A2B-39A0-4C90-A8F7-199D04E9E6BF}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Migrate To Flow Tool Considerations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Sahebkour Kung</dc:creator>
  <dc:description/>
  <cp:revision>2</cp:revision>
  <dcterms:created xsi:type="dcterms:W3CDTF">2019-09-05T09:40:10Z</dcterms:created>
  <dcterms:modified xsi:type="dcterms:W3CDTF">2023-02-17T11:10:28Z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15</vt:i4>
  </property>
  <property fmtid="{D5CDD505-2E9C-101B-9397-08002B2CF9AE}" pid="4" name="ContentTypeId">
    <vt:lpwstr>0x010100F472838459BBD64385CD2F40386C567F</vt:lpwstr>
  </property>
</Properties>
</file>